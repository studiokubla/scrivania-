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Titolo di lavoro ripreso dalla v1. Foto di copertina: riferimento dalla cartella di ricerca (Palais-Royal), non uno scatto Tirabasso.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Immagine: fotogramma dal film Borsalino Fluid Line (riferimento). Palette indicativa, da accordare ai colori reali della collezione.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dalla cartella di ricerca. Il logo Celine sovrapposto fa parte del post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del post Instagram @brunellocucinelli_brand del 24 agosto.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Fotogrammi dal video @borsalino_world (Fluid Line) scaricato nella cartella. Instagram segnala il post come "Contenuti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Miniatura e fotogrammi dal video @natalibolgar scaricato nella cartella (SaveClip). Il video si apre a parte durante la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Sequenza proposta, non ancora un piano di produzione. Nuova rispetto alla v1: la scena dell’ascensore (riferimento Cucinelli).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Tempi, troupe e consegne sono una proposta di partenza, da definire con il cliente e il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023"/>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2510" r="2510" t="0" b="0"/>
          <a:stretch/>
        </p:blipFill>
        <p:spPr>
          <a:xfrm>
            <a:off x="6309360" y="0"/>
            <a:ext cx="5882335" cy="6858000"/>
          </a:xfrm>
          <a:prstGeom prst="rect">
            <a:avLst/>
          </a:prstGeom>
        </p:spPr>
      </p:pic>
      <p:pic>
        <p:nvPicPr>
          <p:cNvPr id="3" name="Image 1" descr="img/logo-light.png">    </p:cNvPr>
          <p:cNvPicPr>
            <a:picLocks noChangeAspect="1"/>
          </p:cNvPicPr>
          <p:nvPr/>
        </p:nvPicPr>
        <p:blipFill>
          <a:blip r:embed="rId2"/>
          <a:stretch>
            <a:fillRect/>
          </a:stretch>
        </p:blipFill>
        <p:spPr>
          <a:xfrm>
            <a:off x="685800" y="548640"/>
            <a:ext cx="1280160" cy="1143722"/>
          </a:xfrm>
          <a:prstGeom prst="rect">
            <a:avLst/>
          </a:prstGeom>
        </p:spPr>
      </p:pic>
      <p:sp>
        <p:nvSpPr>
          <p:cNvPr id="4" name="Text 0"/>
          <p:cNvSpPr txBox="1"/>
          <p:nvPr/>
        </p:nvSpPr>
        <p:spPr>
          <a:xfrm>
            <a:off x="685800" y="274320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CAMPAGNA AUTUNNO / INVERNO 2026–27</a:t>
            </a:r>
            <a:endParaRPr lang="en-US" sz="1000" dirty="0"/>
          </a:p>
        </p:txBody>
      </p:sp>
      <p:sp>
        <p:nvSpPr>
          <p:cNvPr id="5" name="Text 1"/>
          <p:cNvSpPr txBox="1"/>
          <p:nvPr/>
        </p:nvSpPr>
        <p:spPr>
          <a:xfrm>
            <a:off x="685800" y="3108960"/>
            <a:ext cx="5303520" cy="2103120"/>
          </a:xfrm>
          <a:prstGeom prst="rect">
            <a:avLst/>
          </a:prstGeom>
          <a:noFill/>
          <a:ln/>
        </p:spPr>
        <p:txBody>
          <a:bodyPr wrap="square" lIns="0" tIns="0" rIns="0" bIns="0" rtlCol="0" anchor="t"/>
          <a:lstStyle/>
          <a:p>
            <a:pPr indent="0" marL="0">
              <a:buNone/>
            </a:pPr>
            <a:r>
              <a:rPr lang="en-US" sz="6000" i="1" dirty="0">
                <a:solidFill>
                  <a:srgbClr val="FFFFFF"/>
                </a:solidFill>
                <a:latin typeface="Cambria" pitchFamily="34" charset="0"/>
                <a:ea typeface="Cambria" pitchFamily="34" charset="-122"/>
                <a:cs typeface="Cambria" pitchFamily="34" charset="-120"/>
              </a:rPr>
              <a:t>Un hiver</a:t>
            </a:r>
            <a:endParaRPr lang="en-US" sz="6000" dirty="0"/>
          </a:p>
          <a:p>
            <a:pPr indent="0" marL="0">
              <a:buNone/>
            </a:pPr>
            <a:r>
              <a:rPr lang="en-US" sz="6000" i="1" dirty="0">
                <a:solidFill>
                  <a:srgbClr val="FFFFFF"/>
                </a:solidFill>
                <a:latin typeface="Cambria" pitchFamily="34" charset="0"/>
                <a:ea typeface="Cambria" pitchFamily="34" charset="-122"/>
                <a:cs typeface="Cambria" pitchFamily="34" charset="-120"/>
              </a:rPr>
              <a:t>à Paris</a:t>
            </a:r>
            <a:endParaRPr lang="en-US" sz="6000" dirty="0"/>
          </a:p>
        </p:txBody>
      </p:sp>
      <p:sp>
        <p:nvSpPr>
          <p:cNvPr id="6" name="Text 2"/>
          <p:cNvSpPr txBox="1"/>
          <p:nvPr/>
        </p:nvSpPr>
        <p:spPr>
          <a:xfrm>
            <a:off x="685800" y="5257800"/>
            <a:ext cx="5303520" cy="365760"/>
          </a:xfrm>
          <a:prstGeom prst="rect">
            <a:avLst/>
          </a:prstGeom>
          <a:noFill/>
          <a:ln/>
        </p:spPr>
        <p:txBody>
          <a:bodyPr wrap="square" lIns="0" tIns="0" rIns="0" bIns="0" rtlCol="0" anchor="t"/>
          <a:lstStyle/>
          <a:p>
            <a:pPr indent="0" marL="0">
              <a:lnSpc>
                <a:spcPct val="115000"/>
              </a:lnSpc>
              <a:spcAft>
                <a:spcPts val="600"/>
              </a:spcAft>
              <a:buNone/>
            </a:pPr>
            <a:r>
              <a:rPr lang="en-US" sz="1500" dirty="0">
                <a:solidFill>
                  <a:srgbClr val="DCDDDC"/>
                </a:solidFill>
                <a:latin typeface="Arial" pitchFamily="34" charset="0"/>
                <a:ea typeface="Arial" pitchFamily="34" charset="-122"/>
                <a:cs typeface="Arial" pitchFamily="34" charset="-120"/>
              </a:rPr>
              <a:t>Proposta creativa per i cappelli donna Tirabasso</a:t>
            </a:r>
            <a:endParaRPr lang="en-US" sz="1500" dirty="0"/>
          </a:p>
        </p:txBody>
      </p:sp>
      <p:sp>
        <p:nvSpPr>
          <p:cNvPr id="7" name="Text 3"/>
          <p:cNvSpPr txBox="1"/>
          <p:nvPr/>
        </p:nvSpPr>
        <p:spPr>
          <a:xfrm>
            <a:off x="685800" y="6080760"/>
            <a:ext cx="5303520" cy="274320"/>
          </a:xfrm>
          <a:prstGeom prst="rect">
            <a:avLst/>
          </a:prstGeom>
          <a:noFill/>
          <a:ln/>
        </p:spPr>
        <p:txBody>
          <a:bodyPr wrap="square" lIns="0" tIns="0" rIns="0" bIns="0" rtlCol="0" anchor="t"/>
          <a:lstStyle/>
          <a:p>
            <a:pPr indent="0" marL="0">
              <a:lnSpc>
                <a:spcPct val="115000"/>
              </a:lnSpc>
              <a:spcAft>
                <a:spcPts val="600"/>
              </a:spcAft>
              <a:buNone/>
            </a:pPr>
            <a:r>
              <a:rPr lang="en-US" sz="1000" dirty="0">
                <a:solidFill>
                  <a:srgbClr val="8A8D90"/>
                </a:solidFill>
                <a:latin typeface="Arial" pitchFamily="34" charset="0"/>
                <a:ea typeface="Arial" pitchFamily="34" charset="-122"/>
                <a:cs typeface="Arial" pitchFamily="34" charset="-120"/>
              </a:rPr>
              <a:t>Studio Kubla · settembre 2026 · v2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0"/>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0" r="0" t="0" b="0"/>
          <a:stretch/>
        </p:blipFill>
        <p:spPr>
          <a:xfrm>
            <a:off x="0" y="0"/>
            <a:ext cx="4572000" cy="6858000"/>
          </a:xfrm>
          <a:prstGeom prst="rect">
            <a:avLst/>
          </a:prstGeom>
        </p:spPr>
      </p:pic>
      <p:sp>
        <p:nvSpPr>
          <p:cNvPr id="3" name="Text 0"/>
          <p:cNvSpPr txBox="1"/>
          <p:nvPr/>
        </p:nvSpPr>
        <p:spPr>
          <a:xfrm>
            <a:off x="525780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01 — L’IDEA</a:t>
            </a:r>
            <a:endParaRPr lang="en-US" sz="1000" dirty="0"/>
          </a:p>
        </p:txBody>
      </p:sp>
      <p:sp>
        <p:nvSpPr>
          <p:cNvPr id="4" name="Text 1"/>
          <p:cNvSpPr txBox="1"/>
          <p:nvPr/>
        </p:nvSpPr>
        <p:spPr>
          <a:xfrm>
            <a:off x="5257800" y="1097280"/>
            <a:ext cx="6400800" cy="137160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Una giornata d’inverno,</a:t>
            </a:r>
            <a:endParaRPr lang="en-US" sz="3600" dirty="0"/>
          </a:p>
          <a:p>
            <a:pPr indent="0" marL="0">
              <a:buNone/>
            </a:pPr>
            <a:r>
              <a:rPr lang="en-US" sz="3600" dirty="0">
                <a:solidFill>
                  <a:srgbClr val="1E2023"/>
                </a:solidFill>
                <a:latin typeface="Cambria" pitchFamily="34" charset="0"/>
                <a:ea typeface="Cambria" pitchFamily="34" charset="-122"/>
                <a:cs typeface="Cambria" pitchFamily="34" charset="-120"/>
              </a:rPr>
              <a:t>vista di passaggio</a:t>
            </a:r>
            <a:endParaRPr lang="en-US" sz="3600" dirty="0"/>
          </a:p>
        </p:txBody>
      </p:sp>
      <p:sp>
        <p:nvSpPr>
          <p:cNvPr id="5" name="Text 2"/>
          <p:cNvSpPr txBox="1"/>
          <p:nvPr/>
        </p:nvSpPr>
        <p:spPr>
          <a:xfrm>
            <a:off x="5257800" y="2697480"/>
            <a:ext cx="6217920" cy="2103120"/>
          </a:xfrm>
          <a:prstGeom prst="rect">
            <a:avLst/>
          </a:prstGeom>
          <a:noFill/>
          <a:ln/>
        </p:spPr>
        <p:txBody>
          <a:bodyPr wrap="square" lIns="0" tIns="0" rIns="0" bIns="0" rtlCol="0" anchor="t"/>
          <a:lstStyle/>
          <a:p>
            <a:pPr indent="0" marL="0">
              <a:lnSpc>
                <a:spcPct val="115000"/>
              </a:lnSpc>
              <a:spcAft>
                <a:spcPts val="1200"/>
              </a:spcAft>
              <a:buNone/>
            </a:pPr>
            <a:r>
              <a:rPr lang="en-US" sz="1500" dirty="0">
                <a:solidFill>
                  <a:srgbClr val="1E2023"/>
                </a:solidFill>
                <a:latin typeface="Arial" pitchFamily="34" charset="0"/>
                <a:ea typeface="Arial" pitchFamily="34" charset="-122"/>
                <a:cs typeface="Arial" pitchFamily="34" charset="-120"/>
              </a:rPr>
              <a:t>Una donna attraversa Parigi in una giornata di pioggia e nebbia. Esce di casa, attraversa la strada, prende un caffè, scende nella metro, sale in un ascensore d’epoca. Non si ferma mai per l’obiettivo: la fotografiamo come la vedrebbe un passante.</a:t>
            </a:r>
            <a:endParaRPr lang="en-US" sz="1500" dirty="0"/>
          </a:p>
          <a:p>
            <a:pPr indent="0" marL="0">
              <a:lnSpc>
                <a:spcPct val="115000"/>
              </a:lnSpc>
              <a:spcAft>
                <a:spcPts val="1200"/>
              </a:spcAft>
              <a:buNone/>
            </a:pPr>
            <a:r>
              <a:rPr lang="en-US" sz="1500" dirty="0">
                <a:solidFill>
                  <a:srgbClr val="1E2023"/>
                </a:solidFill>
                <a:latin typeface="Arial" pitchFamily="34" charset="0"/>
                <a:ea typeface="Arial" pitchFamily="34" charset="-122"/>
                <a:cs typeface="Arial" pitchFamily="34" charset="-120"/>
              </a:rPr>
              <a:t>Il cappello Tirabasso è l’unica cosa che non cambia. La accompagna in ogni momento e rende riconoscibile la sua figura tra la gente.</a:t>
            </a:r>
            <a:endParaRPr lang="en-US" sz="1500" dirty="0"/>
          </a:p>
        </p:txBody>
      </p:sp>
      <p:sp>
        <p:nvSpPr>
          <p:cNvPr id="6" name="Text 3"/>
          <p:cNvSpPr txBox="1"/>
          <p:nvPr/>
        </p:nvSpPr>
        <p:spPr>
          <a:xfrm>
            <a:off x="525780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Sempre in movimento</a:t>
            </a:r>
            <a:endParaRPr lang="en-US" sz="1300" dirty="0"/>
          </a:p>
        </p:txBody>
      </p:sp>
      <p:sp>
        <p:nvSpPr>
          <p:cNvPr id="7" name="Text 4"/>
          <p:cNvSpPr txBox="1"/>
          <p:nvPr/>
        </p:nvSpPr>
        <p:spPr>
          <a:xfrm>
            <a:off x="525780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Cammina, attraversa, sale, scende.</a:t>
            </a:r>
            <a:endParaRPr lang="en-US" sz="1100" dirty="0"/>
          </a:p>
        </p:txBody>
      </p:sp>
      <p:sp>
        <p:nvSpPr>
          <p:cNvPr id="8" name="Text 5"/>
          <p:cNvSpPr txBox="1"/>
          <p:nvPr/>
        </p:nvSpPr>
        <p:spPr>
          <a:xfrm>
            <a:off x="736092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Mai in posa</a:t>
            </a:r>
            <a:endParaRPr lang="en-US" sz="1300" dirty="0"/>
          </a:p>
        </p:txBody>
      </p:sp>
      <p:sp>
        <p:nvSpPr>
          <p:cNvPr id="9" name="Text 6"/>
          <p:cNvSpPr txBox="1"/>
          <p:nvPr/>
        </p:nvSpPr>
        <p:spPr>
          <a:xfrm>
            <a:off x="736092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Immagini rubate, mai costruite.</a:t>
            </a:r>
            <a:endParaRPr lang="en-US" sz="1100" dirty="0"/>
          </a:p>
        </p:txBody>
      </p:sp>
      <p:sp>
        <p:nvSpPr>
          <p:cNvPr id="10" name="Text 7"/>
          <p:cNvSpPr txBox="1"/>
          <p:nvPr/>
        </p:nvSpPr>
        <p:spPr>
          <a:xfrm>
            <a:off x="9464040" y="5074920"/>
            <a:ext cx="1920240" cy="320040"/>
          </a:xfrm>
          <a:prstGeom prst="rect">
            <a:avLst/>
          </a:prstGeom>
          <a:noFill/>
          <a:ln/>
        </p:spPr>
        <p:txBody>
          <a:bodyPr wrap="square" lIns="0" tIns="0" rIns="0" bIns="0" rtlCol="0" anchor="ctr"/>
          <a:lstStyle/>
          <a:p>
            <a:pPr indent="0" marL="0">
              <a:buNone/>
            </a:pPr>
            <a:r>
              <a:rPr lang="en-US" sz="1300" i="1" dirty="0">
                <a:solidFill>
                  <a:srgbClr val="1E2023"/>
                </a:solidFill>
                <a:latin typeface="Cambria" pitchFamily="34" charset="0"/>
                <a:ea typeface="Cambria" pitchFamily="34" charset="-122"/>
                <a:cs typeface="Cambria" pitchFamily="34" charset="-120"/>
              </a:rPr>
              <a:t>La città come scena</a:t>
            </a:r>
            <a:endParaRPr lang="en-US" sz="1300" dirty="0"/>
          </a:p>
        </p:txBody>
      </p:sp>
      <p:sp>
        <p:nvSpPr>
          <p:cNvPr id="11" name="Text 8"/>
          <p:cNvSpPr txBox="1"/>
          <p:nvPr/>
        </p:nvSpPr>
        <p:spPr>
          <a:xfrm>
            <a:off x="9464040" y="5440680"/>
            <a:ext cx="1920240" cy="640080"/>
          </a:xfrm>
          <a:prstGeom prst="rect">
            <a:avLst/>
          </a:prstGeom>
          <a:noFill/>
          <a:ln/>
        </p:spPr>
        <p:txBody>
          <a:bodyPr wrap="square" lIns="0" tIns="0" rIns="0" bIns="0" rtlCol="0" anchor="t"/>
          <a:lstStyle/>
          <a:p>
            <a:pPr indent="0" marL="0">
              <a:lnSpc>
                <a:spcPct val="115000"/>
              </a:lnSpc>
              <a:spcAft>
                <a:spcPts val="600"/>
              </a:spcAft>
              <a:buNone/>
            </a:pPr>
            <a:r>
              <a:rPr lang="en-US" sz="1100" dirty="0">
                <a:solidFill>
                  <a:srgbClr val="5E6266"/>
                </a:solidFill>
                <a:latin typeface="Arial" pitchFamily="34" charset="0"/>
                <a:ea typeface="Arial" pitchFamily="34" charset="-122"/>
                <a:cs typeface="Arial" pitchFamily="34" charset="-120"/>
              </a:rPr>
              <a:t>L’architettura racconta il suo mondo.</a:t>
            </a:r>
            <a:endParaRPr lang="en-US" sz="1100" dirty="0"/>
          </a:p>
        </p:txBody>
      </p:sp>
      <p:sp>
        <p:nvSpPr>
          <p:cNvPr id="12" name="Text 9"/>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023"/>
        </a:solidFill>
      </p:bgPr>
    </p:bg>
    <p:spTree>
      <p:nvGrpSpPr>
        <p:cNvPr id="1" name=""/>
        <p:cNvGrpSpPr/>
        <p:nvPr/>
      </p:nvGrpSpPr>
      <p:grpSpPr>
        <a:xfrm>
          <a:off x="0" y="0"/>
          <a:ext cx="0" cy="0"/>
          <a:chOff x="0" y="0"/>
          <a:chExt cx="0" cy="0"/>
        </a:xfrm>
      </p:grpSpPr>
      <p:pic>
        <p:nvPicPr>
          <p:cNvPr id="2" name="Image 0" descr="img/bors_5.jpg">    </p:cNvPr>
          <p:cNvPicPr>
            <a:picLocks noChangeAspect="1"/>
          </p:cNvPicPr>
          <p:nvPr/>
        </p:nvPicPr>
        <p:blipFill>
          <a:blip r:embed="rId1"/>
          <a:srcRect l="0" r="0" t="4144" b="4144"/>
          <a:stretch/>
        </p:blipFill>
        <p:spPr>
          <a:xfrm>
            <a:off x="0" y="0"/>
            <a:ext cx="4206240" cy="6858000"/>
          </a:xfrm>
          <a:prstGeom prst="rect">
            <a:avLst/>
          </a:prstGeom>
        </p:spPr>
      </p:pic>
      <p:sp>
        <p:nvSpPr>
          <p:cNvPr id="3" name="Text 0"/>
          <p:cNvSpPr txBox="1"/>
          <p:nvPr/>
        </p:nvSpPr>
        <p:spPr>
          <a:xfrm>
            <a:off x="489204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02 — ATMOSFERA</a:t>
            </a:r>
            <a:endParaRPr lang="en-US" sz="1000" dirty="0"/>
          </a:p>
        </p:txBody>
      </p:sp>
      <p:sp>
        <p:nvSpPr>
          <p:cNvPr id="4" name="Text 1"/>
          <p:cNvSpPr txBox="1"/>
          <p:nvPr/>
        </p:nvSpPr>
        <p:spPr>
          <a:xfrm>
            <a:off x="4892040" y="1097280"/>
            <a:ext cx="6400800" cy="822960"/>
          </a:xfrm>
          <a:prstGeom prst="rect">
            <a:avLst/>
          </a:prstGeom>
          <a:noFill/>
          <a:ln/>
        </p:spPr>
        <p:txBody>
          <a:bodyPr wrap="square" lIns="0" tIns="0" rIns="0" bIns="0" rtlCol="0" anchor="t"/>
          <a:lstStyle/>
          <a:p>
            <a:pPr indent="0" marL="0">
              <a:buNone/>
            </a:pPr>
            <a:r>
              <a:rPr lang="en-US" sz="3600" dirty="0">
                <a:solidFill>
                  <a:srgbClr val="FFFFFF"/>
                </a:solidFill>
                <a:latin typeface="Cambria" pitchFamily="34" charset="0"/>
                <a:ea typeface="Cambria" pitchFamily="34" charset="-122"/>
                <a:cs typeface="Cambria" pitchFamily="34" charset="-120"/>
              </a:rPr>
              <a:t>Il grigio di Parigi</a:t>
            </a:r>
            <a:endParaRPr lang="en-US" sz="3600" dirty="0"/>
          </a:p>
        </p:txBody>
      </p:sp>
      <p:sp>
        <p:nvSpPr>
          <p:cNvPr id="5" name="Text 2"/>
          <p:cNvSpPr txBox="1"/>
          <p:nvPr/>
        </p:nvSpPr>
        <p:spPr>
          <a:xfrm>
            <a:off x="4892040" y="2103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Pioggia</a:t>
            </a:r>
            <a:endParaRPr lang="en-US" sz="2000" dirty="0"/>
          </a:p>
        </p:txBody>
      </p:sp>
      <p:sp>
        <p:nvSpPr>
          <p:cNvPr id="6" name="Text 3"/>
          <p:cNvSpPr txBox="1"/>
          <p:nvPr/>
        </p:nvSpPr>
        <p:spPr>
          <a:xfrm>
            <a:off x="4892040" y="2514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Asfalto bagnato, riflessi, ombrelli, vetri appannati.</a:t>
            </a:r>
            <a:endParaRPr lang="en-US" sz="1200" dirty="0"/>
          </a:p>
        </p:txBody>
      </p:sp>
      <p:sp>
        <p:nvSpPr>
          <p:cNvPr id="7" name="Text 4"/>
          <p:cNvSpPr txBox="1"/>
          <p:nvPr/>
        </p:nvSpPr>
        <p:spPr>
          <a:xfrm>
            <a:off x="8275320" y="2103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Nebbia</a:t>
            </a:r>
            <a:endParaRPr lang="en-US" sz="2000" dirty="0"/>
          </a:p>
        </p:txBody>
      </p:sp>
      <p:sp>
        <p:nvSpPr>
          <p:cNvPr id="8" name="Text 5"/>
          <p:cNvSpPr txBox="1"/>
          <p:nvPr/>
        </p:nvSpPr>
        <p:spPr>
          <a:xfrm>
            <a:off x="8275320" y="2514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Mattine velate, profondità che si perde, figure che emergono.</a:t>
            </a:r>
            <a:endParaRPr lang="en-US" sz="1200" dirty="0"/>
          </a:p>
        </p:txBody>
      </p:sp>
      <p:sp>
        <p:nvSpPr>
          <p:cNvPr id="9" name="Text 6"/>
          <p:cNvSpPr txBox="1"/>
          <p:nvPr/>
        </p:nvSpPr>
        <p:spPr>
          <a:xfrm>
            <a:off x="4892040" y="3246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Foglie secche</a:t>
            </a:r>
            <a:endParaRPr lang="en-US" sz="2000" dirty="0"/>
          </a:p>
        </p:txBody>
      </p:sp>
      <p:sp>
        <p:nvSpPr>
          <p:cNvPr id="10" name="Text 7"/>
          <p:cNvSpPr txBox="1"/>
          <p:nvPr/>
        </p:nvSpPr>
        <p:spPr>
          <a:xfrm>
            <a:off x="4892040" y="3657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Viali spogli, foglie a terra nei giardini e sui marciapiedi.</a:t>
            </a:r>
            <a:endParaRPr lang="en-US" sz="1200" dirty="0"/>
          </a:p>
        </p:txBody>
      </p:sp>
      <p:sp>
        <p:nvSpPr>
          <p:cNvPr id="11" name="Text 8"/>
          <p:cNvSpPr txBox="1"/>
          <p:nvPr/>
        </p:nvSpPr>
        <p:spPr>
          <a:xfrm>
            <a:off x="8275320" y="3246120"/>
            <a:ext cx="3108960" cy="36576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Pietra</a:t>
            </a:r>
            <a:endParaRPr lang="en-US" sz="2000" dirty="0"/>
          </a:p>
        </p:txBody>
      </p:sp>
      <p:sp>
        <p:nvSpPr>
          <p:cNvPr id="12" name="Text 9"/>
          <p:cNvSpPr txBox="1"/>
          <p:nvPr/>
        </p:nvSpPr>
        <p:spPr>
          <a:xfrm>
            <a:off x="8275320" y="3657600"/>
            <a:ext cx="301752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Facciate haussmanniane, portici, pavé, ferro battuto.</a:t>
            </a:r>
            <a:endParaRPr lang="en-US" sz="1200" dirty="0"/>
          </a:p>
        </p:txBody>
      </p:sp>
      <p:sp>
        <p:nvSpPr>
          <p:cNvPr id="13" name="Text 10"/>
          <p:cNvSpPr txBox="1"/>
          <p:nvPr/>
        </p:nvSpPr>
        <p:spPr>
          <a:xfrm>
            <a:off x="4892040" y="457200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PALETTE</a:t>
            </a:r>
            <a:endParaRPr lang="en-US" sz="1000" dirty="0"/>
          </a:p>
        </p:txBody>
      </p:sp>
      <p:sp>
        <p:nvSpPr>
          <p:cNvPr id="14" name="Shape 11"/>
          <p:cNvSpPr/>
          <p:nvPr/>
        </p:nvSpPr>
        <p:spPr>
          <a:xfrm>
            <a:off x="4892040" y="4937760"/>
            <a:ext cx="1188720" cy="822960"/>
          </a:xfrm>
          <a:prstGeom prst="rect">
            <a:avLst/>
          </a:prstGeom>
          <a:solidFill>
            <a:srgbClr val="2B2D30"/>
          </a:solidFill>
          <a:ln w="9525">
            <a:solidFill>
              <a:srgbClr val="3A3D40"/>
            </a:solidFill>
            <a:prstDash val="solid"/>
          </a:ln>
        </p:spPr>
      </p:sp>
      <p:sp>
        <p:nvSpPr>
          <p:cNvPr id="15" name="Text 12"/>
          <p:cNvSpPr txBox="1"/>
          <p:nvPr/>
        </p:nvSpPr>
        <p:spPr>
          <a:xfrm>
            <a:off x="489204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Antracite</a:t>
            </a:r>
            <a:endParaRPr lang="en-US" sz="950" dirty="0"/>
          </a:p>
        </p:txBody>
      </p:sp>
      <p:sp>
        <p:nvSpPr>
          <p:cNvPr id="16" name="Shape 13"/>
          <p:cNvSpPr/>
          <p:nvPr/>
        </p:nvSpPr>
        <p:spPr>
          <a:xfrm>
            <a:off x="6217920" y="4937760"/>
            <a:ext cx="1188720" cy="822960"/>
          </a:xfrm>
          <a:prstGeom prst="rect">
            <a:avLst/>
          </a:prstGeom>
          <a:solidFill>
            <a:srgbClr val="5E6266"/>
          </a:solidFill>
          <a:ln w="9525">
            <a:solidFill>
              <a:srgbClr val="3A3D40"/>
            </a:solidFill>
            <a:prstDash val="solid"/>
          </a:ln>
        </p:spPr>
      </p:sp>
      <p:sp>
        <p:nvSpPr>
          <p:cNvPr id="17" name="Text 14"/>
          <p:cNvSpPr txBox="1"/>
          <p:nvPr/>
        </p:nvSpPr>
        <p:spPr>
          <a:xfrm>
            <a:off x="621792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Ardesia</a:t>
            </a:r>
            <a:endParaRPr lang="en-US" sz="950" dirty="0"/>
          </a:p>
        </p:txBody>
      </p:sp>
      <p:sp>
        <p:nvSpPr>
          <p:cNvPr id="18" name="Shape 15"/>
          <p:cNvSpPr/>
          <p:nvPr/>
        </p:nvSpPr>
        <p:spPr>
          <a:xfrm>
            <a:off x="7543800" y="4937760"/>
            <a:ext cx="1188720" cy="822960"/>
          </a:xfrm>
          <a:prstGeom prst="rect">
            <a:avLst/>
          </a:prstGeom>
          <a:solidFill>
            <a:srgbClr val="8E9092"/>
          </a:solidFill>
          <a:ln w="9525">
            <a:solidFill>
              <a:srgbClr val="3A3D40"/>
            </a:solidFill>
            <a:prstDash val="solid"/>
          </a:ln>
        </p:spPr>
      </p:sp>
      <p:sp>
        <p:nvSpPr>
          <p:cNvPr id="19" name="Text 16"/>
          <p:cNvSpPr txBox="1"/>
          <p:nvPr/>
        </p:nvSpPr>
        <p:spPr>
          <a:xfrm>
            <a:off x="754380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Pietra bagnata</a:t>
            </a:r>
            <a:endParaRPr lang="en-US" sz="950" dirty="0"/>
          </a:p>
        </p:txBody>
      </p:sp>
      <p:sp>
        <p:nvSpPr>
          <p:cNvPr id="20" name="Shape 17"/>
          <p:cNvSpPr/>
          <p:nvPr/>
        </p:nvSpPr>
        <p:spPr>
          <a:xfrm>
            <a:off x="8869680" y="4937760"/>
            <a:ext cx="1188720" cy="822960"/>
          </a:xfrm>
          <a:prstGeom prst="rect">
            <a:avLst/>
          </a:prstGeom>
          <a:solidFill>
            <a:srgbClr val="C9CACB"/>
          </a:solidFill>
          <a:ln w="9525">
            <a:solidFill>
              <a:srgbClr val="3A3D40"/>
            </a:solidFill>
            <a:prstDash val="solid"/>
          </a:ln>
        </p:spPr>
      </p:sp>
      <p:sp>
        <p:nvSpPr>
          <p:cNvPr id="21" name="Text 18"/>
          <p:cNvSpPr txBox="1"/>
          <p:nvPr/>
        </p:nvSpPr>
        <p:spPr>
          <a:xfrm>
            <a:off x="886968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Nebbia</a:t>
            </a:r>
            <a:endParaRPr lang="en-US" sz="950" dirty="0"/>
          </a:p>
        </p:txBody>
      </p:sp>
      <p:sp>
        <p:nvSpPr>
          <p:cNvPr id="22" name="Shape 19"/>
          <p:cNvSpPr/>
          <p:nvPr/>
        </p:nvSpPr>
        <p:spPr>
          <a:xfrm>
            <a:off x="10195560" y="4937760"/>
            <a:ext cx="1188720" cy="822960"/>
          </a:xfrm>
          <a:prstGeom prst="rect">
            <a:avLst/>
          </a:prstGeom>
          <a:solidFill>
            <a:srgbClr val="A8875A"/>
          </a:solidFill>
          <a:ln w="9525">
            <a:solidFill>
              <a:srgbClr val="3A3D40"/>
            </a:solidFill>
            <a:prstDash val="solid"/>
          </a:ln>
        </p:spPr>
      </p:sp>
      <p:sp>
        <p:nvSpPr>
          <p:cNvPr id="23" name="Text 20"/>
          <p:cNvSpPr txBox="1"/>
          <p:nvPr/>
        </p:nvSpPr>
        <p:spPr>
          <a:xfrm>
            <a:off x="10195560" y="5852160"/>
            <a:ext cx="1234440" cy="365760"/>
          </a:xfrm>
          <a:prstGeom prst="rect">
            <a:avLst/>
          </a:prstGeom>
          <a:noFill/>
          <a:ln/>
        </p:spPr>
        <p:txBody>
          <a:bodyPr wrap="square" lIns="0" tIns="0" rIns="0" bIns="0" rtlCol="0" anchor="t"/>
          <a:lstStyle/>
          <a:p>
            <a:pPr indent="0" marL="0">
              <a:lnSpc>
                <a:spcPct val="115000"/>
              </a:lnSpc>
              <a:spcAft>
                <a:spcPts val="600"/>
              </a:spcAft>
              <a:buNone/>
            </a:pPr>
            <a:r>
              <a:rPr lang="en-US" sz="950" dirty="0">
                <a:solidFill>
                  <a:srgbClr val="A9ACAE"/>
                </a:solidFill>
                <a:latin typeface="Arial" pitchFamily="34" charset="0"/>
                <a:ea typeface="Arial" pitchFamily="34" charset="-122"/>
                <a:cs typeface="Arial" pitchFamily="34" charset="-120"/>
              </a:rPr>
              <a:t>Cammello · accento</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0"/>
        </a:solidFill>
      </p:bgPr>
    </p:bg>
    <p:spTree>
      <p:nvGrpSpPr>
        <p:cNvPr id="1" name=""/>
        <p:cNvGrpSpPr/>
        <p:nvPr/>
      </p:nvGrpSpPr>
      <p:grpSpPr>
        <a:xfrm>
          <a:off x="0" y="0"/>
          <a:ext cx="0" cy="0"/>
          <a:chOff x="0" y="0"/>
          <a:chExt cx="0" cy="0"/>
        </a:xfrm>
      </p:grpSpPr>
      <p:pic>
        <p:nvPicPr>
          <p:cNvPr id="2" name="Image 0" descr="img/column.jpg">    </p:cNvPr>
          <p:cNvPicPr>
            <a:picLocks noChangeAspect="1"/>
          </p:cNvPicPr>
          <p:nvPr/>
        </p:nvPicPr>
        <p:blipFill>
          <a:blip r:embed="rId1"/>
          <a:srcRect l="3856" r="7161" t="0" b="0"/>
          <a:stretch/>
        </p:blipFill>
        <p:spPr>
          <a:xfrm>
            <a:off x="7680960" y="0"/>
            <a:ext cx="4510735" cy="6858000"/>
          </a:xfrm>
          <a:prstGeom prst="rect">
            <a:avLst/>
          </a:prstGeom>
        </p:spPr>
      </p:pic>
      <p:sp>
        <p:nvSpPr>
          <p:cNvPr id="3" name="Text 0"/>
          <p:cNvSpPr txBox="1"/>
          <p:nvPr/>
        </p:nvSpPr>
        <p:spPr>
          <a:xfrm>
            <a:off x="68580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03 — FOTOGRAFIA</a:t>
            </a:r>
            <a:endParaRPr lang="en-US" sz="1000" dirty="0"/>
          </a:p>
        </p:txBody>
      </p:sp>
      <p:sp>
        <p:nvSpPr>
          <p:cNvPr id="4" name="Text 1"/>
          <p:cNvSpPr txBox="1"/>
          <p:nvPr/>
        </p:nvSpPr>
        <p:spPr>
          <a:xfrm>
            <a:off x="685800" y="1097280"/>
            <a:ext cx="6583680" cy="82296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Mai in posa</a:t>
            </a:r>
            <a:endParaRPr lang="en-US" sz="3600" dirty="0"/>
          </a:p>
        </p:txBody>
      </p:sp>
      <p:sp>
        <p:nvSpPr>
          <p:cNvPr id="5" name="Text 2"/>
          <p:cNvSpPr txBox="1"/>
          <p:nvPr/>
        </p:nvSpPr>
        <p:spPr>
          <a:xfrm>
            <a:off x="685800" y="201168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01</a:t>
            </a:r>
            <a:endParaRPr lang="en-US" sz="1800" dirty="0"/>
          </a:p>
        </p:txBody>
      </p:sp>
      <p:sp>
        <p:nvSpPr>
          <p:cNvPr id="6" name="Text 3"/>
          <p:cNvSpPr txBox="1"/>
          <p:nvPr/>
        </p:nvSpPr>
        <p:spPr>
          <a:xfrm>
            <a:off x="1325880" y="201168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gesto prima della posa</a:t>
            </a:r>
            <a:endParaRPr lang="en-US" sz="1400" dirty="0"/>
          </a:p>
        </p:txBody>
      </p:sp>
      <p:sp>
        <p:nvSpPr>
          <p:cNvPr id="7" name="Text 4"/>
          <p:cNvSpPr txBox="1"/>
          <p:nvPr/>
        </p:nvSpPr>
        <p:spPr>
          <a:xfrm>
            <a:off x="1325880" y="234086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Diamo alla modella una destinazione e un’azione. Lo scatto arriva a metà del gesto.</a:t>
            </a:r>
            <a:endParaRPr lang="en-US" sz="1200" dirty="0"/>
          </a:p>
        </p:txBody>
      </p:sp>
      <p:sp>
        <p:nvSpPr>
          <p:cNvPr id="8" name="Text 5"/>
          <p:cNvSpPr txBox="1"/>
          <p:nvPr/>
        </p:nvSpPr>
        <p:spPr>
          <a:xfrm>
            <a:off x="685800" y="274320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02</a:t>
            </a:r>
            <a:endParaRPr lang="en-US" sz="1800" dirty="0"/>
          </a:p>
        </p:txBody>
      </p:sp>
      <p:sp>
        <p:nvSpPr>
          <p:cNvPr id="9" name="Text 6"/>
          <p:cNvSpPr txBox="1"/>
          <p:nvPr/>
        </p:nvSpPr>
        <p:spPr>
          <a:xfrm>
            <a:off x="1325880" y="274320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Lo sguardo di un passante</a:t>
            </a:r>
            <a:endParaRPr lang="en-US" sz="1400" dirty="0"/>
          </a:p>
        </p:txBody>
      </p:sp>
      <p:sp>
        <p:nvSpPr>
          <p:cNvPr id="10" name="Text 7"/>
          <p:cNvSpPr txBox="1"/>
          <p:nvPr/>
        </p:nvSpPr>
        <p:spPr>
          <a:xfrm>
            <a:off x="1325880" y="307238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Teleobiettivo dal marciapiede opposto, attraverso vetrine, tra la gente.</a:t>
            </a:r>
            <a:endParaRPr lang="en-US" sz="1200" dirty="0"/>
          </a:p>
        </p:txBody>
      </p:sp>
      <p:sp>
        <p:nvSpPr>
          <p:cNvPr id="11" name="Text 8"/>
          <p:cNvSpPr txBox="1"/>
          <p:nvPr/>
        </p:nvSpPr>
        <p:spPr>
          <a:xfrm>
            <a:off x="685800" y="347472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03</a:t>
            </a:r>
            <a:endParaRPr lang="en-US" sz="1800" dirty="0"/>
          </a:p>
        </p:txBody>
      </p:sp>
      <p:sp>
        <p:nvSpPr>
          <p:cNvPr id="12" name="Text 9"/>
          <p:cNvSpPr txBox="1"/>
          <p:nvPr/>
        </p:nvSpPr>
        <p:spPr>
          <a:xfrm>
            <a:off x="1325880" y="347472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Movimento visibile</a:t>
            </a:r>
            <a:endParaRPr lang="en-US" sz="1400" dirty="0"/>
          </a:p>
        </p:txBody>
      </p:sp>
      <p:sp>
        <p:nvSpPr>
          <p:cNvPr id="13" name="Text 10"/>
          <p:cNvSpPr txBox="1"/>
          <p:nvPr/>
        </p:nvSpPr>
        <p:spPr>
          <a:xfrm>
            <a:off x="1325880" y="380390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Il cappotto che si apre, il passo lungo, un leggero mosso. Il cappello resta leggibile.</a:t>
            </a:r>
            <a:endParaRPr lang="en-US" sz="1200" dirty="0"/>
          </a:p>
        </p:txBody>
      </p:sp>
      <p:sp>
        <p:nvSpPr>
          <p:cNvPr id="14" name="Text 11"/>
          <p:cNvSpPr txBox="1"/>
          <p:nvPr/>
        </p:nvSpPr>
        <p:spPr>
          <a:xfrm>
            <a:off x="685800" y="420624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04</a:t>
            </a:r>
            <a:endParaRPr lang="en-US" sz="1800" dirty="0"/>
          </a:p>
        </p:txBody>
      </p:sp>
      <p:sp>
        <p:nvSpPr>
          <p:cNvPr id="15" name="Text 12"/>
          <p:cNvSpPr txBox="1"/>
          <p:nvPr/>
        </p:nvSpPr>
        <p:spPr>
          <a:xfrm>
            <a:off x="1325880" y="420624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Solo luce vera</a:t>
            </a:r>
            <a:endParaRPr lang="en-US" sz="1400" dirty="0"/>
          </a:p>
        </p:txBody>
      </p:sp>
      <p:sp>
        <p:nvSpPr>
          <p:cNvPr id="16" name="Text 13"/>
          <p:cNvSpPr txBox="1"/>
          <p:nvPr/>
        </p:nvSpPr>
        <p:spPr>
          <a:xfrm>
            <a:off x="1325880" y="453542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Luce diffusa del cielo coperto. Interni appena più caldi della strada.</a:t>
            </a:r>
            <a:endParaRPr lang="en-US" sz="1200" dirty="0"/>
          </a:p>
        </p:txBody>
      </p:sp>
      <p:sp>
        <p:nvSpPr>
          <p:cNvPr id="17" name="Text 14"/>
          <p:cNvSpPr txBox="1"/>
          <p:nvPr/>
        </p:nvSpPr>
        <p:spPr>
          <a:xfrm>
            <a:off x="685800" y="493776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05</a:t>
            </a:r>
            <a:endParaRPr lang="en-US" sz="1800" dirty="0"/>
          </a:p>
        </p:txBody>
      </p:sp>
      <p:sp>
        <p:nvSpPr>
          <p:cNvPr id="18" name="Text 15"/>
          <p:cNvSpPr txBox="1"/>
          <p:nvPr/>
        </p:nvSpPr>
        <p:spPr>
          <a:xfrm>
            <a:off x="1325880" y="493776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Toni grigi, grana di pellicola</a:t>
            </a:r>
            <a:endParaRPr lang="en-US" sz="1400" dirty="0"/>
          </a:p>
        </p:txBody>
      </p:sp>
      <p:sp>
        <p:nvSpPr>
          <p:cNvPr id="19" name="Text 16"/>
          <p:cNvSpPr txBox="1"/>
          <p:nvPr/>
        </p:nvSpPr>
        <p:spPr>
          <a:xfrm>
            <a:off x="1325880" y="526694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Colore freddo e desaturato; una parte della serie in bianco e nero.</a:t>
            </a:r>
            <a:endParaRPr lang="en-US" sz="1200" dirty="0"/>
          </a:p>
        </p:txBody>
      </p:sp>
      <p:sp>
        <p:nvSpPr>
          <p:cNvPr id="20" name="Text 17"/>
          <p:cNvSpPr txBox="1"/>
          <p:nvPr/>
        </p:nvSpPr>
        <p:spPr>
          <a:xfrm>
            <a:off x="685800" y="5669280"/>
            <a:ext cx="548640" cy="365760"/>
          </a:xfrm>
          <a:prstGeom prst="rect">
            <a:avLst/>
          </a:prstGeom>
          <a:noFill/>
          <a:ln/>
        </p:spPr>
        <p:txBody>
          <a:bodyPr wrap="square" lIns="0" tIns="0" rIns="0" bIns="0" rtlCol="0" anchor="ctr"/>
          <a:lstStyle/>
          <a:p>
            <a:pPr indent="0" marL="0">
              <a:buNone/>
            </a:pPr>
            <a:r>
              <a:rPr lang="en-US" sz="1800" i="1" dirty="0">
                <a:solidFill>
                  <a:srgbClr val="A8875A"/>
                </a:solidFill>
                <a:latin typeface="Cambria" pitchFamily="34" charset="0"/>
                <a:ea typeface="Cambria" pitchFamily="34" charset="-122"/>
                <a:cs typeface="Cambria" pitchFamily="34" charset="-120"/>
              </a:rPr>
              <a:t>06</a:t>
            </a:r>
            <a:endParaRPr lang="en-US" sz="1800" dirty="0"/>
          </a:p>
        </p:txBody>
      </p:sp>
      <p:sp>
        <p:nvSpPr>
          <p:cNvPr id="21" name="Text 18"/>
          <p:cNvSpPr txBox="1"/>
          <p:nvPr/>
        </p:nvSpPr>
        <p:spPr>
          <a:xfrm>
            <a:off x="1325880" y="5669280"/>
            <a:ext cx="585216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Niente primi piani al volto</a:t>
            </a:r>
            <a:endParaRPr lang="en-US" sz="1400" dirty="0"/>
          </a:p>
        </p:txBody>
      </p:sp>
      <p:sp>
        <p:nvSpPr>
          <p:cNvPr id="22" name="Text 19"/>
          <p:cNvSpPr txBox="1"/>
          <p:nvPr/>
        </p:nvSpPr>
        <p:spPr>
          <a:xfrm>
            <a:off x="1325880" y="5998464"/>
            <a:ext cx="5852160" cy="45720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Lo spazio è per la figura intera. Da vicino riprendiamo solo il cappello.</a:t>
            </a:r>
            <a:endParaRPr lang="en-US" sz="1200" dirty="0"/>
          </a:p>
        </p:txBody>
      </p:sp>
      <p:sp>
        <p:nvSpPr>
          <p:cNvPr id="23" name="Text 20"/>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img/beret.jpg">    </p:cNvPr>
          <p:cNvPicPr>
            <a:picLocks noChangeAspect="1"/>
          </p:cNvPicPr>
          <p:nvPr/>
        </p:nvPicPr>
        <p:blipFill>
          <a:blip r:embed="rId1"/>
          <a:srcRect l="8222" r="8222" t="0" b="0"/>
          <a:stretch/>
        </p:blipFill>
        <p:spPr>
          <a:xfrm>
            <a:off x="0" y="0"/>
            <a:ext cx="4297680" cy="6858000"/>
          </a:xfrm>
          <a:prstGeom prst="rect">
            <a:avLst/>
          </a:prstGeom>
        </p:spPr>
      </p:pic>
      <p:sp>
        <p:nvSpPr>
          <p:cNvPr id="3" name="Text 0"/>
          <p:cNvSpPr txBox="1"/>
          <p:nvPr/>
        </p:nvSpPr>
        <p:spPr>
          <a:xfrm>
            <a:off x="493776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04 — STYLING</a:t>
            </a:r>
            <a:endParaRPr lang="en-US" sz="1000" dirty="0"/>
          </a:p>
        </p:txBody>
      </p:sp>
      <p:sp>
        <p:nvSpPr>
          <p:cNvPr id="4" name="Text 1"/>
          <p:cNvSpPr txBox="1"/>
          <p:nvPr/>
        </p:nvSpPr>
        <p:spPr>
          <a:xfrm>
            <a:off x="4937760" y="1097280"/>
            <a:ext cx="6675120" cy="822960"/>
          </a:xfrm>
          <a:prstGeom prst="rect">
            <a:avLst/>
          </a:prstGeom>
          <a:noFill/>
          <a:ln/>
        </p:spPr>
        <p:txBody>
          <a:bodyPr wrap="square" lIns="0" tIns="0" rIns="0" bIns="0" rtlCol="0" anchor="t"/>
          <a:lstStyle/>
          <a:p>
            <a:pPr indent="0" marL="0">
              <a:buNone/>
            </a:pPr>
            <a:r>
              <a:rPr lang="en-US" sz="3600" dirty="0">
                <a:solidFill>
                  <a:srgbClr val="1E2023"/>
                </a:solidFill>
                <a:latin typeface="Cambria" pitchFamily="34" charset="0"/>
                <a:ea typeface="Cambria" pitchFamily="34" charset="-122"/>
                <a:cs typeface="Cambria" pitchFamily="34" charset="-120"/>
              </a:rPr>
              <a:t>Ricchezza silenziosa</a:t>
            </a:r>
            <a:endParaRPr lang="en-US" sz="3600" dirty="0"/>
          </a:p>
        </p:txBody>
      </p:sp>
      <p:sp>
        <p:nvSpPr>
          <p:cNvPr id="5" name="Text 2"/>
          <p:cNvSpPr txBox="1"/>
          <p:nvPr/>
        </p:nvSpPr>
        <p:spPr>
          <a:xfrm>
            <a:off x="4937760" y="1920240"/>
            <a:ext cx="6583680" cy="731520"/>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5E6266"/>
                </a:solidFill>
                <a:latin typeface="Arial" pitchFamily="34" charset="0"/>
                <a:ea typeface="Arial" pitchFamily="34" charset="-122"/>
                <a:cs typeface="Arial" pitchFamily="34" charset="-120"/>
              </a:rPr>
              <a:t>Prendiamo spunto dall’old money senza citarlo alla lettera. La ricchezza si legge nei materiali, nei tagli e nella misura, non nei loghi.</a:t>
            </a:r>
            <a:endParaRPr lang="en-US" sz="1400" dirty="0"/>
          </a:p>
        </p:txBody>
      </p:sp>
      <p:sp>
        <p:nvSpPr>
          <p:cNvPr id="6" name="Text 3"/>
          <p:cNvSpPr txBox="1"/>
          <p:nvPr/>
        </p:nvSpPr>
        <p:spPr>
          <a:xfrm>
            <a:off x="4937760" y="2926080"/>
            <a:ext cx="3108960" cy="365760"/>
          </a:xfrm>
          <a:prstGeom prst="rect">
            <a:avLst/>
          </a:prstGeom>
          <a:noFill/>
          <a:ln/>
        </p:spPr>
        <p:txBody>
          <a:bodyPr wrap="square" lIns="0" tIns="0" rIns="0" bIns="0" rtlCol="0" anchor="ctr"/>
          <a:lstStyle/>
          <a:p>
            <a:pPr indent="0" marL="0">
              <a:buNone/>
            </a:pPr>
            <a:r>
              <a:rPr lang="en-US" sz="2000" i="1" dirty="0">
                <a:solidFill>
                  <a:srgbClr val="1E2023"/>
                </a:solidFill>
                <a:latin typeface="Cambria" pitchFamily="34" charset="0"/>
                <a:ea typeface="Cambria" pitchFamily="34" charset="-122"/>
                <a:cs typeface="Cambria" pitchFamily="34" charset="-120"/>
              </a:rPr>
              <a:t>Sì</a:t>
            </a:r>
            <a:endParaRPr lang="en-US" sz="2000" dirty="0"/>
          </a:p>
        </p:txBody>
      </p:sp>
      <p:sp>
        <p:nvSpPr>
          <p:cNvPr id="7" name="Text 4"/>
          <p:cNvSpPr txBox="1"/>
          <p:nvPr/>
        </p:nvSpPr>
        <p:spPr>
          <a:xfrm>
            <a:off x="4937760" y="3383280"/>
            <a:ext cx="3108960" cy="274320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Cappotti lunghi in lana e cashmere, spigato, doppiopetto</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Dolcevita, gonne midi, pantaloni ampi</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Guanti in pelle, collant velati, stivaletti a punta</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Borse strutturate portate a mano</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Gioielli dorati discreti, occhiali scuri</a:t>
            </a:r>
            <a:endParaRPr lang="en-US" sz="1250" dirty="0"/>
          </a:p>
        </p:txBody>
      </p:sp>
      <p:sp>
        <p:nvSpPr>
          <p:cNvPr id="8" name="Text 5"/>
          <p:cNvSpPr txBox="1"/>
          <p:nvPr/>
        </p:nvSpPr>
        <p:spPr>
          <a:xfrm>
            <a:off x="8412480" y="2926080"/>
            <a:ext cx="3108960" cy="365760"/>
          </a:xfrm>
          <a:prstGeom prst="rect">
            <a:avLst/>
          </a:prstGeom>
          <a:noFill/>
          <a:ln/>
        </p:spPr>
        <p:txBody>
          <a:bodyPr wrap="square" lIns="0" tIns="0" rIns="0" bIns="0" rtlCol="0" anchor="ctr"/>
          <a:lstStyle/>
          <a:p>
            <a:pPr indent="0" marL="0">
              <a:buNone/>
            </a:pPr>
            <a:r>
              <a:rPr lang="en-US" sz="2000" i="1" dirty="0">
                <a:solidFill>
                  <a:srgbClr val="5E6266"/>
                </a:solidFill>
                <a:latin typeface="Cambria" pitchFamily="34" charset="0"/>
                <a:ea typeface="Cambria" pitchFamily="34" charset="-122"/>
                <a:cs typeface="Cambria" pitchFamily="34" charset="-120"/>
              </a:rPr>
              <a:t>No</a:t>
            </a:r>
            <a:endParaRPr lang="en-US" sz="2000" dirty="0"/>
          </a:p>
        </p:txBody>
      </p:sp>
      <p:sp>
        <p:nvSpPr>
          <p:cNvPr id="9" name="Text 6"/>
          <p:cNvSpPr txBox="1"/>
          <p:nvPr/>
        </p:nvSpPr>
        <p:spPr>
          <a:xfrm>
            <a:off x="8412480" y="3383280"/>
            <a:ext cx="3108960" cy="274320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Loghi e monogrammi in vista</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Perle, tweed e foulard tutti insieme</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Look vintage o in costume</a:t>
            </a:r>
            <a:endParaRPr lang="en-US" sz="1250" dirty="0"/>
          </a:p>
          <a:p>
            <a:pPr marL="177800" indent="-177800">
              <a:spcAft>
                <a:spcPts val="800"/>
              </a:spcAft>
              <a:buSzPct val="100000"/>
              <a:buChar char="•"/>
            </a:pPr>
            <a:r>
              <a:rPr lang="en-US" sz="1250" dirty="0">
                <a:solidFill>
                  <a:srgbClr val="1E2023"/>
                </a:solidFill>
                <a:latin typeface="Arial" pitchFamily="34" charset="0"/>
                <a:ea typeface="Arial" pitchFamily="34" charset="-122"/>
                <a:cs typeface="Arial" pitchFamily="34" charset="-120"/>
              </a:rPr>
              <a:t>Colori accesi fuori dal cappello</a:t>
            </a:r>
            <a:endParaRPr lang="en-US" sz="12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023"/>
        </a:solidFill>
      </p:bgPr>
    </p:bg>
    <p:spTree>
      <p:nvGrpSpPr>
        <p:cNvPr id="1" name=""/>
        <p:cNvGrpSpPr/>
        <p:nvPr/>
      </p:nvGrpSpPr>
      <p:grpSpPr>
        <a:xfrm>
          <a:off x="0" y="0"/>
          <a:ext cx="0" cy="0"/>
          <a:chOff x="0" y="0"/>
          <a:chExt cx="0" cy="0"/>
        </a:xfrm>
      </p:grpSpPr>
      <p:sp>
        <p:nvSpPr>
          <p:cNvPr id="2" name="Text 0"/>
          <p:cNvSpPr txBox="1"/>
          <p:nvPr/>
        </p:nvSpPr>
        <p:spPr>
          <a:xfrm>
            <a:off x="68580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05 — IL CAPPELLO</a:t>
            </a:r>
            <a:endParaRPr lang="en-US" sz="1000" dirty="0"/>
          </a:p>
        </p:txBody>
      </p:sp>
      <p:sp>
        <p:nvSpPr>
          <p:cNvPr id="3" name="Text 1"/>
          <p:cNvSpPr txBox="1"/>
          <p:nvPr/>
        </p:nvSpPr>
        <p:spPr>
          <a:xfrm>
            <a:off x="685800" y="1097280"/>
            <a:ext cx="5486400" cy="822960"/>
          </a:xfrm>
          <a:prstGeom prst="rect">
            <a:avLst/>
          </a:prstGeom>
          <a:noFill/>
          <a:ln/>
        </p:spPr>
        <p:txBody>
          <a:bodyPr wrap="square" lIns="0" tIns="0" rIns="0" bIns="0" rtlCol="0" anchor="t"/>
          <a:lstStyle/>
          <a:p>
            <a:pPr indent="0" marL="0">
              <a:buNone/>
            </a:pPr>
            <a:r>
              <a:rPr lang="en-US" sz="3600" dirty="0">
                <a:solidFill>
                  <a:srgbClr val="FFFFFF"/>
                </a:solidFill>
                <a:latin typeface="Cambria" pitchFamily="34" charset="0"/>
                <a:ea typeface="Cambria" pitchFamily="34" charset="-122"/>
                <a:cs typeface="Cambria" pitchFamily="34" charset="-120"/>
              </a:rPr>
              <a:t>Sempre protagonista</a:t>
            </a:r>
            <a:endParaRPr lang="en-US" sz="3600" dirty="0"/>
          </a:p>
        </p:txBody>
      </p:sp>
      <p:sp>
        <p:nvSpPr>
          <p:cNvPr id="4" name="Text 2"/>
          <p:cNvSpPr txBox="1"/>
          <p:nvPr/>
        </p:nvSpPr>
        <p:spPr>
          <a:xfrm>
            <a:off x="6583680" y="1143000"/>
            <a:ext cx="4937760" cy="1280160"/>
          </a:xfrm>
          <a:prstGeom prst="rect">
            <a:avLst/>
          </a:prstGeom>
          <a:noFill/>
          <a:ln/>
        </p:spPr>
        <p:txBody>
          <a:bodyPr wrap="square" lIns="0" tIns="0" rIns="0" bIns="0" rtlCol="0" anchor="t"/>
          <a:lstStyle/>
          <a:p>
            <a:pPr indent="0" marL="0">
              <a:lnSpc>
                <a:spcPct val="115000"/>
              </a:lnSpc>
              <a:spcAft>
                <a:spcPts val="600"/>
              </a:spcAft>
              <a:buNone/>
            </a:pPr>
            <a:r>
              <a:rPr lang="en-US" sz="1300" dirty="0">
                <a:solidFill>
                  <a:srgbClr val="DCDDDC"/>
                </a:solidFill>
                <a:latin typeface="Arial" pitchFamily="34" charset="0"/>
                <a:ea typeface="Arial" pitchFamily="34" charset="-122"/>
                <a:cs typeface="Arial" pitchFamily="34" charset="-120"/>
              </a:rPr>
              <a:t>In ogni scena il cappello definisce la silhouette. Alterniamo la figura intera ai dettagli del cappello (feltro, nastro, tesa bagnata) per renderlo leggibile anche mentre lei cammina. Niente primi piani al volto. L’unico colore acceso concesso è il suo.</a:t>
            </a:r>
            <a:endParaRPr lang="en-US" sz="1300" dirty="0"/>
          </a:p>
        </p:txBody>
      </p:sp>
      <p:pic>
        <p:nvPicPr>
          <p:cNvPr id="5" name="Image 0" descr="img/prod0.jpg">    </p:cNvPr>
          <p:cNvPicPr>
            <a:picLocks noChangeAspect="1"/>
          </p:cNvPicPr>
          <p:nvPr/>
        </p:nvPicPr>
        <p:blipFill>
          <a:blip r:embed="rId1"/>
          <a:srcRect l="0" r="0" t="51" b="41"/>
          <a:stretch/>
        </p:blipFill>
        <p:spPr>
          <a:xfrm>
            <a:off x="685800" y="2697480"/>
            <a:ext cx="1984248" cy="2478024"/>
          </a:xfrm>
          <a:prstGeom prst="rect">
            <a:avLst/>
          </a:prstGeom>
        </p:spPr>
      </p:pic>
      <p:sp>
        <p:nvSpPr>
          <p:cNvPr id="6" name="Text 3"/>
          <p:cNvSpPr txBox="1"/>
          <p:nvPr/>
        </p:nvSpPr>
        <p:spPr>
          <a:xfrm>
            <a:off x="685800" y="5303520"/>
            <a:ext cx="1984248" cy="45720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DCDDDC"/>
                </a:solidFill>
                <a:latin typeface="Arial" pitchFamily="34" charset="0"/>
                <a:ea typeface="Arial" pitchFamily="34" charset="-122"/>
                <a:cs typeface="Arial" pitchFamily="34" charset="-120"/>
              </a:rPr>
              <a:t>Tamburello in feltro cammello</a:t>
            </a:r>
            <a:endParaRPr lang="en-US" sz="1150" dirty="0"/>
          </a:p>
        </p:txBody>
      </p:sp>
      <p:pic>
        <p:nvPicPr>
          <p:cNvPr id="7" name="Image 1" descr="img/prod1.jpg">    </p:cNvPr>
          <p:cNvPicPr>
            <a:picLocks noChangeAspect="1"/>
          </p:cNvPicPr>
          <p:nvPr/>
        </p:nvPicPr>
        <p:blipFill>
          <a:blip r:embed="rId2"/>
          <a:srcRect l="0" r="0" t="51" b="41"/>
          <a:stretch/>
        </p:blipFill>
        <p:spPr>
          <a:xfrm>
            <a:off x="2898648" y="2697480"/>
            <a:ext cx="1984248" cy="2478024"/>
          </a:xfrm>
          <a:prstGeom prst="rect">
            <a:avLst/>
          </a:prstGeom>
        </p:spPr>
      </p:pic>
      <p:sp>
        <p:nvSpPr>
          <p:cNvPr id="8" name="Text 4"/>
          <p:cNvSpPr txBox="1"/>
          <p:nvPr/>
        </p:nvSpPr>
        <p:spPr>
          <a:xfrm>
            <a:off x="2898648" y="5303520"/>
            <a:ext cx="1984248" cy="45720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DCDDDC"/>
                </a:solidFill>
                <a:latin typeface="Arial" pitchFamily="34" charset="0"/>
                <a:ea typeface="Arial" pitchFamily="34" charset="-122"/>
                <a:cs typeface="Arial" pitchFamily="34" charset="-120"/>
              </a:rPr>
              <a:t>Fedora in feltro maculato</a:t>
            </a:r>
            <a:endParaRPr lang="en-US" sz="1150" dirty="0"/>
          </a:p>
        </p:txBody>
      </p:sp>
      <p:pic>
        <p:nvPicPr>
          <p:cNvPr id="9" name="Image 2" descr="img/prod2.jpg">    </p:cNvPr>
          <p:cNvPicPr>
            <a:picLocks noChangeAspect="1"/>
          </p:cNvPicPr>
          <p:nvPr/>
        </p:nvPicPr>
        <p:blipFill>
          <a:blip r:embed="rId3"/>
          <a:srcRect l="0" r="0" t="51" b="41"/>
          <a:stretch/>
        </p:blipFill>
        <p:spPr>
          <a:xfrm>
            <a:off x="5111496" y="2697480"/>
            <a:ext cx="1984248" cy="2478024"/>
          </a:xfrm>
          <a:prstGeom prst="rect">
            <a:avLst/>
          </a:prstGeom>
        </p:spPr>
      </p:pic>
      <p:sp>
        <p:nvSpPr>
          <p:cNvPr id="10" name="Text 5"/>
          <p:cNvSpPr txBox="1"/>
          <p:nvPr/>
        </p:nvSpPr>
        <p:spPr>
          <a:xfrm>
            <a:off x="5111496" y="5303520"/>
            <a:ext cx="1984248" cy="45720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DCDDDC"/>
                </a:solidFill>
                <a:latin typeface="Arial" pitchFamily="34" charset="0"/>
                <a:ea typeface="Arial" pitchFamily="34" charset="-122"/>
                <a:cs typeface="Arial" pitchFamily="34" charset="-120"/>
              </a:rPr>
              <a:t>Cloche in feltro prugna</a:t>
            </a:r>
            <a:endParaRPr lang="en-US" sz="1150" dirty="0"/>
          </a:p>
        </p:txBody>
      </p:sp>
      <p:pic>
        <p:nvPicPr>
          <p:cNvPr id="11" name="Image 3" descr="img/prod3.jpg">    </p:cNvPr>
          <p:cNvPicPr>
            <a:picLocks noChangeAspect="1"/>
          </p:cNvPicPr>
          <p:nvPr/>
        </p:nvPicPr>
        <p:blipFill>
          <a:blip r:embed="rId4"/>
          <a:srcRect l="0" r="0" t="51" b="41"/>
          <a:stretch/>
        </p:blipFill>
        <p:spPr>
          <a:xfrm>
            <a:off x="7324344" y="2697480"/>
            <a:ext cx="1984248" cy="2478024"/>
          </a:xfrm>
          <a:prstGeom prst="rect">
            <a:avLst/>
          </a:prstGeom>
        </p:spPr>
      </p:pic>
      <p:sp>
        <p:nvSpPr>
          <p:cNvPr id="12" name="Text 6"/>
          <p:cNvSpPr txBox="1"/>
          <p:nvPr/>
        </p:nvSpPr>
        <p:spPr>
          <a:xfrm>
            <a:off x="7324344" y="5303520"/>
            <a:ext cx="1984248" cy="45720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DCDDDC"/>
                </a:solidFill>
                <a:latin typeface="Arial" pitchFamily="34" charset="0"/>
                <a:ea typeface="Arial" pitchFamily="34" charset="-122"/>
                <a:cs typeface="Arial" pitchFamily="34" charset="-120"/>
              </a:rPr>
              <a:t>Cloche leopardata con fiocco</a:t>
            </a:r>
            <a:endParaRPr lang="en-US" sz="1150" dirty="0"/>
          </a:p>
        </p:txBody>
      </p:sp>
      <p:pic>
        <p:nvPicPr>
          <p:cNvPr id="13" name="Image 4" descr="img/prod4.jpg">    </p:cNvPr>
          <p:cNvPicPr>
            <a:picLocks noChangeAspect="1"/>
          </p:cNvPicPr>
          <p:nvPr/>
        </p:nvPicPr>
        <p:blipFill>
          <a:blip r:embed="rId5"/>
          <a:srcRect l="0" r="0" t="51" b="41"/>
          <a:stretch/>
        </p:blipFill>
        <p:spPr>
          <a:xfrm>
            <a:off x="9537192" y="2697480"/>
            <a:ext cx="1984248" cy="2478024"/>
          </a:xfrm>
          <a:prstGeom prst="rect">
            <a:avLst/>
          </a:prstGeom>
        </p:spPr>
      </p:pic>
      <p:sp>
        <p:nvSpPr>
          <p:cNvPr id="14" name="Text 7"/>
          <p:cNvSpPr txBox="1"/>
          <p:nvPr/>
        </p:nvSpPr>
        <p:spPr>
          <a:xfrm>
            <a:off x="9537192" y="5303520"/>
            <a:ext cx="1984248" cy="45720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DCDDDC"/>
                </a:solidFill>
                <a:latin typeface="Arial" pitchFamily="34" charset="0"/>
                <a:ea typeface="Arial" pitchFamily="34" charset="-122"/>
                <a:cs typeface="Arial" pitchFamily="34" charset="-120"/>
              </a:rPr>
              <a:t>Coppola in feltro ricamata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0"/>
        </a:solidFill>
      </p:bgPr>
    </p:bg>
    <p:spTree>
      <p:nvGrpSpPr>
        <p:cNvPr id="1" name=""/>
        <p:cNvGrpSpPr/>
        <p:nvPr/>
      </p:nvGrpSpPr>
      <p:grpSpPr>
        <a:xfrm>
          <a:off x="0" y="0"/>
          <a:ext cx="0" cy="0"/>
          <a:chOff x="0" y="0"/>
          <a:chExt cx="0" cy="0"/>
        </a:xfrm>
      </p:grpSpPr>
      <p:pic>
        <p:nvPicPr>
          <p:cNvPr id="2" name="Image 0" descr="img/bors_roof.jpg">    </p:cNvPr>
          <p:cNvPicPr>
            <a:picLocks noChangeAspect="1"/>
          </p:cNvPicPr>
          <p:nvPr/>
        </p:nvPicPr>
        <p:blipFill>
          <a:blip r:embed="rId1"/>
          <a:srcRect l="0" r="0" t="824" b="3295"/>
          <a:stretch/>
        </p:blipFill>
        <p:spPr>
          <a:xfrm>
            <a:off x="0" y="0"/>
            <a:ext cx="4023360" cy="6858000"/>
          </a:xfrm>
          <a:prstGeom prst="rect">
            <a:avLst/>
          </a:prstGeom>
        </p:spPr>
      </p:pic>
      <p:sp>
        <p:nvSpPr>
          <p:cNvPr id="3" name="Text 0"/>
          <p:cNvSpPr txBox="1"/>
          <p:nvPr/>
        </p:nvSpPr>
        <p:spPr>
          <a:xfrm>
            <a:off x="4663440" y="73152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06 — LA CITTÀ</a:t>
            </a:r>
            <a:endParaRPr lang="en-US" sz="1000" dirty="0"/>
          </a:p>
        </p:txBody>
      </p:sp>
      <p:sp>
        <p:nvSpPr>
          <p:cNvPr id="4" name="Text 1"/>
          <p:cNvSpPr txBox="1"/>
          <p:nvPr/>
        </p:nvSpPr>
        <p:spPr>
          <a:xfrm>
            <a:off x="4663440" y="1097280"/>
            <a:ext cx="7132320" cy="822960"/>
          </a:xfrm>
          <a:prstGeom prst="rect">
            <a:avLst/>
          </a:prstGeom>
          <a:noFill/>
          <a:ln/>
        </p:spPr>
        <p:txBody>
          <a:bodyPr wrap="square" lIns="0" tIns="0" rIns="0" bIns="0" rtlCol="0" anchor="t"/>
          <a:lstStyle/>
          <a:p>
            <a:pPr indent="0" marL="0">
              <a:buNone/>
            </a:pPr>
            <a:r>
              <a:rPr lang="en-US" sz="3000" dirty="0">
                <a:solidFill>
                  <a:srgbClr val="1E2023"/>
                </a:solidFill>
                <a:latin typeface="Cambria" pitchFamily="34" charset="0"/>
                <a:ea typeface="Cambria" pitchFamily="34" charset="-122"/>
                <a:cs typeface="Cambria" pitchFamily="34" charset="-120"/>
              </a:rPr>
              <a:t>L’architettura come scenografia</a:t>
            </a:r>
            <a:endParaRPr lang="en-US" sz="3000" dirty="0"/>
          </a:p>
        </p:txBody>
      </p:sp>
      <p:sp>
        <p:nvSpPr>
          <p:cNvPr id="5" name="Text 2"/>
          <p:cNvSpPr txBox="1"/>
          <p:nvPr/>
        </p:nvSpPr>
        <p:spPr>
          <a:xfrm>
            <a:off x="4663440" y="1965960"/>
            <a:ext cx="6766560" cy="822960"/>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5E6266"/>
                </a:solidFill>
                <a:latin typeface="Arial" pitchFamily="34" charset="0"/>
                <a:ea typeface="Arial" pitchFamily="34" charset="-122"/>
                <a:cs typeface="Arial" pitchFamily="34" charset="-120"/>
              </a:rPr>
              <a:t>Spesso la figura è piccola nell’inquadratura: è la città a raccontare il mondo in cui vive. Parigi va romanticizzata senza cartoline, niente Tour Eiffel.</a:t>
            </a:r>
            <a:endParaRPr lang="en-US" sz="1400" dirty="0"/>
          </a:p>
        </p:txBody>
      </p:sp>
      <p:sp>
        <p:nvSpPr>
          <p:cNvPr id="6" name="Text 3"/>
          <p:cNvSpPr txBox="1"/>
          <p:nvPr/>
        </p:nvSpPr>
        <p:spPr>
          <a:xfrm>
            <a:off x="4663440" y="306324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Facciate</a:t>
            </a:r>
            <a:endParaRPr lang="en-US" sz="1800" dirty="0"/>
          </a:p>
        </p:txBody>
      </p:sp>
      <p:sp>
        <p:nvSpPr>
          <p:cNvPr id="7" name="Text 4"/>
          <p:cNvSpPr txBox="1"/>
          <p:nvPr/>
        </p:nvSpPr>
        <p:spPr>
          <a:xfrm>
            <a:off x="4663440" y="342900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Palazzi haussmanniani, balconi in ferro battuto, portoni in legno.</a:t>
            </a:r>
            <a:endParaRPr lang="en-US" sz="1200" dirty="0"/>
          </a:p>
        </p:txBody>
      </p:sp>
      <p:sp>
        <p:nvSpPr>
          <p:cNvPr id="8" name="Text 5"/>
          <p:cNvSpPr txBox="1"/>
          <p:nvPr/>
        </p:nvSpPr>
        <p:spPr>
          <a:xfrm>
            <a:off x="8138160" y="306324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Portici</a:t>
            </a:r>
            <a:endParaRPr lang="en-US" sz="1800" dirty="0"/>
          </a:p>
        </p:txBody>
      </p:sp>
      <p:sp>
        <p:nvSpPr>
          <p:cNvPr id="9" name="Text 6"/>
          <p:cNvSpPr txBox="1"/>
          <p:nvPr/>
        </p:nvSpPr>
        <p:spPr>
          <a:xfrm>
            <a:off x="8138160" y="342900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Palais-Royal, Rue de Rivoli, Place des Vosges.</a:t>
            </a:r>
            <a:endParaRPr lang="en-US" sz="1200" dirty="0"/>
          </a:p>
        </p:txBody>
      </p:sp>
      <p:sp>
        <p:nvSpPr>
          <p:cNvPr id="10" name="Text 7"/>
          <p:cNvSpPr txBox="1"/>
          <p:nvPr/>
        </p:nvSpPr>
        <p:spPr>
          <a:xfrm>
            <a:off x="4663440" y="416052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Metro</a:t>
            </a:r>
            <a:endParaRPr lang="en-US" sz="1800" dirty="0"/>
          </a:p>
        </p:txBody>
      </p:sp>
      <p:sp>
        <p:nvSpPr>
          <p:cNvPr id="11" name="Text 8"/>
          <p:cNvSpPr txBox="1"/>
          <p:nvPr/>
        </p:nvSpPr>
        <p:spPr>
          <a:xfrm>
            <a:off x="4663440" y="452628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Ingressi Art Nouveau di Guimard, scale, piastrelle bianche.</a:t>
            </a:r>
            <a:endParaRPr lang="en-US" sz="1200" dirty="0"/>
          </a:p>
        </p:txBody>
      </p:sp>
      <p:sp>
        <p:nvSpPr>
          <p:cNvPr id="12" name="Text 9"/>
          <p:cNvSpPr txBox="1"/>
          <p:nvPr/>
        </p:nvSpPr>
        <p:spPr>
          <a:xfrm>
            <a:off x="8138160" y="416052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Lungosenna</a:t>
            </a:r>
            <a:endParaRPr lang="en-US" sz="1800" dirty="0"/>
          </a:p>
        </p:txBody>
      </p:sp>
      <p:sp>
        <p:nvSpPr>
          <p:cNvPr id="13" name="Text 10"/>
          <p:cNvSpPr txBox="1"/>
          <p:nvPr/>
        </p:nvSpPr>
        <p:spPr>
          <a:xfrm>
            <a:off x="8138160" y="452628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Ponti e banchine nella nebbia del mattino.</a:t>
            </a:r>
            <a:endParaRPr lang="en-US" sz="1200" dirty="0"/>
          </a:p>
        </p:txBody>
      </p:sp>
      <p:sp>
        <p:nvSpPr>
          <p:cNvPr id="14" name="Text 11"/>
          <p:cNvSpPr txBox="1"/>
          <p:nvPr/>
        </p:nvSpPr>
        <p:spPr>
          <a:xfrm>
            <a:off x="4663440" y="525780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Giardini</a:t>
            </a:r>
            <a:endParaRPr lang="en-US" sz="1800" dirty="0"/>
          </a:p>
        </p:txBody>
      </p:sp>
      <p:sp>
        <p:nvSpPr>
          <p:cNvPr id="15" name="Text 12"/>
          <p:cNvSpPr txBox="1"/>
          <p:nvPr/>
        </p:nvSpPr>
        <p:spPr>
          <a:xfrm>
            <a:off x="4663440" y="562356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Viali spogli, foglie a terra, le sedie verdi.</a:t>
            </a:r>
            <a:endParaRPr lang="en-US" sz="1200" dirty="0"/>
          </a:p>
        </p:txBody>
      </p:sp>
      <p:sp>
        <p:nvSpPr>
          <p:cNvPr id="16" name="Text 13"/>
          <p:cNvSpPr txBox="1"/>
          <p:nvPr/>
        </p:nvSpPr>
        <p:spPr>
          <a:xfrm>
            <a:off x="8138160" y="5257800"/>
            <a:ext cx="3200400" cy="32004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Interni</a:t>
            </a:r>
            <a:endParaRPr lang="en-US" sz="1800" dirty="0"/>
          </a:p>
        </p:txBody>
      </p:sp>
      <p:sp>
        <p:nvSpPr>
          <p:cNvPr id="17" name="Text 14"/>
          <p:cNvSpPr txBox="1"/>
          <p:nvPr/>
        </p:nvSpPr>
        <p:spPr>
          <a:xfrm>
            <a:off x="8138160" y="5623560"/>
            <a:ext cx="3200400" cy="64008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5E6266"/>
                </a:solidFill>
                <a:latin typeface="Arial" pitchFamily="34" charset="0"/>
                <a:ea typeface="Arial" pitchFamily="34" charset="-122"/>
                <a:cs typeface="Arial" pitchFamily="34" charset="-120"/>
              </a:rPr>
              <a:t>Androni, scaloni, ascensori a gabbia e in legno.</a:t>
            </a:r>
            <a:endParaRPr lang="en-US" sz="1200" dirty="0"/>
          </a:p>
        </p:txBody>
      </p:sp>
      <p:sp>
        <p:nvSpPr>
          <p:cNvPr id="18" name="Text 15"/>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023"/>
        </a:solidFill>
      </p:bgPr>
    </p:bg>
    <p:spTree>
      <p:nvGrpSpPr>
        <p:cNvPr id="1" name=""/>
        <p:cNvGrpSpPr/>
        <p:nvPr/>
      </p:nvGrpSpPr>
      <p:grpSpPr>
        <a:xfrm>
          <a:off x="0" y="0"/>
          <a:ext cx="0" cy="0"/>
          <a:chOff x="0" y="0"/>
          <a:chExt cx="0" cy="0"/>
        </a:xfrm>
      </p:grpSpPr>
      <p:pic>
        <p:nvPicPr>
          <p:cNvPr id="2" name="Image 0" descr="img/celine.jpg">    </p:cNvPr>
          <p:cNvPicPr>
            <a:picLocks noChangeAspect="1"/>
          </p:cNvPicPr>
          <p:nvPr/>
        </p:nvPicPr>
        <p:blipFill>
          <a:blip r:embed="rId1"/>
          <a:srcRect l="0" r="0" t="3109" b="3109"/>
          <a:stretch/>
        </p:blipFill>
        <p:spPr>
          <a:xfrm>
            <a:off x="0" y="0"/>
            <a:ext cx="5669280" cy="6858000"/>
          </a:xfrm>
          <a:prstGeom prst="rect">
            <a:avLst/>
          </a:prstGeom>
        </p:spPr>
      </p:pic>
      <p:sp>
        <p:nvSpPr>
          <p:cNvPr id="3"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4"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Celine</a:t>
            </a:r>
            <a:endParaRPr lang="en-US" sz="3400" dirty="0"/>
          </a:p>
        </p:txBody>
      </p:sp>
      <p:sp>
        <p:nvSpPr>
          <p:cNvPr id="5"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Campagna Paris, post Instagram</a:t>
            </a:r>
            <a:endParaRPr lang="en-US" sz="1300" dirty="0"/>
          </a:p>
        </p:txBody>
      </p:sp>
      <p:sp>
        <p:nvSpPr>
          <p:cNvPr id="6"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7"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Bianco e nero crudo. Un passo lungo sul pavé, il cappello a secchiello nero calato sul viso, le facciate haussmanniane sullo sfondo.</a:t>
            </a:r>
            <a:endParaRPr lang="en-US" sz="1350" dirty="0"/>
          </a:p>
        </p:txBody>
      </p:sp>
      <p:sp>
        <p:nvSpPr>
          <p:cNvPr id="8"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9"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passo deciso, la figura colta a metà movimento</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bianco e nero per una parte della serie</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cappello scuro come segno grafico</a:t>
            </a:r>
            <a:endParaRPr lang="en-US" sz="13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023"/>
        </a:solidFill>
      </p:bgPr>
    </p:bg>
    <p:spTree>
      <p:nvGrpSpPr>
        <p:cNvPr id="1" name=""/>
        <p:cNvGrpSpPr/>
        <p:nvPr/>
      </p:nvGrpSpPr>
      <p:grpSpPr>
        <a:xfrm>
          <a:off x="0" y="0"/>
          <a:ext cx="0" cy="0"/>
          <a:chOff x="0" y="0"/>
          <a:chExt cx="0" cy="0"/>
        </a:xfrm>
      </p:grpSpPr>
      <p:pic>
        <p:nvPicPr>
          <p:cNvPr id="2" name="Image 0" descr="img/cucinelli.jpg">    </p:cNvPr>
          <p:cNvPicPr>
            <a:picLocks noChangeAspect="1"/>
          </p:cNvPicPr>
          <p:nvPr/>
        </p:nvPicPr>
        <p:blipFill>
          <a:blip r:embed="rId1"/>
          <a:srcRect l="0" r="0" t="14076" b="17204"/>
          <a:stretch/>
        </p:blipFill>
        <p:spPr>
          <a:xfrm>
            <a:off x="0" y="0"/>
            <a:ext cx="5669280" cy="6858000"/>
          </a:xfrm>
          <a:prstGeom prst="rect">
            <a:avLst/>
          </a:prstGeom>
        </p:spPr>
      </p:pic>
      <p:sp>
        <p:nvSpPr>
          <p:cNvPr id="3"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4"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Brunello Cucinelli</a:t>
            </a:r>
            <a:endParaRPr lang="en-US" sz="3400" dirty="0"/>
          </a:p>
        </p:txBody>
      </p:sp>
      <p:sp>
        <p:nvSpPr>
          <p:cNvPr id="5"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Sartorial bucket bag, Instagram, agosto 2026</a:t>
            </a:r>
            <a:endParaRPr lang="en-US" sz="1300" dirty="0"/>
          </a:p>
        </p:txBody>
      </p:sp>
      <p:sp>
        <p:nvSpPr>
          <p:cNvPr id="6"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7"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Due donne in un ascensore rivestito in legno. Un momento sospeso e quotidiano (le cuffie, un caffè da portare via) ma ricchissimo nei materiali.</a:t>
            </a:r>
            <a:endParaRPr lang="en-US" sz="1350" dirty="0"/>
          </a:p>
        </p:txBody>
      </p:sp>
      <p:sp>
        <p:nvSpPr>
          <p:cNvPr id="8"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9"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La scena dell’ascensore elegante</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calore degli interni contro il grigio della strada</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Uno styling ricco di texture: maglia, feltro, pelle</a:t>
            </a:r>
            <a:endParaRPr lang="en-US" sz="1350" dirty="0"/>
          </a:p>
        </p:txBody>
      </p:sp>
      <p:sp>
        <p:nvSpPr>
          <p:cNvPr id="10"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023"/>
        </a:solidFill>
      </p:bgPr>
    </p:bg>
    <p:spTree>
      <p:nvGrpSpPr>
        <p:cNvPr id="1" name=""/>
        <p:cNvGrpSpPr/>
        <p:nvPr/>
      </p:nvGrpSpPr>
      <p:grpSpPr>
        <a:xfrm>
          <a:off x="0" y="0"/>
          <a:ext cx="0" cy="0"/>
          <a:chOff x="0" y="0"/>
          <a:chExt cx="0" cy="0"/>
        </a:xfrm>
      </p:grpSpPr>
      <p:pic>
        <p:nvPicPr>
          <p:cNvPr id="2" name="Image 0" descr="img/bors_9.jpg">    </p:cNvPr>
          <p:cNvPicPr>
            <a:picLocks noChangeAspect="1"/>
          </p:cNvPicPr>
          <p:nvPr/>
        </p:nvPicPr>
        <p:blipFill>
          <a:blip r:embed="rId1"/>
          <a:srcRect l="26296" r="26296" t="0" b="0"/>
          <a:stretch/>
        </p:blipFill>
        <p:spPr>
          <a:xfrm>
            <a:off x="0" y="0"/>
            <a:ext cx="1828800" cy="6858000"/>
          </a:xfrm>
          <a:prstGeom prst="rect">
            <a:avLst/>
          </a:prstGeom>
        </p:spPr>
      </p:pic>
      <p:pic>
        <p:nvPicPr>
          <p:cNvPr id="3" name="Image 1" descr="img/bors_13.jpg">    </p:cNvPr>
          <p:cNvPicPr>
            <a:picLocks noChangeAspect="1"/>
          </p:cNvPicPr>
          <p:nvPr/>
        </p:nvPicPr>
        <p:blipFill>
          <a:blip r:embed="rId2"/>
          <a:srcRect l="26296" r="26296" t="0" b="0"/>
          <a:stretch/>
        </p:blipFill>
        <p:spPr>
          <a:xfrm>
            <a:off x="1920240" y="0"/>
            <a:ext cx="1828800" cy="6858000"/>
          </a:xfrm>
          <a:prstGeom prst="rect">
            <a:avLst/>
          </a:prstGeom>
        </p:spPr>
      </p:pic>
      <p:pic>
        <p:nvPicPr>
          <p:cNvPr id="4" name="Image 2" descr="img/bors_16.jpg">    </p:cNvPr>
          <p:cNvPicPr>
            <a:picLocks noChangeAspect="1"/>
          </p:cNvPicPr>
          <p:nvPr/>
        </p:nvPicPr>
        <p:blipFill>
          <a:blip r:embed="rId3"/>
          <a:srcRect l="26296" r="26296" t="0" b="0"/>
          <a:stretch/>
        </p:blipFill>
        <p:spPr>
          <a:xfrm>
            <a:off x="3840480" y="0"/>
            <a:ext cx="1828800" cy="6858000"/>
          </a:xfrm>
          <a:prstGeom prst="rect">
            <a:avLst/>
          </a:prstGeom>
        </p:spPr>
      </p:pic>
      <p:sp>
        <p:nvSpPr>
          <p:cNvPr id="5" name="Text 0"/>
          <p:cNvSpPr txBox="1"/>
          <p:nvPr/>
        </p:nvSpPr>
        <p:spPr>
          <a:xfrm>
            <a:off x="6309360" y="73152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6" name="Text 1"/>
          <p:cNvSpPr txBox="1"/>
          <p:nvPr/>
        </p:nvSpPr>
        <p:spPr>
          <a:xfrm>
            <a:off x="6309360" y="10972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Borsalino</a:t>
            </a:r>
            <a:endParaRPr lang="en-US" sz="3400" dirty="0"/>
          </a:p>
        </p:txBody>
      </p:sp>
      <p:sp>
        <p:nvSpPr>
          <p:cNvPr id="7" name="Text 2"/>
          <p:cNvSpPr txBox="1"/>
          <p:nvPr/>
        </p:nvSpPr>
        <p:spPr>
          <a:xfrm>
            <a:off x="6309360" y="182880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Fluid Line, film Instagram</a:t>
            </a:r>
            <a:endParaRPr lang="en-US" sz="1300" dirty="0"/>
          </a:p>
        </p:txBody>
      </p:sp>
      <p:sp>
        <p:nvSpPr>
          <p:cNvPr id="8" name="Text 3"/>
          <p:cNvSpPr txBox="1"/>
          <p:nvPr/>
        </p:nvSpPr>
        <p:spPr>
          <a:xfrm>
            <a:off x="6309360" y="25146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9" name="Text 4"/>
          <p:cNvSpPr txBox="1"/>
          <p:nvPr/>
        </p:nvSpPr>
        <p:spPr>
          <a:xfrm>
            <a:off x="6309360" y="2834640"/>
            <a:ext cx="5242255" cy="1280160"/>
          </a:xfrm>
          <a:prstGeom prst="rect">
            <a:avLst/>
          </a:prstGeom>
          <a:noFill/>
          <a:ln/>
        </p:spPr>
        <p:txBody>
          <a:bodyPr wrap="square" lIns="0" tIns="0" rIns="0" bIns="0" rtlCol="0" anchor="t"/>
          <a:lstStyle/>
          <a:p>
            <a:pPr indent="0" marL="0">
              <a:lnSpc>
                <a:spcPct val="115000"/>
              </a:lnSpc>
              <a:spcAft>
                <a:spcPts val="600"/>
              </a:spcAft>
              <a:buNone/>
            </a:pPr>
            <a:r>
              <a:rPr lang="en-US" sz="1350" dirty="0">
                <a:solidFill>
                  <a:srgbClr val="DCDDDC"/>
                </a:solidFill>
                <a:latin typeface="Arial" pitchFamily="34" charset="0"/>
                <a:ea typeface="Arial" pitchFamily="34" charset="-122"/>
                <a:cs typeface="Arial" pitchFamily="34" charset="-120"/>
              </a:rPr>
              <a:t>Un film costruito per frammenti: tetti di Parigi, un semaforo, luci sfocate, l’accessorio in mano mentre si cammina. Il volto quasi non compare.</a:t>
            </a:r>
            <a:endParaRPr lang="en-US" sz="1350" dirty="0"/>
          </a:p>
        </p:txBody>
      </p:sp>
      <p:sp>
        <p:nvSpPr>
          <p:cNvPr id="10" name="Text 5"/>
          <p:cNvSpPr txBox="1"/>
          <p:nvPr/>
        </p:nvSpPr>
        <p:spPr>
          <a:xfrm>
            <a:off x="6309360" y="420624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11" name="Text 6"/>
          <p:cNvSpPr txBox="1"/>
          <p:nvPr/>
        </p:nvSpPr>
        <p:spPr>
          <a:xfrm>
            <a:off x="6309360" y="4526280"/>
            <a:ext cx="5242255" cy="18288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Il montaggio per frammenti per film e reel</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Inquadrature strette sul cappello in movimento</a:t>
            </a:r>
            <a:endParaRPr lang="en-US" sz="1350" dirty="0"/>
          </a:p>
          <a:p>
            <a:pPr marL="177800" indent="-177800">
              <a:spcAft>
                <a:spcPts val="600"/>
              </a:spcAft>
              <a:buSzPct val="100000"/>
              <a:buChar char="•"/>
            </a:pPr>
            <a:r>
              <a:rPr lang="en-US" sz="1350" dirty="0">
                <a:solidFill>
                  <a:srgbClr val="FFFFFF"/>
                </a:solidFill>
                <a:latin typeface="Arial" pitchFamily="34" charset="0"/>
                <a:ea typeface="Arial" pitchFamily="34" charset="-122"/>
                <a:cs typeface="Arial" pitchFamily="34" charset="-120"/>
              </a:rPr>
              <a:t>Grana cinematografica e colori freddi</a:t>
            </a:r>
            <a:endParaRPr lang="en-US" sz="1350" dirty="0"/>
          </a:p>
        </p:txBody>
      </p:sp>
      <p:sp>
        <p:nvSpPr>
          <p:cNvPr id="12" name="Text 7"/>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023"/>
        </a:solidFill>
      </p:bgPr>
    </p:bg>
    <p:spTree>
      <p:nvGrpSpPr>
        <p:cNvPr id="1" name=""/>
        <p:cNvGrpSpPr/>
        <p:nvPr/>
      </p:nvGrpSpPr>
      <p:grpSpPr>
        <a:xfrm>
          <a:off x="0" y="0"/>
          <a:ext cx="0" cy="0"/>
          <a:chOff x="0" y="0"/>
          <a:chExt cx="0" cy="0"/>
        </a:xfrm>
      </p:grpSpPr>
      <p:pic>
        <p:nvPicPr>
          <p:cNvPr id="2" name="Image 0" descr="img/nb_thumb.jpg">    </p:cNvPr>
          <p:cNvPicPr>
            <a:picLocks noChangeAspect="1"/>
          </p:cNvPicPr>
          <p:nvPr/>
        </p:nvPicPr>
        <p:blipFill>
          <a:blip r:embed="rId1"/>
          <a:srcRect l="5074" r="5074" t="0" b="0"/>
          <a:stretch/>
        </p:blipFill>
        <p:spPr>
          <a:xfrm>
            <a:off x="0" y="0"/>
            <a:ext cx="3474720" cy="6858000"/>
          </a:xfrm>
          <a:prstGeom prst="rect">
            <a:avLst/>
          </a:prstGeom>
        </p:spPr>
      </p:pic>
      <p:pic>
        <p:nvPicPr>
          <p:cNvPr id="3" name="Image 1" descr="img/nb_5.3.jpg">    </p:cNvPr>
          <p:cNvPicPr>
            <a:picLocks noChangeAspect="1"/>
          </p:cNvPicPr>
          <p:nvPr/>
        </p:nvPicPr>
        <p:blipFill>
          <a:blip r:embed="rId2"/>
          <a:srcRect l="0" r="0" t="4755" b="4755"/>
          <a:stretch/>
        </p:blipFill>
        <p:spPr>
          <a:xfrm>
            <a:off x="3566160" y="0"/>
            <a:ext cx="2103120" cy="3383280"/>
          </a:xfrm>
          <a:prstGeom prst="rect">
            <a:avLst/>
          </a:prstGeom>
        </p:spPr>
      </p:pic>
      <p:pic>
        <p:nvPicPr>
          <p:cNvPr id="4" name="Image 2" descr="img/nb_11.5.jpg">    </p:cNvPr>
          <p:cNvPicPr>
            <a:picLocks noChangeAspect="1"/>
          </p:cNvPicPr>
          <p:nvPr/>
        </p:nvPicPr>
        <p:blipFill>
          <a:blip r:embed="rId3"/>
          <a:srcRect l="0" r="0" t="4280" b="5231"/>
          <a:stretch/>
        </p:blipFill>
        <p:spPr>
          <a:xfrm>
            <a:off x="3566160" y="3474720"/>
            <a:ext cx="2103120" cy="3383280"/>
          </a:xfrm>
          <a:prstGeom prst="rect">
            <a:avLst/>
          </a:prstGeom>
        </p:spPr>
      </p:pic>
      <p:sp>
        <p:nvSpPr>
          <p:cNvPr id="5" name="Text 0"/>
          <p:cNvSpPr txBox="1"/>
          <p:nvPr/>
        </p:nvSpPr>
        <p:spPr>
          <a:xfrm>
            <a:off x="6309360" y="548640"/>
            <a:ext cx="5486400" cy="274320"/>
          </a:xfrm>
          <a:prstGeom prst="rect">
            <a:avLst/>
          </a:prstGeom>
          <a:noFill/>
          <a:ln/>
        </p:spPr>
        <p:txBody>
          <a:bodyPr wrap="square" lIns="0" tIns="0" rIns="0" bIns="0" rtlCol="0" anchor="ctr"/>
          <a:lstStyle/>
          <a:p>
            <a:pPr indent="0" marL="0">
              <a:buNone/>
            </a:pPr>
            <a:r>
              <a:rPr lang="en-US" sz="1000" spc="400" kern="0" dirty="0">
                <a:solidFill>
                  <a:srgbClr val="A9ACAE"/>
                </a:solidFill>
                <a:latin typeface="Arial" pitchFamily="34" charset="0"/>
                <a:ea typeface="Arial" pitchFamily="34" charset="-122"/>
                <a:cs typeface="Arial" pitchFamily="34" charset="-120"/>
              </a:rPr>
              <a:t>RIFERIMENTO</a:t>
            </a:r>
            <a:endParaRPr lang="en-US" sz="1000" dirty="0"/>
          </a:p>
        </p:txBody>
      </p:sp>
      <p:sp>
        <p:nvSpPr>
          <p:cNvPr id="6" name="Text 1"/>
          <p:cNvSpPr txBox="1"/>
          <p:nvPr/>
        </p:nvSpPr>
        <p:spPr>
          <a:xfrm>
            <a:off x="6309360" y="868680"/>
            <a:ext cx="5242255" cy="731520"/>
          </a:xfrm>
          <a:prstGeom prst="rect">
            <a:avLst/>
          </a:prstGeom>
          <a:noFill/>
          <a:ln/>
        </p:spPr>
        <p:txBody>
          <a:bodyPr wrap="square" lIns="0" tIns="0" rIns="0" bIns="0" rtlCol="0" anchor="t"/>
          <a:lstStyle/>
          <a:p>
            <a:pPr indent="0" marL="0">
              <a:buNone/>
            </a:pPr>
            <a:r>
              <a:rPr lang="en-US" sz="3400" dirty="0">
                <a:solidFill>
                  <a:srgbClr val="FFFFFF"/>
                </a:solidFill>
                <a:latin typeface="Cambria" pitchFamily="34" charset="0"/>
                <a:ea typeface="Cambria" pitchFamily="34" charset="-122"/>
                <a:cs typeface="Cambria" pitchFamily="34" charset="-120"/>
              </a:rPr>
              <a:t>Natali Bolgar</a:t>
            </a:r>
            <a:endParaRPr lang="en-US" sz="3400" dirty="0"/>
          </a:p>
        </p:txBody>
      </p:sp>
      <p:sp>
        <p:nvSpPr>
          <p:cNvPr id="7" name="Text 2"/>
          <p:cNvSpPr txBox="1"/>
          <p:nvPr/>
        </p:nvSpPr>
        <p:spPr>
          <a:xfrm>
            <a:off x="6309360" y="1554480"/>
            <a:ext cx="5242255" cy="365760"/>
          </a:xfrm>
          <a:prstGeom prst="rect">
            <a:avLst/>
          </a:prstGeom>
          <a:noFill/>
          <a:ln/>
        </p:spPr>
        <p:txBody>
          <a:bodyPr wrap="square" lIns="0" tIns="0" rIns="0" bIns="0" rtlCol="0" anchor="t"/>
          <a:lstStyle/>
          <a:p>
            <a:pPr indent="0" marL="0">
              <a:lnSpc>
                <a:spcPct val="115000"/>
              </a:lnSpc>
              <a:spcAft>
                <a:spcPts val="600"/>
              </a:spcAft>
              <a:buNone/>
            </a:pPr>
            <a:r>
              <a:rPr lang="en-US" sz="1300" i="1" dirty="0">
                <a:solidFill>
                  <a:srgbClr val="A9ACAE"/>
                </a:solidFill>
                <a:latin typeface="Arial" pitchFamily="34" charset="0"/>
                <a:ea typeface="Arial" pitchFamily="34" charset="-122"/>
                <a:cs typeface="Arial" pitchFamily="34" charset="-120"/>
              </a:rPr>
              <a:t>Film Instagram, dal colonnato alla città</a:t>
            </a:r>
            <a:endParaRPr lang="en-US" sz="1300" dirty="0"/>
          </a:p>
        </p:txBody>
      </p:sp>
      <p:sp>
        <p:nvSpPr>
          <p:cNvPr id="8" name="Text 3"/>
          <p:cNvSpPr txBox="1"/>
          <p:nvPr/>
        </p:nvSpPr>
        <p:spPr>
          <a:xfrm>
            <a:off x="6309360" y="210312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VEDIAMO</a:t>
            </a:r>
            <a:endParaRPr lang="en-US" sz="1000" dirty="0"/>
          </a:p>
        </p:txBody>
      </p:sp>
      <p:sp>
        <p:nvSpPr>
          <p:cNvPr id="9" name="Text 4"/>
          <p:cNvSpPr txBox="1"/>
          <p:nvPr/>
        </p:nvSpPr>
        <p:spPr>
          <a:xfrm>
            <a:off x="6309360" y="2395728"/>
            <a:ext cx="5242255" cy="91440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DCDDDC"/>
                </a:solidFill>
                <a:latin typeface="Arial" pitchFamily="34" charset="0"/>
                <a:ea typeface="Arial" pitchFamily="34" charset="-122"/>
                <a:cs typeface="Arial" pitchFamily="34" charset="-120"/>
              </a:rPr>
              <a:t>Si apre con lei che passa di corsa tra le colonne. Poi la città usata come architettura: strisce viste dall’alto, scale, un ascensore.</a:t>
            </a:r>
            <a:endParaRPr lang="en-US" sz="1250" dirty="0"/>
          </a:p>
        </p:txBody>
      </p:sp>
      <p:sp>
        <p:nvSpPr>
          <p:cNvPr id="10" name="Text 5"/>
          <p:cNvSpPr txBox="1"/>
          <p:nvPr/>
        </p:nvSpPr>
        <p:spPr>
          <a:xfrm>
            <a:off x="6309360" y="34290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PRENDIAMO PER TIRABASSO</a:t>
            </a:r>
            <a:endParaRPr lang="en-US" sz="1000" dirty="0"/>
          </a:p>
        </p:txBody>
      </p:sp>
      <p:sp>
        <p:nvSpPr>
          <p:cNvPr id="11" name="Text 6"/>
          <p:cNvSpPr txBox="1"/>
          <p:nvPr/>
        </p:nvSpPr>
        <p:spPr>
          <a:xfrm>
            <a:off x="6309360" y="3721608"/>
            <a:ext cx="5242255" cy="11887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scena iniziale: lei che attraversa un colonnato</a:t>
            </a:r>
            <a:endParaRPr lang="en-US" sz="1250" dirty="0"/>
          </a:p>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città come geometria: dall’alto, le scale, l’ascensore</a:t>
            </a:r>
            <a:endParaRPr lang="en-US" sz="1250" dirty="0"/>
          </a:p>
          <a:p>
            <a:pPr marL="177800" indent="-177800">
              <a:spcAft>
                <a:spcPts val="500"/>
              </a:spcAft>
              <a:buSzPct val="100000"/>
              <a:buChar char="•"/>
            </a:pPr>
            <a:r>
              <a:rPr lang="en-US" sz="1250" dirty="0">
                <a:solidFill>
                  <a:srgbClr val="FFFFFF"/>
                </a:solidFill>
                <a:latin typeface="Arial" pitchFamily="34" charset="0"/>
                <a:ea typeface="Arial" pitchFamily="34" charset="-122"/>
                <a:cs typeface="Arial" pitchFamily="34" charset="-120"/>
              </a:rPr>
              <a:t>La figura intera, piccola dentro l’architettura</a:t>
            </a:r>
            <a:endParaRPr lang="en-US" sz="1250" dirty="0"/>
          </a:p>
        </p:txBody>
      </p:sp>
      <p:sp>
        <p:nvSpPr>
          <p:cNvPr id="12" name="Text 7"/>
          <p:cNvSpPr txBox="1"/>
          <p:nvPr/>
        </p:nvSpPr>
        <p:spPr>
          <a:xfrm>
            <a:off x="6309360" y="5029200"/>
            <a:ext cx="54864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COSA LASCIAMO</a:t>
            </a:r>
            <a:endParaRPr lang="en-US" sz="1000" dirty="0"/>
          </a:p>
        </p:txBody>
      </p:sp>
      <p:sp>
        <p:nvSpPr>
          <p:cNvPr id="13" name="Text 8"/>
          <p:cNvSpPr txBox="1"/>
          <p:nvPr/>
        </p:nvSpPr>
        <p:spPr>
          <a:xfrm>
            <a:off x="6309360" y="5321808"/>
            <a:ext cx="5242255" cy="11887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A9ACAE"/>
                </a:solidFill>
                <a:latin typeface="Arial" pitchFamily="34" charset="0"/>
                <a:ea typeface="Arial" pitchFamily="34" charset="-122"/>
                <a:cs typeface="Arial" pitchFamily="34" charset="-120"/>
              </a:rPr>
              <a:t>Il ritmo veloce e il tono troppo smart: il nostro è più lento e romantico</a:t>
            </a:r>
            <a:endParaRPr lang="en-US" sz="1250" dirty="0"/>
          </a:p>
          <a:p>
            <a:pPr marL="177800" indent="-177800">
              <a:spcAft>
                <a:spcPts val="500"/>
              </a:spcAft>
              <a:buSzPct val="100000"/>
              <a:buChar char="•"/>
            </a:pPr>
            <a:r>
              <a:rPr lang="en-US" sz="1250" dirty="0">
                <a:solidFill>
                  <a:srgbClr val="A9ACAE"/>
                </a:solidFill>
                <a:latin typeface="Arial" pitchFamily="34" charset="0"/>
                <a:ea typeface="Arial" pitchFamily="34" charset="-122"/>
                <a:cs typeface="Arial" pitchFamily="34" charset="-120"/>
              </a:rPr>
              <a:t>I primi piani al volto: da vicino riprendiamo solo il cappello</a:t>
            </a:r>
            <a:endParaRPr lang="en-US" sz="1250" dirty="0"/>
          </a:p>
        </p:txBody>
      </p:sp>
      <p:sp>
        <p:nvSpPr>
          <p:cNvPr id="14" name="Text 9"/>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8A8D9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2F0"/>
        </a:solidFill>
      </p:bgPr>
    </p:bg>
    <p:spTree>
      <p:nvGrpSpPr>
        <p:cNvPr id="1" name=""/>
        <p:cNvGrpSpPr/>
        <p:nvPr/>
      </p:nvGrpSpPr>
      <p:grpSpPr>
        <a:xfrm>
          <a:off x="0" y="0"/>
          <a:ext cx="0" cy="0"/>
          <a:chOff x="0" y="0"/>
          <a:chExt cx="0" cy="0"/>
        </a:xfrm>
      </p:grpSpPr>
      <p:sp>
        <p:nvSpPr>
          <p:cNvPr id="2"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07 — IL RACCONTO</a:t>
            </a:r>
            <a:endParaRPr lang="en-US" sz="1000" dirty="0"/>
          </a:p>
        </p:txBody>
      </p:sp>
      <p:sp>
        <p:nvSpPr>
          <p:cNvPr id="3" name="Text 1"/>
          <p:cNvSpPr txBox="1"/>
          <p:nvPr/>
        </p:nvSpPr>
        <p:spPr>
          <a:xfrm>
            <a:off x="685800" y="868680"/>
            <a:ext cx="100584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La giornata in sette scene</a:t>
            </a:r>
            <a:endParaRPr lang="en-US" sz="3400" dirty="0"/>
          </a:p>
        </p:txBody>
      </p:sp>
      <p:sp>
        <p:nvSpPr>
          <p:cNvPr id="4" name="Shape 2"/>
          <p:cNvSpPr/>
          <p:nvPr/>
        </p:nvSpPr>
        <p:spPr>
          <a:xfrm>
            <a:off x="685800" y="1783080"/>
            <a:ext cx="2560320" cy="2240280"/>
          </a:xfrm>
          <a:prstGeom prst="rect">
            <a:avLst/>
          </a:prstGeom>
          <a:solidFill>
            <a:srgbClr val="FFFFFF"/>
          </a:solidFill>
          <a:ln w="9525">
            <a:solidFill>
              <a:srgbClr val="DCDDDC"/>
            </a:solidFill>
            <a:prstDash val="solid"/>
          </a:ln>
        </p:spPr>
      </p:sp>
      <p:sp>
        <p:nvSpPr>
          <p:cNvPr id="5" name="Text 3"/>
          <p:cNvSpPr txBox="1"/>
          <p:nvPr/>
        </p:nvSpPr>
        <p:spPr>
          <a:xfrm>
            <a:off x="9144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9144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L’uscita</a:t>
            </a:r>
            <a:endParaRPr lang="en-US" sz="1400" dirty="0"/>
          </a:p>
        </p:txBody>
      </p:sp>
      <p:sp>
        <p:nvSpPr>
          <p:cNvPr id="7" name="Text 5"/>
          <p:cNvSpPr txBox="1"/>
          <p:nvPr/>
        </p:nvSpPr>
        <p:spPr>
          <a:xfrm>
            <a:off x="9144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Un portone si apre su una via haussmanniana. Lei sistema un guanto e parte.</a:t>
            </a:r>
            <a:endParaRPr lang="en-US" sz="1150" dirty="0"/>
          </a:p>
        </p:txBody>
      </p:sp>
      <p:sp>
        <p:nvSpPr>
          <p:cNvPr id="8" name="Shape 6"/>
          <p:cNvSpPr/>
          <p:nvPr/>
        </p:nvSpPr>
        <p:spPr>
          <a:xfrm>
            <a:off x="3429000" y="1783080"/>
            <a:ext cx="2560320" cy="2240280"/>
          </a:xfrm>
          <a:prstGeom prst="rect">
            <a:avLst/>
          </a:prstGeom>
          <a:solidFill>
            <a:srgbClr val="FFFFFF"/>
          </a:solidFill>
          <a:ln w="9525">
            <a:solidFill>
              <a:srgbClr val="DCDDDC"/>
            </a:solidFill>
            <a:prstDash val="solid"/>
          </a:ln>
        </p:spPr>
      </p:sp>
      <p:sp>
        <p:nvSpPr>
          <p:cNvPr id="9" name="Text 7"/>
          <p:cNvSpPr txBox="1"/>
          <p:nvPr/>
        </p:nvSpPr>
        <p:spPr>
          <a:xfrm>
            <a:off x="36576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02</a:t>
            </a:r>
            <a:endParaRPr lang="en-US" sz="2600" dirty="0"/>
          </a:p>
        </p:txBody>
      </p:sp>
      <p:sp>
        <p:nvSpPr>
          <p:cNvPr id="10" name="Text 8"/>
          <p:cNvSpPr txBox="1"/>
          <p:nvPr/>
        </p:nvSpPr>
        <p:spPr>
          <a:xfrm>
            <a:off x="36576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L’attraversamento</a:t>
            </a:r>
            <a:endParaRPr lang="en-US" sz="1400" dirty="0"/>
          </a:p>
        </p:txBody>
      </p:sp>
      <p:sp>
        <p:nvSpPr>
          <p:cNvPr id="11" name="Text 9"/>
          <p:cNvSpPr txBox="1"/>
          <p:nvPr/>
        </p:nvSpPr>
        <p:spPr>
          <a:xfrm>
            <a:off x="36576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Strisce bagnate, il cappotto che si apre nel passo. Vista dal marciapiede opposto.</a:t>
            </a:r>
            <a:endParaRPr lang="en-US" sz="1150" dirty="0"/>
          </a:p>
        </p:txBody>
      </p:sp>
      <p:sp>
        <p:nvSpPr>
          <p:cNvPr id="12" name="Shape 10"/>
          <p:cNvSpPr/>
          <p:nvPr/>
        </p:nvSpPr>
        <p:spPr>
          <a:xfrm>
            <a:off x="6172200" y="1783080"/>
            <a:ext cx="2560320" cy="2240280"/>
          </a:xfrm>
          <a:prstGeom prst="rect">
            <a:avLst/>
          </a:prstGeom>
          <a:solidFill>
            <a:srgbClr val="FFFFFF"/>
          </a:solidFill>
          <a:ln w="9525">
            <a:solidFill>
              <a:srgbClr val="DCDDDC"/>
            </a:solidFill>
            <a:prstDash val="solid"/>
          </a:ln>
        </p:spPr>
      </p:sp>
      <p:sp>
        <p:nvSpPr>
          <p:cNvPr id="13" name="Text 11"/>
          <p:cNvSpPr txBox="1"/>
          <p:nvPr/>
        </p:nvSpPr>
        <p:spPr>
          <a:xfrm>
            <a:off x="64008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03</a:t>
            </a:r>
            <a:endParaRPr lang="en-US" sz="2600" dirty="0"/>
          </a:p>
        </p:txBody>
      </p:sp>
      <p:sp>
        <p:nvSpPr>
          <p:cNvPr id="14" name="Text 12"/>
          <p:cNvSpPr txBox="1"/>
          <p:nvPr/>
        </p:nvSpPr>
        <p:spPr>
          <a:xfrm>
            <a:off x="64008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caffè</a:t>
            </a:r>
            <a:endParaRPr lang="en-US" sz="1400" dirty="0"/>
          </a:p>
        </p:txBody>
      </p:sp>
      <p:sp>
        <p:nvSpPr>
          <p:cNvPr id="15" name="Text 13"/>
          <p:cNvSpPr txBox="1"/>
          <p:nvPr/>
        </p:nvSpPr>
        <p:spPr>
          <a:xfrm>
            <a:off x="64008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Dietro il vetro di un bistrot: la tazzina, il rossetto, lo sguardo fuori.</a:t>
            </a:r>
            <a:endParaRPr lang="en-US" sz="1150" dirty="0"/>
          </a:p>
        </p:txBody>
      </p:sp>
      <p:sp>
        <p:nvSpPr>
          <p:cNvPr id="16" name="Shape 14"/>
          <p:cNvSpPr/>
          <p:nvPr/>
        </p:nvSpPr>
        <p:spPr>
          <a:xfrm>
            <a:off x="8915400" y="1783080"/>
            <a:ext cx="2560320" cy="2240280"/>
          </a:xfrm>
          <a:prstGeom prst="rect">
            <a:avLst/>
          </a:prstGeom>
          <a:solidFill>
            <a:srgbClr val="FFFFFF"/>
          </a:solidFill>
          <a:ln w="9525">
            <a:solidFill>
              <a:srgbClr val="DCDDDC"/>
            </a:solidFill>
            <a:prstDash val="solid"/>
          </a:ln>
        </p:spPr>
      </p:sp>
      <p:sp>
        <p:nvSpPr>
          <p:cNvPr id="17" name="Text 15"/>
          <p:cNvSpPr txBox="1"/>
          <p:nvPr/>
        </p:nvSpPr>
        <p:spPr>
          <a:xfrm>
            <a:off x="9144000" y="196596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04</a:t>
            </a:r>
            <a:endParaRPr lang="en-US" sz="2600" dirty="0"/>
          </a:p>
        </p:txBody>
      </p:sp>
      <p:sp>
        <p:nvSpPr>
          <p:cNvPr id="18" name="Text 16"/>
          <p:cNvSpPr txBox="1"/>
          <p:nvPr/>
        </p:nvSpPr>
        <p:spPr>
          <a:xfrm>
            <a:off x="9144000" y="256032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 metro</a:t>
            </a:r>
            <a:endParaRPr lang="en-US" sz="1400" dirty="0"/>
          </a:p>
        </p:txBody>
      </p:sp>
      <p:sp>
        <p:nvSpPr>
          <p:cNvPr id="19" name="Text 17"/>
          <p:cNvSpPr txBox="1"/>
          <p:nvPr/>
        </p:nvSpPr>
        <p:spPr>
          <a:xfrm>
            <a:off x="9144000" y="292608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Scende sotto un ingresso Guimard. Il corrimano, il treno che arriva.</a:t>
            </a:r>
            <a:endParaRPr lang="en-US" sz="1150" dirty="0"/>
          </a:p>
        </p:txBody>
      </p:sp>
      <p:sp>
        <p:nvSpPr>
          <p:cNvPr id="20" name="Shape 18"/>
          <p:cNvSpPr/>
          <p:nvPr/>
        </p:nvSpPr>
        <p:spPr>
          <a:xfrm>
            <a:off x="685800" y="4206240"/>
            <a:ext cx="2560320" cy="2240280"/>
          </a:xfrm>
          <a:prstGeom prst="rect">
            <a:avLst/>
          </a:prstGeom>
          <a:solidFill>
            <a:srgbClr val="FFFFFF"/>
          </a:solidFill>
          <a:ln w="9525">
            <a:solidFill>
              <a:srgbClr val="DCDDDC"/>
            </a:solidFill>
            <a:prstDash val="solid"/>
          </a:ln>
        </p:spPr>
      </p:sp>
      <p:sp>
        <p:nvSpPr>
          <p:cNvPr id="21" name="Text 19"/>
          <p:cNvSpPr txBox="1"/>
          <p:nvPr/>
        </p:nvSpPr>
        <p:spPr>
          <a:xfrm>
            <a:off x="9144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05</a:t>
            </a:r>
            <a:endParaRPr lang="en-US" sz="2600" dirty="0"/>
          </a:p>
        </p:txBody>
      </p:sp>
      <p:sp>
        <p:nvSpPr>
          <p:cNvPr id="22" name="Text 20"/>
          <p:cNvSpPr txBox="1"/>
          <p:nvPr/>
        </p:nvSpPr>
        <p:spPr>
          <a:xfrm>
            <a:off x="9144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L’ascensore</a:t>
            </a:r>
            <a:endParaRPr lang="en-US" sz="1400" dirty="0"/>
          </a:p>
        </p:txBody>
      </p:sp>
      <p:sp>
        <p:nvSpPr>
          <p:cNvPr id="23" name="Text 21"/>
          <p:cNvSpPr txBox="1"/>
          <p:nvPr/>
        </p:nvSpPr>
        <p:spPr>
          <a:xfrm>
            <a:off x="9144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Un ascensore a gabbia o in legno in un palazzo elegante. Pochi secondi sospesi.</a:t>
            </a:r>
            <a:endParaRPr lang="en-US" sz="1150" dirty="0"/>
          </a:p>
        </p:txBody>
      </p:sp>
      <p:sp>
        <p:nvSpPr>
          <p:cNvPr id="24" name="Shape 22"/>
          <p:cNvSpPr/>
          <p:nvPr/>
        </p:nvSpPr>
        <p:spPr>
          <a:xfrm>
            <a:off x="3429000" y="4206240"/>
            <a:ext cx="2560320" cy="2240280"/>
          </a:xfrm>
          <a:prstGeom prst="rect">
            <a:avLst/>
          </a:prstGeom>
          <a:solidFill>
            <a:srgbClr val="FFFFFF"/>
          </a:solidFill>
          <a:ln w="9525">
            <a:solidFill>
              <a:srgbClr val="DCDDDC"/>
            </a:solidFill>
            <a:prstDash val="solid"/>
          </a:ln>
        </p:spPr>
      </p:sp>
      <p:sp>
        <p:nvSpPr>
          <p:cNvPr id="25" name="Text 23"/>
          <p:cNvSpPr txBox="1"/>
          <p:nvPr/>
        </p:nvSpPr>
        <p:spPr>
          <a:xfrm>
            <a:off x="36576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06</a:t>
            </a:r>
            <a:endParaRPr lang="en-US" sz="2600" dirty="0"/>
          </a:p>
        </p:txBody>
      </p:sp>
      <p:sp>
        <p:nvSpPr>
          <p:cNvPr id="26" name="Text 24"/>
          <p:cNvSpPr txBox="1"/>
          <p:nvPr/>
        </p:nvSpPr>
        <p:spPr>
          <a:xfrm>
            <a:off x="36576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Il riparo</a:t>
            </a:r>
            <a:endParaRPr lang="en-US" sz="1400" dirty="0"/>
          </a:p>
        </p:txBody>
      </p:sp>
      <p:sp>
        <p:nvSpPr>
          <p:cNvPr id="27" name="Text 25"/>
          <p:cNvSpPr txBox="1"/>
          <p:nvPr/>
        </p:nvSpPr>
        <p:spPr>
          <a:xfrm>
            <a:off x="36576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La pioggia la ferma sotto un portico. Un dettaglio stretto sul cappello, la pioggia sulla tesa.</a:t>
            </a:r>
            <a:endParaRPr lang="en-US" sz="1150" dirty="0"/>
          </a:p>
        </p:txBody>
      </p:sp>
      <p:sp>
        <p:nvSpPr>
          <p:cNvPr id="28" name="Shape 26"/>
          <p:cNvSpPr/>
          <p:nvPr/>
        </p:nvSpPr>
        <p:spPr>
          <a:xfrm>
            <a:off x="6172200" y="4206240"/>
            <a:ext cx="2560320" cy="2240280"/>
          </a:xfrm>
          <a:prstGeom prst="rect">
            <a:avLst/>
          </a:prstGeom>
          <a:solidFill>
            <a:srgbClr val="FFFFFF"/>
          </a:solidFill>
          <a:ln w="9525">
            <a:solidFill>
              <a:srgbClr val="DCDDDC"/>
            </a:solidFill>
            <a:prstDash val="solid"/>
          </a:ln>
        </p:spPr>
      </p:sp>
      <p:sp>
        <p:nvSpPr>
          <p:cNvPr id="29" name="Text 27"/>
          <p:cNvSpPr txBox="1"/>
          <p:nvPr/>
        </p:nvSpPr>
        <p:spPr>
          <a:xfrm>
            <a:off x="6400800" y="4389120"/>
            <a:ext cx="914400" cy="502920"/>
          </a:xfrm>
          <a:prstGeom prst="rect">
            <a:avLst/>
          </a:prstGeom>
          <a:noFill/>
          <a:ln/>
        </p:spPr>
        <p:txBody>
          <a:bodyPr wrap="square" lIns="0" tIns="0" rIns="0" bIns="0" rtlCol="0" anchor="ctr"/>
          <a:lstStyle/>
          <a:p>
            <a:pPr indent="0" marL="0">
              <a:buNone/>
            </a:pPr>
            <a:r>
              <a:rPr lang="en-US" sz="2600" i="1" dirty="0">
                <a:solidFill>
                  <a:srgbClr val="A8875A"/>
                </a:solidFill>
                <a:latin typeface="Cambria" pitchFamily="34" charset="0"/>
                <a:ea typeface="Cambria" pitchFamily="34" charset="-122"/>
                <a:cs typeface="Cambria" pitchFamily="34" charset="-120"/>
              </a:rPr>
              <a:t>07</a:t>
            </a:r>
            <a:endParaRPr lang="en-US" sz="2600" dirty="0"/>
          </a:p>
        </p:txBody>
      </p:sp>
      <p:sp>
        <p:nvSpPr>
          <p:cNvPr id="30" name="Text 28"/>
          <p:cNvSpPr txBox="1"/>
          <p:nvPr/>
        </p:nvSpPr>
        <p:spPr>
          <a:xfrm>
            <a:off x="6400800" y="4983480"/>
            <a:ext cx="2103120" cy="320040"/>
          </a:xfrm>
          <a:prstGeom prst="rect">
            <a:avLst/>
          </a:prstGeom>
          <a:noFill/>
          <a:ln/>
        </p:spPr>
        <p:txBody>
          <a:bodyPr wrap="square" lIns="0" tIns="0" rIns="0" bIns="0" rtlCol="0" anchor="ctr"/>
          <a:lstStyle/>
          <a:p>
            <a:pPr indent="0" marL="0">
              <a:buNone/>
            </a:pPr>
            <a:r>
              <a:rPr lang="en-US" sz="1400" b="1" dirty="0">
                <a:solidFill>
                  <a:srgbClr val="1E2023"/>
                </a:solidFill>
                <a:latin typeface="Arial" pitchFamily="34" charset="0"/>
                <a:ea typeface="Arial" pitchFamily="34" charset="-122"/>
                <a:cs typeface="Arial" pitchFamily="34" charset="-120"/>
              </a:rPr>
              <a:t>La passeggiata</a:t>
            </a:r>
            <a:endParaRPr lang="en-US" sz="1400" dirty="0"/>
          </a:p>
        </p:txBody>
      </p:sp>
      <p:sp>
        <p:nvSpPr>
          <p:cNvPr id="31" name="Text 29"/>
          <p:cNvSpPr txBox="1"/>
          <p:nvPr/>
        </p:nvSpPr>
        <p:spPr>
          <a:xfrm>
            <a:off x="6400800" y="5349240"/>
            <a:ext cx="2103120" cy="1005840"/>
          </a:xfrm>
          <a:prstGeom prst="rect">
            <a:avLst/>
          </a:prstGeom>
          <a:noFill/>
          <a:ln/>
        </p:spPr>
        <p:txBody>
          <a:bodyPr wrap="square" lIns="0" tIns="0" rIns="0" bIns="0" rtlCol="0" anchor="t"/>
          <a:lstStyle/>
          <a:p>
            <a:pPr indent="0" marL="0">
              <a:lnSpc>
                <a:spcPct val="115000"/>
              </a:lnSpc>
              <a:spcAft>
                <a:spcPts val="600"/>
              </a:spcAft>
              <a:buNone/>
            </a:pPr>
            <a:r>
              <a:rPr lang="en-US" sz="1150" dirty="0">
                <a:solidFill>
                  <a:srgbClr val="5E6266"/>
                </a:solidFill>
                <a:latin typeface="Arial" pitchFamily="34" charset="0"/>
                <a:ea typeface="Arial" pitchFamily="34" charset="-122"/>
                <a:cs typeface="Arial" pitchFamily="34" charset="-120"/>
              </a:rPr>
              <a:t>Nebbia e foglie secche in un giardino. La figura si allontana.</a:t>
            </a:r>
            <a:endParaRPr lang="en-US" sz="1150" dirty="0"/>
          </a:p>
        </p:txBody>
      </p:sp>
      <p:pic>
        <p:nvPicPr>
          <p:cNvPr id="32" name="Image 0" descr="img/cafe.jpg">    </p:cNvPr>
          <p:cNvPicPr>
            <a:picLocks noChangeAspect="1"/>
          </p:cNvPicPr>
          <p:nvPr/>
        </p:nvPicPr>
        <p:blipFill>
          <a:blip r:embed="rId1"/>
          <a:srcRect l="0" r="0" t="17011" b="20791"/>
          <a:stretch/>
        </p:blipFill>
        <p:spPr>
          <a:xfrm>
            <a:off x="8915400" y="4206240"/>
            <a:ext cx="2560320" cy="22402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img/palais.jpg">    </p:cNvPr>
          <p:cNvPicPr>
            <a:picLocks noChangeAspect="1"/>
          </p:cNvPicPr>
          <p:nvPr/>
        </p:nvPicPr>
        <p:blipFill>
          <a:blip r:embed="rId1"/>
          <a:srcRect l="18995" r="18995" t="0" b="0"/>
          <a:stretch/>
        </p:blipFill>
        <p:spPr>
          <a:xfrm>
            <a:off x="8351215" y="0"/>
            <a:ext cx="3840480" cy="6858000"/>
          </a:xfrm>
          <a:prstGeom prst="rect">
            <a:avLst/>
          </a:prstGeom>
        </p:spPr>
      </p:pic>
      <p:sp>
        <p:nvSpPr>
          <p:cNvPr id="3"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08 — LOCATION</a:t>
            </a:r>
            <a:endParaRPr lang="en-US" sz="1000" dirty="0"/>
          </a:p>
        </p:txBody>
      </p:sp>
      <p:sp>
        <p:nvSpPr>
          <p:cNvPr id="4" name="Text 1"/>
          <p:cNvSpPr txBox="1"/>
          <p:nvPr/>
        </p:nvSpPr>
        <p:spPr>
          <a:xfrm>
            <a:off x="685800" y="868680"/>
            <a:ext cx="73152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Dove a Parigi</a:t>
            </a:r>
            <a:endParaRPr lang="en-US" sz="3400" dirty="0"/>
          </a:p>
        </p:txBody>
      </p:sp>
      <p:sp>
        <p:nvSpPr>
          <p:cNvPr id="5" name="Text 2"/>
          <p:cNvSpPr txBox="1"/>
          <p:nvPr/>
        </p:nvSpPr>
        <p:spPr>
          <a:xfrm>
            <a:off x="685800" y="1783080"/>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Uscita e strade</a:t>
            </a:r>
            <a:endParaRPr lang="en-US" sz="1500" dirty="0"/>
          </a:p>
        </p:txBody>
      </p:sp>
      <p:sp>
        <p:nvSpPr>
          <p:cNvPr id="6" name="Text 3"/>
          <p:cNvSpPr txBox="1"/>
          <p:nvPr/>
        </p:nvSpPr>
        <p:spPr>
          <a:xfrm>
            <a:off x="2788920" y="1783080"/>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Saint-Germain, rue du Bac, Marais, 7° arrondissement</a:t>
            </a:r>
            <a:endParaRPr lang="en-US" sz="1250" dirty="0"/>
          </a:p>
        </p:txBody>
      </p:sp>
      <p:sp>
        <p:nvSpPr>
          <p:cNvPr id="7" name="Shape 4"/>
          <p:cNvSpPr/>
          <p:nvPr/>
        </p:nvSpPr>
        <p:spPr>
          <a:xfrm>
            <a:off x="685800" y="2276856"/>
            <a:ext cx="6949440" cy="0"/>
          </a:xfrm>
          <a:prstGeom prst="line">
            <a:avLst/>
          </a:prstGeom>
          <a:noFill/>
          <a:ln w="9525">
            <a:solidFill>
              <a:srgbClr val="DCDDDC"/>
            </a:solidFill>
            <a:prstDash val="solid"/>
          </a:ln>
        </p:spPr>
      </p:sp>
      <p:sp>
        <p:nvSpPr>
          <p:cNvPr id="8" name="Text 5"/>
          <p:cNvSpPr txBox="1"/>
          <p:nvPr/>
        </p:nvSpPr>
        <p:spPr>
          <a:xfrm>
            <a:off x="685800" y="2368296"/>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Attraversamento</a:t>
            </a:r>
            <a:endParaRPr lang="en-US" sz="1500" dirty="0"/>
          </a:p>
        </p:txBody>
      </p:sp>
      <p:sp>
        <p:nvSpPr>
          <p:cNvPr id="9" name="Text 6"/>
          <p:cNvSpPr txBox="1"/>
          <p:nvPr/>
        </p:nvSpPr>
        <p:spPr>
          <a:xfrm>
            <a:off x="2788920" y="2368296"/>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Grandi incroci haussmanniani: Opéra, boulevard Saint-Germain</a:t>
            </a:r>
            <a:endParaRPr lang="en-US" sz="1250" dirty="0"/>
          </a:p>
        </p:txBody>
      </p:sp>
      <p:sp>
        <p:nvSpPr>
          <p:cNvPr id="10" name="Shape 7"/>
          <p:cNvSpPr/>
          <p:nvPr/>
        </p:nvSpPr>
        <p:spPr>
          <a:xfrm>
            <a:off x="685800" y="2862072"/>
            <a:ext cx="6949440" cy="0"/>
          </a:xfrm>
          <a:prstGeom prst="line">
            <a:avLst/>
          </a:prstGeom>
          <a:noFill/>
          <a:ln w="9525">
            <a:solidFill>
              <a:srgbClr val="DCDDDC"/>
            </a:solidFill>
            <a:prstDash val="solid"/>
          </a:ln>
        </p:spPr>
      </p:sp>
      <p:sp>
        <p:nvSpPr>
          <p:cNvPr id="11" name="Text 8"/>
          <p:cNvSpPr txBox="1"/>
          <p:nvPr/>
        </p:nvSpPr>
        <p:spPr>
          <a:xfrm>
            <a:off x="685800" y="2953512"/>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Caffè</a:t>
            </a:r>
            <a:endParaRPr lang="en-US" sz="1500" dirty="0"/>
          </a:p>
        </p:txBody>
      </p:sp>
      <p:sp>
        <p:nvSpPr>
          <p:cNvPr id="12" name="Text 9"/>
          <p:cNvSpPr txBox="1"/>
          <p:nvPr/>
        </p:nvSpPr>
        <p:spPr>
          <a:xfrm>
            <a:off x="2788920" y="2953512"/>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Le Nemours (Place Colette), Café de Flore, bistrot di quartiere</a:t>
            </a:r>
            <a:endParaRPr lang="en-US" sz="1250" dirty="0"/>
          </a:p>
        </p:txBody>
      </p:sp>
      <p:sp>
        <p:nvSpPr>
          <p:cNvPr id="13" name="Shape 10"/>
          <p:cNvSpPr/>
          <p:nvPr/>
        </p:nvSpPr>
        <p:spPr>
          <a:xfrm>
            <a:off x="685800" y="3447288"/>
            <a:ext cx="6949440" cy="0"/>
          </a:xfrm>
          <a:prstGeom prst="line">
            <a:avLst/>
          </a:prstGeom>
          <a:noFill/>
          <a:ln w="9525">
            <a:solidFill>
              <a:srgbClr val="DCDDDC"/>
            </a:solidFill>
            <a:prstDash val="solid"/>
          </a:ln>
        </p:spPr>
      </p:sp>
      <p:sp>
        <p:nvSpPr>
          <p:cNvPr id="14" name="Text 11"/>
          <p:cNvSpPr txBox="1"/>
          <p:nvPr/>
        </p:nvSpPr>
        <p:spPr>
          <a:xfrm>
            <a:off x="685800" y="3538728"/>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Metro</a:t>
            </a:r>
            <a:endParaRPr lang="en-US" sz="1500" dirty="0"/>
          </a:p>
        </p:txBody>
      </p:sp>
      <p:sp>
        <p:nvSpPr>
          <p:cNvPr id="15" name="Text 12"/>
          <p:cNvSpPr txBox="1"/>
          <p:nvPr/>
        </p:nvSpPr>
        <p:spPr>
          <a:xfrm>
            <a:off x="2788920" y="3538728"/>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Ingressi Guimard (Abbesses, Porte Dauphine), stazione Arts et Métiers</a:t>
            </a:r>
            <a:endParaRPr lang="en-US" sz="1250" dirty="0"/>
          </a:p>
        </p:txBody>
      </p:sp>
      <p:sp>
        <p:nvSpPr>
          <p:cNvPr id="16" name="Shape 13"/>
          <p:cNvSpPr/>
          <p:nvPr/>
        </p:nvSpPr>
        <p:spPr>
          <a:xfrm>
            <a:off x="685800" y="4032504"/>
            <a:ext cx="6949440" cy="0"/>
          </a:xfrm>
          <a:prstGeom prst="line">
            <a:avLst/>
          </a:prstGeom>
          <a:noFill/>
          <a:ln w="9525">
            <a:solidFill>
              <a:srgbClr val="DCDDDC"/>
            </a:solidFill>
            <a:prstDash val="solid"/>
          </a:ln>
        </p:spPr>
      </p:sp>
      <p:sp>
        <p:nvSpPr>
          <p:cNvPr id="17" name="Text 14"/>
          <p:cNvSpPr txBox="1"/>
          <p:nvPr/>
        </p:nvSpPr>
        <p:spPr>
          <a:xfrm>
            <a:off x="685800" y="4123944"/>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Ascensore</a:t>
            </a:r>
            <a:endParaRPr lang="en-US" sz="1500" dirty="0"/>
          </a:p>
        </p:txBody>
      </p:sp>
      <p:sp>
        <p:nvSpPr>
          <p:cNvPr id="18" name="Text 15"/>
          <p:cNvSpPr txBox="1"/>
          <p:nvPr/>
        </p:nvSpPr>
        <p:spPr>
          <a:xfrm>
            <a:off x="2788920" y="4123944"/>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Palazzo haussmanniano o hôtel particulier affittato come location</a:t>
            </a:r>
            <a:endParaRPr lang="en-US" sz="1250" dirty="0"/>
          </a:p>
        </p:txBody>
      </p:sp>
      <p:sp>
        <p:nvSpPr>
          <p:cNvPr id="19" name="Shape 16"/>
          <p:cNvSpPr/>
          <p:nvPr/>
        </p:nvSpPr>
        <p:spPr>
          <a:xfrm>
            <a:off x="685800" y="4617720"/>
            <a:ext cx="6949440" cy="0"/>
          </a:xfrm>
          <a:prstGeom prst="line">
            <a:avLst/>
          </a:prstGeom>
          <a:noFill/>
          <a:ln w="9525">
            <a:solidFill>
              <a:srgbClr val="DCDDDC"/>
            </a:solidFill>
            <a:prstDash val="solid"/>
          </a:ln>
        </p:spPr>
      </p:sp>
      <p:sp>
        <p:nvSpPr>
          <p:cNvPr id="20" name="Text 17"/>
          <p:cNvSpPr txBox="1"/>
          <p:nvPr/>
        </p:nvSpPr>
        <p:spPr>
          <a:xfrm>
            <a:off x="685800" y="4709160"/>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Riparo</a:t>
            </a:r>
            <a:endParaRPr lang="en-US" sz="1500" dirty="0"/>
          </a:p>
        </p:txBody>
      </p:sp>
      <p:sp>
        <p:nvSpPr>
          <p:cNvPr id="21" name="Text 18"/>
          <p:cNvSpPr txBox="1"/>
          <p:nvPr/>
        </p:nvSpPr>
        <p:spPr>
          <a:xfrm>
            <a:off x="2788920" y="4709160"/>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Portici del Palais-Royal, Rue de Rivoli, Place des Vosges</a:t>
            </a:r>
            <a:endParaRPr lang="en-US" sz="1250" dirty="0"/>
          </a:p>
        </p:txBody>
      </p:sp>
      <p:sp>
        <p:nvSpPr>
          <p:cNvPr id="22" name="Shape 19"/>
          <p:cNvSpPr/>
          <p:nvPr/>
        </p:nvSpPr>
        <p:spPr>
          <a:xfrm>
            <a:off x="685800" y="5202936"/>
            <a:ext cx="6949440" cy="0"/>
          </a:xfrm>
          <a:prstGeom prst="line">
            <a:avLst/>
          </a:prstGeom>
          <a:noFill/>
          <a:ln w="9525">
            <a:solidFill>
              <a:srgbClr val="DCDDDC"/>
            </a:solidFill>
            <a:prstDash val="solid"/>
          </a:ln>
        </p:spPr>
      </p:sp>
      <p:sp>
        <p:nvSpPr>
          <p:cNvPr id="23" name="Text 20"/>
          <p:cNvSpPr txBox="1"/>
          <p:nvPr/>
        </p:nvSpPr>
        <p:spPr>
          <a:xfrm>
            <a:off x="685800" y="5294376"/>
            <a:ext cx="2011680" cy="411480"/>
          </a:xfrm>
          <a:prstGeom prst="rect">
            <a:avLst/>
          </a:prstGeom>
          <a:noFill/>
          <a:ln/>
        </p:spPr>
        <p:txBody>
          <a:bodyPr wrap="square" lIns="0" tIns="0" rIns="0" bIns="0" rtlCol="0" anchor="ctr"/>
          <a:lstStyle/>
          <a:p>
            <a:pPr indent="0" marL="0">
              <a:buNone/>
            </a:pPr>
            <a:r>
              <a:rPr lang="en-US" sz="1500" i="1" dirty="0">
                <a:solidFill>
                  <a:srgbClr val="1E2023"/>
                </a:solidFill>
                <a:latin typeface="Cambria" pitchFamily="34" charset="0"/>
                <a:ea typeface="Cambria" pitchFamily="34" charset="-122"/>
                <a:cs typeface="Cambria" pitchFamily="34" charset="-120"/>
              </a:rPr>
              <a:t>Passeggiata</a:t>
            </a:r>
            <a:endParaRPr lang="en-US" sz="1500" dirty="0"/>
          </a:p>
        </p:txBody>
      </p:sp>
      <p:sp>
        <p:nvSpPr>
          <p:cNvPr id="24" name="Text 21"/>
          <p:cNvSpPr txBox="1"/>
          <p:nvPr/>
        </p:nvSpPr>
        <p:spPr>
          <a:xfrm>
            <a:off x="2788920" y="5294376"/>
            <a:ext cx="4846320" cy="411480"/>
          </a:xfrm>
          <a:prstGeom prst="rect">
            <a:avLst/>
          </a:prstGeom>
          <a:noFill/>
          <a:ln/>
        </p:spPr>
        <p:txBody>
          <a:bodyPr wrap="square" lIns="0" tIns="0" rIns="0" bIns="0" rtlCol="0" anchor="ctr"/>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Jardin du Palais-Royal, Tuileries, Luxembourg, lungosenna</a:t>
            </a:r>
            <a:endParaRPr lang="en-US" sz="1250" dirty="0"/>
          </a:p>
        </p:txBody>
      </p:sp>
      <p:sp>
        <p:nvSpPr>
          <p:cNvPr id="25" name="Text 22"/>
          <p:cNvSpPr txBox="1"/>
          <p:nvPr/>
        </p:nvSpPr>
        <p:spPr>
          <a:xfrm>
            <a:off x="685800" y="6080760"/>
            <a:ext cx="6949440" cy="274320"/>
          </a:xfrm>
          <a:prstGeom prst="rect">
            <a:avLst/>
          </a:prstGeom>
          <a:noFill/>
          <a:ln/>
        </p:spPr>
        <p:txBody>
          <a:bodyPr wrap="square" lIns="0" tIns="0" rIns="0" bIns="0" rtlCol="0" anchor="t"/>
          <a:lstStyle/>
          <a:p>
            <a:pPr indent="0" marL="0">
              <a:lnSpc>
                <a:spcPct val="115000"/>
              </a:lnSpc>
              <a:spcAft>
                <a:spcPts val="600"/>
              </a:spcAft>
              <a:buNone/>
            </a:pPr>
            <a:r>
              <a:rPr lang="en-US" sz="1000" dirty="0">
                <a:solidFill>
                  <a:srgbClr val="8A8D90"/>
                </a:solidFill>
                <a:latin typeface="Arial" pitchFamily="34" charset="0"/>
                <a:ea typeface="Arial" pitchFamily="34" charset="-122"/>
                <a:cs typeface="Arial" pitchFamily="34" charset="-120"/>
              </a:rPr>
              <a:t>Proposte da verificare in sopralluogo. Metro, giardini e interni richiedono autorizzazioni.</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2F0"/>
        </a:solidFill>
      </p:bgPr>
    </p:bg>
    <p:spTree>
      <p:nvGrpSpPr>
        <p:cNvPr id="1" name=""/>
        <p:cNvGrpSpPr/>
        <p:nvPr/>
      </p:nvGrpSpPr>
      <p:grpSpPr>
        <a:xfrm>
          <a:off x="0" y="0"/>
          <a:ext cx="0" cy="0"/>
          <a:chOff x="0" y="0"/>
          <a:chExt cx="0" cy="0"/>
        </a:xfrm>
      </p:grpSpPr>
      <p:sp>
        <p:nvSpPr>
          <p:cNvPr id="2" name="Text 0"/>
          <p:cNvSpPr txBox="1"/>
          <p:nvPr/>
        </p:nvSpPr>
        <p:spPr>
          <a:xfrm>
            <a:off x="685800" y="548640"/>
            <a:ext cx="5486400" cy="274320"/>
          </a:xfrm>
          <a:prstGeom prst="rect">
            <a:avLst/>
          </a:prstGeom>
          <a:noFill/>
          <a:ln/>
        </p:spPr>
        <p:txBody>
          <a:bodyPr wrap="square" lIns="0" tIns="0" rIns="0" bIns="0" rtlCol="0" anchor="ctr"/>
          <a:lstStyle/>
          <a:p>
            <a:pPr indent="0" marL="0">
              <a:buNone/>
            </a:pPr>
            <a:r>
              <a:rPr lang="en-US" sz="1000" spc="400" kern="0" dirty="0">
                <a:solidFill>
                  <a:srgbClr val="5E6266"/>
                </a:solidFill>
                <a:latin typeface="Arial" pitchFamily="34" charset="0"/>
                <a:ea typeface="Arial" pitchFamily="34" charset="-122"/>
                <a:cs typeface="Arial" pitchFamily="34" charset="-120"/>
              </a:rPr>
              <a:t>09 — PRODUZIONE</a:t>
            </a:r>
            <a:endParaRPr lang="en-US" sz="1000" dirty="0"/>
          </a:p>
        </p:txBody>
      </p:sp>
      <p:sp>
        <p:nvSpPr>
          <p:cNvPr id="3" name="Text 1"/>
          <p:cNvSpPr txBox="1"/>
          <p:nvPr/>
        </p:nvSpPr>
        <p:spPr>
          <a:xfrm>
            <a:off x="685800" y="868680"/>
            <a:ext cx="7315200" cy="731520"/>
          </a:xfrm>
          <a:prstGeom prst="rect">
            <a:avLst/>
          </a:prstGeom>
          <a:noFill/>
          <a:ln/>
        </p:spPr>
        <p:txBody>
          <a:bodyPr wrap="square" lIns="0" tIns="0" rIns="0" bIns="0" rtlCol="0" anchor="t"/>
          <a:lstStyle/>
          <a:p>
            <a:pPr indent="0" marL="0">
              <a:buNone/>
            </a:pPr>
            <a:r>
              <a:rPr lang="en-US" sz="3400" dirty="0">
                <a:solidFill>
                  <a:srgbClr val="1E2023"/>
                </a:solidFill>
                <a:latin typeface="Cambria" pitchFamily="34" charset="0"/>
                <a:ea typeface="Cambria" pitchFamily="34" charset="-122"/>
                <a:cs typeface="Cambria" pitchFamily="34" charset="-120"/>
              </a:rPr>
              <a:t>Come la realizziamo</a:t>
            </a:r>
            <a:endParaRPr lang="en-US" sz="3400" dirty="0"/>
          </a:p>
        </p:txBody>
      </p:sp>
      <p:sp>
        <p:nvSpPr>
          <p:cNvPr id="4" name="Shape 2"/>
          <p:cNvSpPr/>
          <p:nvPr/>
        </p:nvSpPr>
        <p:spPr>
          <a:xfrm>
            <a:off x="685800" y="1783080"/>
            <a:ext cx="5257800" cy="1783080"/>
          </a:xfrm>
          <a:prstGeom prst="rect">
            <a:avLst/>
          </a:prstGeom>
          <a:solidFill>
            <a:srgbClr val="FFFFFF"/>
          </a:solidFill>
          <a:ln w="9525">
            <a:solidFill>
              <a:srgbClr val="DCDDDC"/>
            </a:solidFill>
            <a:prstDash val="solid"/>
          </a:ln>
        </p:spPr>
      </p:sp>
      <p:sp>
        <p:nvSpPr>
          <p:cNvPr id="5" name="Text 3"/>
          <p:cNvSpPr txBox="1"/>
          <p:nvPr/>
        </p:nvSpPr>
        <p:spPr>
          <a:xfrm>
            <a:off x="960120" y="201168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Quando</a:t>
            </a:r>
            <a:endParaRPr lang="en-US" sz="1800" dirty="0"/>
          </a:p>
        </p:txBody>
      </p:sp>
      <p:sp>
        <p:nvSpPr>
          <p:cNvPr id="6" name="Text 4"/>
          <p:cNvSpPr txBox="1"/>
          <p:nvPr/>
        </p:nvSpPr>
        <p:spPr>
          <a:xfrm>
            <a:off x="960120" y="246888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Da metà novembre a inizio dicembre: foglie ancora a terra, luce bassa, pioggia e nebbia al mattino. 2 giorni di scatto più 1 di riserva meteo.</a:t>
            </a:r>
            <a:endParaRPr lang="en-US" sz="1250" dirty="0"/>
          </a:p>
        </p:txBody>
      </p:sp>
      <p:sp>
        <p:nvSpPr>
          <p:cNvPr id="7" name="Shape 5"/>
          <p:cNvSpPr/>
          <p:nvPr/>
        </p:nvSpPr>
        <p:spPr>
          <a:xfrm>
            <a:off x="6217920" y="1783080"/>
            <a:ext cx="5257800" cy="1783080"/>
          </a:xfrm>
          <a:prstGeom prst="rect">
            <a:avLst/>
          </a:prstGeom>
          <a:solidFill>
            <a:srgbClr val="FFFFFF"/>
          </a:solidFill>
          <a:ln w="9525">
            <a:solidFill>
              <a:srgbClr val="DCDDDC"/>
            </a:solidFill>
            <a:prstDash val="solid"/>
          </a:ln>
        </p:spPr>
      </p:sp>
      <p:sp>
        <p:nvSpPr>
          <p:cNvPr id="8" name="Text 6"/>
          <p:cNvSpPr txBox="1"/>
          <p:nvPr/>
        </p:nvSpPr>
        <p:spPr>
          <a:xfrm>
            <a:off x="6492240" y="201168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Troupe leggera</a:t>
            </a:r>
            <a:endParaRPr lang="en-US" sz="1800" dirty="0"/>
          </a:p>
        </p:txBody>
      </p:sp>
      <p:sp>
        <p:nvSpPr>
          <p:cNvPr id="9" name="Text 7"/>
          <p:cNvSpPr txBox="1"/>
          <p:nvPr/>
        </p:nvSpPr>
        <p:spPr>
          <a:xfrm>
            <a:off x="6492240" y="246888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Fotografo con teleobiettivo, videomaker, stylist, hair &amp; make-up, producer locale. Una modella, qualche comparsa per strada e in metro.</a:t>
            </a:r>
            <a:endParaRPr lang="en-US" sz="1250" dirty="0"/>
          </a:p>
        </p:txBody>
      </p:sp>
      <p:sp>
        <p:nvSpPr>
          <p:cNvPr id="10" name="Shape 8"/>
          <p:cNvSpPr/>
          <p:nvPr/>
        </p:nvSpPr>
        <p:spPr>
          <a:xfrm>
            <a:off x="685800" y="3794760"/>
            <a:ext cx="5257800" cy="1783080"/>
          </a:xfrm>
          <a:prstGeom prst="rect">
            <a:avLst/>
          </a:prstGeom>
          <a:solidFill>
            <a:srgbClr val="FFFFFF"/>
          </a:solidFill>
          <a:ln w="9525">
            <a:solidFill>
              <a:srgbClr val="DCDDDC"/>
            </a:solidFill>
            <a:prstDash val="solid"/>
          </a:ln>
        </p:spPr>
      </p:sp>
      <p:sp>
        <p:nvSpPr>
          <p:cNvPr id="11" name="Text 9"/>
          <p:cNvSpPr txBox="1"/>
          <p:nvPr/>
        </p:nvSpPr>
        <p:spPr>
          <a:xfrm>
            <a:off x="960120" y="402336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Permessi</a:t>
            </a:r>
            <a:endParaRPr lang="en-US" sz="1800" dirty="0"/>
          </a:p>
        </p:txBody>
      </p:sp>
      <p:sp>
        <p:nvSpPr>
          <p:cNvPr id="12" name="Text 10"/>
          <p:cNvSpPr txBox="1"/>
          <p:nvPr/>
        </p:nvSpPr>
        <p:spPr>
          <a:xfrm>
            <a:off x="960120" y="448056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Riprese in strada da verificare con la Mission Cinéma della Ville de Paris. Metro con autorizzazione RATP. Giardini e interni con i gestori.</a:t>
            </a:r>
            <a:endParaRPr lang="en-US" sz="1250" dirty="0"/>
          </a:p>
        </p:txBody>
      </p:sp>
      <p:sp>
        <p:nvSpPr>
          <p:cNvPr id="13" name="Shape 11"/>
          <p:cNvSpPr/>
          <p:nvPr/>
        </p:nvSpPr>
        <p:spPr>
          <a:xfrm>
            <a:off x="6217920" y="3794760"/>
            <a:ext cx="5257800" cy="1783080"/>
          </a:xfrm>
          <a:prstGeom prst="rect">
            <a:avLst/>
          </a:prstGeom>
          <a:solidFill>
            <a:srgbClr val="FFFFFF"/>
          </a:solidFill>
          <a:ln w="9525">
            <a:solidFill>
              <a:srgbClr val="DCDDDC"/>
            </a:solidFill>
            <a:prstDash val="solid"/>
          </a:ln>
        </p:spPr>
      </p:sp>
      <p:sp>
        <p:nvSpPr>
          <p:cNvPr id="14" name="Text 12"/>
          <p:cNvSpPr txBox="1"/>
          <p:nvPr/>
        </p:nvSpPr>
        <p:spPr>
          <a:xfrm>
            <a:off x="6492240" y="4023360"/>
            <a:ext cx="4709160" cy="365760"/>
          </a:xfrm>
          <a:prstGeom prst="rect">
            <a:avLst/>
          </a:prstGeom>
          <a:noFill/>
          <a:ln/>
        </p:spPr>
        <p:txBody>
          <a:bodyPr wrap="square" lIns="0" tIns="0" rIns="0" bIns="0" rtlCol="0" anchor="ctr"/>
          <a:lstStyle/>
          <a:p>
            <a:pPr indent="0" marL="0">
              <a:buNone/>
            </a:pPr>
            <a:r>
              <a:rPr lang="en-US" sz="1800" i="1" dirty="0">
                <a:solidFill>
                  <a:srgbClr val="1E2023"/>
                </a:solidFill>
                <a:latin typeface="Cambria" pitchFamily="34" charset="0"/>
                <a:ea typeface="Cambria" pitchFamily="34" charset="-122"/>
                <a:cs typeface="Cambria" pitchFamily="34" charset="-120"/>
              </a:rPr>
              <a:t>Meteo e cappelli</a:t>
            </a:r>
            <a:endParaRPr lang="en-US" sz="1800" dirty="0"/>
          </a:p>
        </p:txBody>
      </p:sp>
      <p:sp>
        <p:nvSpPr>
          <p:cNvPr id="15" name="Text 13"/>
          <p:cNvSpPr txBox="1"/>
          <p:nvPr/>
        </p:nvSpPr>
        <p:spPr>
          <a:xfrm>
            <a:off x="6492240" y="4480560"/>
            <a:ext cx="4709160" cy="1005840"/>
          </a:xfrm>
          <a:prstGeom prst="rect">
            <a:avLst/>
          </a:prstGeom>
          <a:noFill/>
          <a:ln/>
        </p:spPr>
        <p:txBody>
          <a:bodyPr wrap="square" lIns="0" tIns="0" rIns="0" bIns="0" rtlCol="0" anchor="t"/>
          <a:lstStyle/>
          <a:p>
            <a:pPr indent="0" marL="0">
              <a:lnSpc>
                <a:spcPct val="115000"/>
              </a:lnSpc>
              <a:spcAft>
                <a:spcPts val="600"/>
              </a:spcAft>
              <a:buNone/>
            </a:pPr>
            <a:r>
              <a:rPr lang="en-US" sz="1250" dirty="0">
                <a:solidFill>
                  <a:srgbClr val="5E6266"/>
                </a:solidFill>
                <a:latin typeface="Arial" pitchFamily="34" charset="0"/>
                <a:ea typeface="Arial" pitchFamily="34" charset="-122"/>
                <a:cs typeface="Arial" pitchFamily="34" charset="-120"/>
              </a:rPr>
              <a:t>Pioggia vera quando c’è, artificiale se serve. Piano B al coperto (caffè, ascensore, portici). Trattamento idrorepellente e doppioni dei cappelli in feltro.</a:t>
            </a:r>
            <a:endParaRPr lang="en-US" sz="1250" dirty="0"/>
          </a:p>
        </p:txBody>
      </p:sp>
      <p:sp>
        <p:nvSpPr>
          <p:cNvPr id="16" name="Text 14"/>
          <p:cNvSpPr txBox="1"/>
          <p:nvPr/>
        </p:nvSpPr>
        <p:spPr>
          <a:xfrm>
            <a:off x="685800" y="5852160"/>
            <a:ext cx="1828800" cy="274320"/>
          </a:xfrm>
          <a:prstGeom prst="rect">
            <a:avLst/>
          </a:prstGeom>
          <a:noFill/>
          <a:ln/>
        </p:spPr>
        <p:txBody>
          <a:bodyPr wrap="square" lIns="0" tIns="0" rIns="0" bIns="0" rtlCol="0" anchor="ctr"/>
          <a:lstStyle/>
          <a:p>
            <a:pPr indent="0" marL="0">
              <a:buNone/>
            </a:pPr>
            <a:r>
              <a:rPr lang="en-US" sz="1000" spc="400" kern="0" dirty="0">
                <a:solidFill>
                  <a:srgbClr val="A8875A"/>
                </a:solidFill>
                <a:latin typeface="Arial" pitchFamily="34" charset="0"/>
                <a:ea typeface="Arial" pitchFamily="34" charset="-122"/>
                <a:cs typeface="Arial" pitchFamily="34" charset="-120"/>
              </a:rPr>
              <a:t>CONSEGNE</a:t>
            </a:r>
            <a:endParaRPr lang="en-US" sz="1000" dirty="0"/>
          </a:p>
        </p:txBody>
      </p:sp>
      <p:sp>
        <p:nvSpPr>
          <p:cNvPr id="17" name="Text 15"/>
          <p:cNvSpPr txBox="1"/>
          <p:nvPr/>
        </p:nvSpPr>
        <p:spPr>
          <a:xfrm>
            <a:off x="1920240" y="5788152"/>
            <a:ext cx="9601200" cy="365760"/>
          </a:xfrm>
          <a:prstGeom prst="rect">
            <a:avLst/>
          </a:prstGeom>
          <a:noFill/>
          <a:ln/>
        </p:spPr>
        <p:txBody>
          <a:bodyPr wrap="square" lIns="0" tIns="0" rIns="0" bIns="0" rtlCol="0" anchor="t"/>
          <a:lstStyle/>
          <a:p>
            <a:pPr indent="0" marL="0">
              <a:lnSpc>
                <a:spcPct val="115000"/>
              </a:lnSpc>
              <a:spcAft>
                <a:spcPts val="600"/>
              </a:spcAft>
              <a:buNone/>
            </a:pPr>
            <a:r>
              <a:rPr lang="en-US" sz="1300" dirty="0">
                <a:solidFill>
                  <a:srgbClr val="1E2023"/>
                </a:solidFill>
                <a:latin typeface="Arial" pitchFamily="34" charset="0"/>
                <a:ea typeface="Arial" pitchFamily="34" charset="-122"/>
                <a:cs typeface="Arial" pitchFamily="34" charset="-120"/>
              </a:rPr>
              <a:t>12–15 immagini di campagna · 1 film da 45–60" · 3–4 reel verticali · dettagli per e-commerce e social</a:t>
            </a:r>
            <a:endParaRPr lang="en-US" sz="1300" dirty="0"/>
          </a:p>
        </p:txBody>
      </p:sp>
      <p:sp>
        <p:nvSpPr>
          <p:cNvPr id="18" name="Text 16"/>
          <p:cNvSpPr txBox="1"/>
          <p:nvPr/>
        </p:nvSpPr>
        <p:spPr>
          <a:xfrm>
            <a:off x="11185855" y="6355080"/>
            <a:ext cx="548640" cy="274320"/>
          </a:xfrm>
          <a:prstGeom prst="rect">
            <a:avLst/>
          </a:prstGeom>
          <a:noFill/>
          <a:ln/>
        </p:spPr>
        <p:txBody>
          <a:bodyPr wrap="square" lIns="0" tIns="0" rIns="0" bIns="0" rtlCol="0" anchor="ctr"/>
          <a:lstStyle/>
          <a:p>
            <a:pPr algn="r" indent="0" marL="0">
              <a:buNone/>
            </a:pPr>
            <a:r>
              <a:rPr lang="en-US" sz="900" dirty="0">
                <a:solidFill>
                  <a:srgbClr val="5E6266"/>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023"/>
        </a:solidFill>
      </p:bgPr>
    </p:bg>
    <p:spTree>
      <p:nvGrpSpPr>
        <p:cNvPr id="1" name=""/>
        <p:cNvGrpSpPr/>
        <p:nvPr/>
      </p:nvGrpSpPr>
      <p:grpSpPr>
        <a:xfrm>
          <a:off x="0" y="0"/>
          <a:ext cx="0" cy="0"/>
          <a:chOff x="0" y="0"/>
          <a:chExt cx="0" cy="0"/>
        </a:xfrm>
      </p:grpSpPr>
      <p:pic>
        <p:nvPicPr>
          <p:cNvPr id="2" name="Image 0" descr="img/crossing.jpg">    </p:cNvPr>
          <p:cNvPicPr>
            <a:picLocks noChangeAspect="1"/>
          </p:cNvPicPr>
          <p:nvPr/>
        </p:nvPicPr>
        <p:blipFill>
          <a:blip r:embed="rId1"/>
          <a:srcRect l="0" r="0" t="3704" b="3704"/>
          <a:stretch/>
        </p:blipFill>
        <p:spPr>
          <a:xfrm>
            <a:off x="0" y="0"/>
            <a:ext cx="4937760" cy="6858000"/>
          </a:xfrm>
          <a:prstGeom prst="rect">
            <a:avLst/>
          </a:prstGeom>
        </p:spPr>
      </p:pic>
      <p:sp>
        <p:nvSpPr>
          <p:cNvPr id="3" name="Text 0"/>
          <p:cNvSpPr txBox="1"/>
          <p:nvPr/>
        </p:nvSpPr>
        <p:spPr>
          <a:xfrm>
            <a:off x="5669280" y="2011680"/>
            <a:ext cx="6035040" cy="2194560"/>
          </a:xfrm>
          <a:prstGeom prst="rect">
            <a:avLst/>
          </a:prstGeom>
          <a:noFill/>
          <a:ln/>
        </p:spPr>
        <p:txBody>
          <a:bodyPr wrap="square" lIns="0" tIns="0" rIns="0" bIns="0" rtlCol="0" anchor="t"/>
          <a:lstStyle/>
          <a:p>
            <a:pPr indent="0" marL="0">
              <a:buNone/>
            </a:pPr>
            <a:r>
              <a:rPr lang="en-US" sz="2800" i="1" dirty="0">
                <a:solidFill>
                  <a:srgbClr val="FFFFFF"/>
                </a:solidFill>
                <a:latin typeface="Cambria" pitchFamily="34" charset="0"/>
                <a:ea typeface="Cambria" pitchFamily="34" charset="-122"/>
                <a:cs typeface="Cambria" pitchFamily="34" charset="-120"/>
              </a:rPr>
              <a:t>Parigi, l’inverno,</a:t>
            </a:r>
            <a:endParaRPr lang="en-US" sz="2800" dirty="0"/>
          </a:p>
          <a:p>
            <a:pPr indent="0" marL="0">
              <a:buNone/>
            </a:pPr>
            <a:r>
              <a:rPr lang="en-US" sz="2800" i="1" dirty="0">
                <a:solidFill>
                  <a:srgbClr val="FFFFFF"/>
                </a:solidFill>
                <a:latin typeface="Cambria" pitchFamily="34" charset="0"/>
                <a:ea typeface="Cambria" pitchFamily="34" charset="-122"/>
                <a:cs typeface="Cambria" pitchFamily="34" charset="-120"/>
              </a:rPr>
              <a:t>e una donna che li attraversa</a:t>
            </a:r>
            <a:endParaRPr lang="en-US" sz="2800" dirty="0"/>
          </a:p>
          <a:p>
            <a:pPr indent="0" marL="0">
              <a:buNone/>
            </a:pPr>
            <a:r>
              <a:rPr lang="en-US" sz="2800" i="1" dirty="0">
                <a:solidFill>
                  <a:srgbClr val="FFFFFF"/>
                </a:solidFill>
                <a:latin typeface="Cambria" pitchFamily="34" charset="0"/>
                <a:ea typeface="Cambria" pitchFamily="34" charset="-122"/>
                <a:cs typeface="Cambria" pitchFamily="34" charset="-120"/>
              </a:rPr>
              <a:t>con il suo cappello.</a:t>
            </a:r>
            <a:endParaRPr lang="en-US" sz="2800" dirty="0"/>
          </a:p>
        </p:txBody>
      </p:sp>
      <p:pic>
        <p:nvPicPr>
          <p:cNvPr id="4" name="Image 1" descr="img/logo-light.png">    </p:cNvPr>
          <p:cNvPicPr>
            <a:picLocks noChangeAspect="1"/>
          </p:cNvPicPr>
          <p:nvPr/>
        </p:nvPicPr>
        <p:blipFill>
          <a:blip r:embed="rId2"/>
          <a:stretch>
            <a:fillRect/>
          </a:stretch>
        </p:blipFill>
        <p:spPr>
          <a:xfrm>
            <a:off x="5669280" y="4846320"/>
            <a:ext cx="1097280" cy="980333"/>
          </a:xfrm>
          <a:prstGeom prst="rect">
            <a:avLst/>
          </a:prstGeom>
        </p:spPr>
      </p:pic>
      <p:sp>
        <p:nvSpPr>
          <p:cNvPr id="5" name="Text 1"/>
          <p:cNvSpPr txBox="1"/>
          <p:nvPr/>
        </p:nvSpPr>
        <p:spPr>
          <a:xfrm>
            <a:off x="6995160" y="5257800"/>
            <a:ext cx="4572000" cy="320040"/>
          </a:xfrm>
          <a:prstGeom prst="rect">
            <a:avLst/>
          </a:prstGeom>
          <a:noFill/>
          <a:ln/>
        </p:spPr>
        <p:txBody>
          <a:bodyPr wrap="square" lIns="0" tIns="0" rIns="0" bIns="0" rtlCol="0" anchor="t"/>
          <a:lstStyle/>
          <a:p>
            <a:pPr indent="0" marL="0">
              <a:lnSpc>
                <a:spcPct val="115000"/>
              </a:lnSpc>
              <a:spcAft>
                <a:spcPts val="600"/>
              </a:spcAft>
              <a:buNone/>
            </a:pPr>
            <a:r>
              <a:rPr lang="en-US" sz="1200" dirty="0">
                <a:solidFill>
                  <a:srgbClr val="A9ACAE"/>
                </a:solidFill>
                <a:latin typeface="Arial" pitchFamily="34" charset="0"/>
                <a:ea typeface="Arial" pitchFamily="34" charset="-122"/>
                <a:cs typeface="Arial" pitchFamily="34" charset="-120"/>
              </a:rPr>
              <a:t>Tirabasso · Autunno / Inverno 2026–27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Tirabasso — Un hiver à Paris</dc:title>
  <dc:subject>PptxGenJS Presentation</dc:subject>
  <dc:creator>PptxGenJS</dc:creator>
  <cp:lastModifiedBy>PptxGenJS</cp:lastModifiedBy>
  <cp:revision>1</cp:revision>
  <dcterms:created xsi:type="dcterms:W3CDTF">2026-09-29T09:06:06Z</dcterms:created>
  <dcterms:modified xsi:type="dcterms:W3CDTF">2026-09-29T09:06:06Z</dcterms:modified>
</cp:coreProperties>
</file>