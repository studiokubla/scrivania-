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Titolo di lavoro ripreso dalla v1. Foto di copertina: riferimento dalla cartella di ricerca (Palais-Royal), non uno scatto Tirabasso.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Immagine: fotogramma dal film Borsalino Fluid Line (riferimento). Palette indicativa, da accordare ai colori reali della collezione.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dalla cartella di ricerca. Il logo Celine sovrapposto fa parte del post originale.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del post Instagram @brunellocucinelli_brand del 24 agosto.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Fotogrammi dal video @borsalino_world (Fluid Line) scaricato nella cartella. Instagram segnala il post come "Contenuti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Miniatura e fotogrammi dal video @natalibolgar scaricato nella cartella (SaveClip). Il video si apre a parte durante la presentazione.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Sequenza proposta, non ancora un piano di produzione. Nuova rispetto alla v1: la scena dell’ascensore (riferimento Cucinelli).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Immagine: riferimento dalla cartella di ricerca, non uno scatto di Torino.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Tempi, troupe e consegne sono una proposta di partenza, da definire con il cliente e il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023"/>
        </a:solidFill>
      </p:bgPr>
    </p:bg>
    <p:spTree>
      <p:nvGrpSpPr>
        <p:cNvPr id="1" name=""/>
        <p:cNvGrpSpPr/>
        <p:nvPr/>
      </p:nvGrpSpPr>
      <p:grpSpPr>
        <a:xfrm>
          <a:off x="0" y="0"/>
          <a:ext cx="0" cy="0"/>
          <a:chOff x="0" y="0"/>
          <a:chExt cx="0" cy="0"/>
        </a:xfrm>
      </p:grpSpPr>
      <p:pic>
        <p:nvPicPr>
          <p:cNvPr id="2" name="Image 0" descr="img/palais.jpg">    </p:cNvPr>
          <p:cNvPicPr>
            <a:picLocks noChangeAspect="1"/>
          </p:cNvPicPr>
          <p:nvPr/>
        </p:nvPicPr>
        <p:blipFill>
          <a:blip r:embed="rId1"/>
          <a:srcRect l="2510" r="2510" t="0" b="0"/>
          <a:stretch/>
        </p:blipFill>
        <p:spPr>
          <a:xfrm>
            <a:off x="6309360" y="0"/>
            <a:ext cx="5882335" cy="6858000"/>
          </a:xfrm>
          <a:prstGeom prst="rect">
            <a:avLst/>
          </a:prstGeom>
        </p:spPr>
      </p:pic>
      <p:pic>
        <p:nvPicPr>
          <p:cNvPr id="3" name="Image 1" descr="img/logo-light.png">    </p:cNvPr>
          <p:cNvPicPr>
            <a:picLocks noChangeAspect="1"/>
          </p:cNvPicPr>
          <p:nvPr/>
        </p:nvPicPr>
        <p:blipFill>
          <a:blip r:embed="rId2"/>
          <a:stretch>
            <a:fillRect/>
          </a:stretch>
        </p:blipFill>
        <p:spPr>
          <a:xfrm>
            <a:off x="685800" y="548640"/>
            <a:ext cx="1280160" cy="1143722"/>
          </a:xfrm>
          <a:prstGeom prst="rect">
            <a:avLst/>
          </a:prstGeom>
        </p:spPr>
      </p:pic>
      <p:sp>
        <p:nvSpPr>
          <p:cNvPr id="4" name="Text 0"/>
          <p:cNvSpPr txBox="1"/>
          <p:nvPr/>
        </p:nvSpPr>
        <p:spPr>
          <a:xfrm>
            <a:off x="685800" y="2743200"/>
            <a:ext cx="5486400" cy="274320"/>
          </a:xfrm>
          <a:prstGeom prst="rect">
            <a:avLst/>
          </a:prstGeom>
          <a:noFill/>
          <a:ln/>
        </p:spPr>
        <p:txBody>
          <a:bodyPr wrap="square" lIns="0" tIns="0" rIns="0" bIns="0" rtlCol="0" anchor="ctr"/>
          <a:lstStyle/>
          <a:p>
            <a:pPr indent="0" marL="0">
              <a:buNone/>
            </a:pPr>
            <a:r>
              <a:rPr lang="en-US" sz="1000" spc="400" kern="0" dirty="0">
                <a:solidFill>
                  <a:srgbClr val="A9ACAE"/>
                </a:solidFill>
                <a:latin typeface="Arial" pitchFamily="34" charset="0"/>
                <a:ea typeface="Arial" pitchFamily="34" charset="-122"/>
                <a:cs typeface="Arial" pitchFamily="34" charset="-120"/>
              </a:rPr>
              <a:t>CAMPAGNA AUTUNNO / INVERNO 2026–27</a:t>
            </a:r>
            <a:endParaRPr lang="en-US" sz="1000" dirty="0"/>
          </a:p>
        </p:txBody>
      </p:sp>
      <p:sp>
        <p:nvSpPr>
          <p:cNvPr id="5" name="Text 1"/>
          <p:cNvSpPr txBox="1"/>
          <p:nvPr/>
        </p:nvSpPr>
        <p:spPr>
          <a:xfrm>
            <a:off x="685800" y="3108960"/>
            <a:ext cx="5303520" cy="2103120"/>
          </a:xfrm>
          <a:prstGeom prst="rect">
            <a:avLst/>
          </a:prstGeom>
          <a:noFill/>
          <a:ln/>
        </p:spPr>
        <p:txBody>
          <a:bodyPr wrap="square" lIns="0" tIns="0" rIns="0" bIns="0" rtlCol="0" anchor="t"/>
          <a:lstStyle/>
          <a:p>
            <a:pPr indent="0" marL="0">
              <a:buNone/>
            </a:pPr>
            <a:r>
              <a:rPr lang="en-US" sz="6000" i="1" dirty="0">
                <a:solidFill>
                  <a:srgbClr val="FFFFFF"/>
                </a:solidFill>
                <a:latin typeface="Cambria" pitchFamily="34" charset="0"/>
                <a:ea typeface="Cambria" pitchFamily="34" charset="-122"/>
                <a:cs typeface="Cambria" pitchFamily="34" charset="-120"/>
              </a:rPr>
              <a:t>Un hiver</a:t>
            </a:r>
            <a:endParaRPr lang="en-US" sz="6000" dirty="0"/>
          </a:p>
          <a:p>
            <a:pPr indent="0" marL="0">
              <a:buNone/>
            </a:pPr>
            <a:r>
              <a:rPr lang="en-US" sz="6000" i="1" dirty="0">
                <a:solidFill>
                  <a:srgbClr val="FFFFFF"/>
                </a:solidFill>
                <a:latin typeface="Cambria" pitchFamily="34" charset="0"/>
                <a:ea typeface="Cambria" pitchFamily="34" charset="-122"/>
                <a:cs typeface="Cambria" pitchFamily="34" charset="-120"/>
              </a:rPr>
              <a:t>à Paris</a:t>
            </a:r>
            <a:endParaRPr lang="en-US" sz="6000" dirty="0"/>
          </a:p>
        </p:txBody>
      </p:sp>
      <p:sp>
        <p:nvSpPr>
          <p:cNvPr id="6" name="Text 2"/>
          <p:cNvSpPr txBox="1"/>
          <p:nvPr/>
        </p:nvSpPr>
        <p:spPr>
          <a:xfrm>
            <a:off x="685800" y="5257800"/>
            <a:ext cx="5303520" cy="365760"/>
          </a:xfrm>
          <a:prstGeom prst="rect">
            <a:avLst/>
          </a:prstGeom>
          <a:noFill/>
          <a:ln/>
        </p:spPr>
        <p:txBody>
          <a:bodyPr wrap="square" lIns="0" tIns="0" rIns="0" bIns="0" rtlCol="0" anchor="t"/>
          <a:lstStyle/>
          <a:p>
            <a:pPr indent="0" marL="0">
              <a:lnSpc>
                <a:spcPct val="115000"/>
              </a:lnSpc>
              <a:spcAft>
                <a:spcPts val="600"/>
              </a:spcAft>
              <a:buNone/>
            </a:pPr>
            <a:r>
              <a:rPr lang="en-US" sz="1500" dirty="0">
                <a:solidFill>
                  <a:srgbClr val="DCDDDC"/>
                </a:solidFill>
                <a:latin typeface="Arial" pitchFamily="34" charset="0"/>
                <a:ea typeface="Arial" pitchFamily="34" charset="-122"/>
                <a:cs typeface="Arial" pitchFamily="34" charset="-120"/>
              </a:rPr>
              <a:t>Proposta creativa per i cappelli donna Tirabasso</a:t>
            </a:r>
            <a:endParaRPr lang="en-US" sz="1500" dirty="0"/>
          </a:p>
        </p:txBody>
      </p:sp>
      <p:sp>
        <p:nvSpPr>
          <p:cNvPr id="7" name="Text 3"/>
          <p:cNvSpPr txBox="1"/>
          <p:nvPr/>
        </p:nvSpPr>
        <p:spPr>
          <a:xfrm>
            <a:off x="685800" y="6080760"/>
            <a:ext cx="5303520" cy="274320"/>
          </a:xfrm>
          <a:prstGeom prst="rect">
            <a:avLst/>
          </a:prstGeom>
          <a:noFill/>
          <a:ln/>
        </p:spPr>
        <p:txBody>
          <a:bodyPr wrap="square" lIns="0" tIns="0" rIns="0" bIns="0" rtlCol="0" anchor="t"/>
          <a:lstStyle/>
          <a:p>
            <a:pPr indent="0" marL="0">
              <a:lnSpc>
                <a:spcPct val="115000"/>
              </a:lnSpc>
              <a:spcAft>
                <a:spcPts val="600"/>
              </a:spcAft>
              <a:buNone/>
            </a:pPr>
            <a:r>
              <a:rPr lang="en-US" sz="1000" dirty="0">
                <a:solidFill>
                  <a:srgbClr val="8A8D90"/>
                </a:solidFill>
                <a:latin typeface="Arial" pitchFamily="34" charset="0"/>
                <a:ea typeface="Arial" pitchFamily="34" charset="-122"/>
                <a:cs typeface="Arial" pitchFamily="34" charset="-120"/>
              </a:rPr>
              <a:t>Studio Kubla · settembre 2026 · v2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0"/>
        </a:solidFill>
      </p:bgPr>
    </p:bg>
    <p:spTree>
      <p:nvGrpSpPr>
        <p:cNvPr id="1" name=""/>
        <p:cNvGrpSpPr/>
        <p:nvPr/>
      </p:nvGrpSpPr>
      <p:grpSpPr>
        <a:xfrm>
          <a:off x="0" y="0"/>
          <a:ext cx="0" cy="0"/>
          <a:chOff x="0" y="0"/>
          <a:chExt cx="0" cy="0"/>
        </a:xfrm>
      </p:grpSpPr>
      <p:pic>
        <p:nvPicPr>
          <p:cNvPr id="2" name="Image 0" descr="img/crossing.jpg">    </p:cNvPr>
          <p:cNvPicPr>
            <a:picLocks noChangeAspect="1"/>
          </p:cNvPicPr>
          <p:nvPr/>
        </p:nvPicPr>
        <p:blipFill>
          <a:blip r:embed="rId1"/>
          <a:srcRect l="0" r="0" t="0" b="0"/>
          <a:stretch/>
        </p:blipFill>
        <p:spPr>
          <a:xfrm>
            <a:off x="0" y="0"/>
            <a:ext cx="4572000" cy="6858000"/>
          </a:xfrm>
          <a:prstGeom prst="rect">
            <a:avLst/>
          </a:prstGeom>
        </p:spPr>
      </p:pic>
      <p:sp>
        <p:nvSpPr>
          <p:cNvPr id="3" name="Text 0"/>
          <p:cNvSpPr txBox="1"/>
          <p:nvPr/>
        </p:nvSpPr>
        <p:spPr>
          <a:xfrm>
            <a:off x="5257800" y="731520"/>
            <a:ext cx="5486400" cy="274320"/>
          </a:xfrm>
          <a:prstGeom prst="rect">
            <a:avLst/>
          </a:prstGeom>
          <a:noFill/>
          <a:ln/>
        </p:spPr>
        <p:txBody>
          <a:bodyPr wrap="square" lIns="0" tIns="0" rIns="0" bIns="0" rtlCol="0" anchor="ctr"/>
          <a:lstStyle/>
          <a:p>
            <a:pPr indent="0" marL="0">
              <a:buNone/>
            </a:pPr>
            <a:r>
              <a:rPr lang="en-US" sz="1000" spc="400" kern="0" dirty="0">
                <a:solidFill>
                  <a:srgbClr val="5E6266"/>
                </a:solidFill>
                <a:latin typeface="Arial" pitchFamily="34" charset="0"/>
                <a:ea typeface="Arial" pitchFamily="34" charset="-122"/>
                <a:cs typeface="Arial" pitchFamily="34" charset="-120"/>
              </a:rPr>
              <a:t>01 — L’IDEA</a:t>
            </a:r>
            <a:endParaRPr lang="en-US" sz="1000" dirty="0"/>
          </a:p>
        </p:txBody>
      </p:sp>
      <p:sp>
        <p:nvSpPr>
          <p:cNvPr id="4" name="Text 1"/>
          <p:cNvSpPr txBox="1"/>
          <p:nvPr/>
        </p:nvSpPr>
        <p:spPr>
          <a:xfrm>
            <a:off x="5257800" y="1097280"/>
            <a:ext cx="6400800" cy="1371600"/>
          </a:xfrm>
          <a:prstGeom prst="rect">
            <a:avLst/>
          </a:prstGeom>
          <a:noFill/>
          <a:ln/>
        </p:spPr>
        <p:txBody>
          <a:bodyPr wrap="square" lIns="0" tIns="0" rIns="0" bIns="0" rtlCol="0" anchor="t"/>
          <a:lstStyle/>
          <a:p>
            <a:pPr indent="0" marL="0">
              <a:buNone/>
            </a:pPr>
            <a:r>
              <a:rPr lang="en-US" sz="3600" dirty="0">
                <a:solidFill>
                  <a:srgbClr val="1E2023"/>
                </a:solidFill>
                <a:latin typeface="Cambria" pitchFamily="34" charset="0"/>
                <a:ea typeface="Cambria" pitchFamily="34" charset="-122"/>
                <a:cs typeface="Cambria" pitchFamily="34" charset="-120"/>
              </a:rPr>
              <a:t>Una giornata d’inverno,</a:t>
            </a:r>
            <a:endParaRPr lang="en-US" sz="3600" dirty="0"/>
          </a:p>
          <a:p>
            <a:pPr indent="0" marL="0">
              <a:buNone/>
            </a:pPr>
            <a:r>
              <a:rPr lang="en-US" sz="3600" dirty="0">
                <a:solidFill>
                  <a:srgbClr val="1E2023"/>
                </a:solidFill>
                <a:latin typeface="Cambria" pitchFamily="34" charset="0"/>
                <a:ea typeface="Cambria" pitchFamily="34" charset="-122"/>
                <a:cs typeface="Cambria" pitchFamily="34" charset="-120"/>
              </a:rPr>
              <a:t>vista di passaggio</a:t>
            </a:r>
            <a:endParaRPr lang="en-US" sz="3600" dirty="0"/>
          </a:p>
        </p:txBody>
      </p:sp>
      <p:sp>
        <p:nvSpPr>
          <p:cNvPr id="5" name="Text 2"/>
          <p:cNvSpPr txBox="1"/>
          <p:nvPr/>
        </p:nvSpPr>
        <p:spPr>
          <a:xfrm>
            <a:off x="5257800" y="2697480"/>
            <a:ext cx="6217920" cy="2103120"/>
          </a:xfrm>
          <a:prstGeom prst="rect">
            <a:avLst/>
          </a:prstGeom>
          <a:noFill/>
          <a:ln/>
        </p:spPr>
        <p:txBody>
          <a:bodyPr wrap="square" lIns="0" tIns="0" rIns="0" bIns="0" rtlCol="0" anchor="t"/>
          <a:lstStyle/>
          <a:p>
            <a:pPr indent="0" marL="0">
              <a:lnSpc>
                <a:spcPct val="115000"/>
              </a:lnSpc>
              <a:spcAft>
                <a:spcPts val="1200"/>
              </a:spcAft>
              <a:buNone/>
            </a:pPr>
            <a:r>
              <a:rPr lang="en-US" sz="1500" dirty="0">
                <a:solidFill>
                  <a:srgbClr val="1E2023"/>
                </a:solidFill>
                <a:latin typeface="Arial" pitchFamily="34" charset="0"/>
                <a:ea typeface="Arial" pitchFamily="34" charset="-122"/>
                <a:cs typeface="Arial" pitchFamily="34" charset="-120"/>
              </a:rPr>
              <a:t>Una donna attraversa Parigi in una giornata di pioggia e nebbia. Esce di casa, attraversa la strada, prende un caffè, scende nella metro, sale in un ascensore d’epoca. Non si ferma mai per l’obiettivo: la fotografiamo come la vedrebbe un passante.</a:t>
            </a:r>
            <a:endParaRPr lang="en-US" sz="1500" dirty="0"/>
          </a:p>
          <a:p>
            <a:pPr indent="0" marL="0">
              <a:lnSpc>
                <a:spcPct val="115000"/>
              </a:lnSpc>
              <a:spcAft>
                <a:spcPts val="1200"/>
              </a:spcAft>
              <a:buNone/>
            </a:pPr>
            <a:r>
              <a:rPr lang="en-US" sz="1500" dirty="0">
                <a:solidFill>
                  <a:srgbClr val="1E2023"/>
                </a:solidFill>
                <a:latin typeface="Arial" pitchFamily="34" charset="0"/>
                <a:ea typeface="Arial" pitchFamily="34" charset="-122"/>
                <a:cs typeface="Arial" pitchFamily="34" charset="-120"/>
              </a:rPr>
              <a:t>Il cappello Tirabasso è l’unica cosa che non cambia. La accompagna in ogni momento e rende riconoscibile la sua figura tra la gente.</a:t>
            </a:r>
            <a:endParaRPr lang="en-US" sz="1500" dirty="0"/>
          </a:p>
        </p:txBody>
      </p:sp>
      <p:sp>
        <p:nvSpPr>
          <p:cNvPr id="6" name="Text 3"/>
          <p:cNvSpPr txBox="1"/>
          <p:nvPr/>
        </p:nvSpPr>
        <p:spPr>
          <a:xfrm>
            <a:off x="5257800" y="5074920"/>
            <a:ext cx="1920240" cy="320040"/>
          </a:xfrm>
          <a:prstGeom prst="rect">
            <a:avLst/>
          </a:prstGeom>
          <a:noFill/>
          <a:ln/>
        </p:spPr>
        <p:txBody>
          <a:bodyPr wrap="square" lIns="0" tIns="0" rIns="0" bIns="0" rtlCol="0" anchor="ctr"/>
          <a:lstStyle/>
          <a:p>
            <a:pPr indent="0" marL="0">
              <a:buNone/>
            </a:pPr>
            <a:r>
              <a:rPr lang="en-US" sz="1300" i="1" dirty="0">
                <a:solidFill>
                  <a:srgbClr val="1E2023"/>
                </a:solidFill>
                <a:latin typeface="Cambria" pitchFamily="34" charset="0"/>
                <a:ea typeface="Cambria" pitchFamily="34" charset="-122"/>
                <a:cs typeface="Cambria" pitchFamily="34" charset="-120"/>
              </a:rPr>
              <a:t>Sempre in movimento</a:t>
            </a:r>
            <a:endParaRPr lang="en-US" sz="1300" dirty="0"/>
          </a:p>
        </p:txBody>
      </p:sp>
      <p:sp>
        <p:nvSpPr>
          <p:cNvPr id="7" name="Text 4"/>
          <p:cNvSpPr txBox="1"/>
          <p:nvPr/>
        </p:nvSpPr>
        <p:spPr>
          <a:xfrm>
            <a:off x="5257800" y="5440680"/>
            <a:ext cx="1920240" cy="640080"/>
          </a:xfrm>
          <a:prstGeom prst="rect">
            <a:avLst/>
          </a:prstGeom>
          <a:noFill/>
          <a:ln/>
        </p:spPr>
        <p:txBody>
          <a:bodyPr wrap="square" lIns="0" tIns="0" rIns="0" bIns="0" rtlCol="0" anchor="t"/>
          <a:lstStyle/>
          <a:p>
            <a:pPr indent="0" marL="0">
              <a:lnSpc>
                <a:spcPct val="115000"/>
              </a:lnSpc>
              <a:spcAft>
                <a:spcPts val="600"/>
              </a:spcAft>
              <a:buNone/>
            </a:pPr>
            <a:r>
              <a:rPr lang="en-US" sz="1100" dirty="0">
                <a:solidFill>
                  <a:srgbClr val="5E6266"/>
                </a:solidFill>
                <a:latin typeface="Arial" pitchFamily="34" charset="0"/>
                <a:ea typeface="Arial" pitchFamily="34" charset="-122"/>
                <a:cs typeface="Arial" pitchFamily="34" charset="-120"/>
              </a:rPr>
              <a:t>Cammina, attraversa, sale, scende.</a:t>
            </a:r>
            <a:endParaRPr lang="en-US" sz="1100" dirty="0"/>
          </a:p>
        </p:txBody>
      </p:sp>
      <p:sp>
        <p:nvSpPr>
          <p:cNvPr id="8" name="Text 5"/>
          <p:cNvSpPr txBox="1"/>
          <p:nvPr/>
        </p:nvSpPr>
        <p:spPr>
          <a:xfrm>
            <a:off x="7360920" y="5074920"/>
            <a:ext cx="1920240" cy="320040"/>
          </a:xfrm>
          <a:prstGeom prst="rect">
            <a:avLst/>
          </a:prstGeom>
          <a:noFill/>
          <a:ln/>
        </p:spPr>
        <p:txBody>
          <a:bodyPr wrap="square" lIns="0" tIns="0" rIns="0" bIns="0" rtlCol="0" anchor="ctr"/>
          <a:lstStyle/>
          <a:p>
            <a:pPr indent="0" marL="0">
              <a:buNone/>
            </a:pPr>
            <a:r>
              <a:rPr lang="en-US" sz="1300" i="1" dirty="0">
                <a:solidFill>
                  <a:srgbClr val="1E2023"/>
                </a:solidFill>
                <a:latin typeface="Cambria" pitchFamily="34" charset="0"/>
                <a:ea typeface="Cambria" pitchFamily="34" charset="-122"/>
                <a:cs typeface="Cambria" pitchFamily="34" charset="-120"/>
              </a:rPr>
              <a:t>Mai in posa</a:t>
            </a:r>
            <a:endParaRPr lang="en-US" sz="1300" dirty="0"/>
          </a:p>
        </p:txBody>
      </p:sp>
      <p:sp>
        <p:nvSpPr>
          <p:cNvPr id="9" name="Text 6"/>
          <p:cNvSpPr txBox="1"/>
          <p:nvPr/>
        </p:nvSpPr>
        <p:spPr>
          <a:xfrm>
            <a:off x="7360920" y="5440680"/>
            <a:ext cx="1920240" cy="640080"/>
          </a:xfrm>
          <a:prstGeom prst="rect">
            <a:avLst/>
          </a:prstGeom>
          <a:noFill/>
          <a:ln/>
        </p:spPr>
        <p:txBody>
          <a:bodyPr wrap="square" lIns="0" tIns="0" rIns="0" bIns="0" rtlCol="0" anchor="t"/>
          <a:lstStyle/>
          <a:p>
            <a:pPr indent="0" marL="0">
              <a:lnSpc>
                <a:spcPct val="115000"/>
              </a:lnSpc>
              <a:spcAft>
                <a:spcPts val="600"/>
              </a:spcAft>
              <a:buNone/>
            </a:pPr>
            <a:r>
              <a:rPr lang="en-US" sz="1100" dirty="0">
                <a:solidFill>
                  <a:srgbClr val="5E6266"/>
                </a:solidFill>
                <a:latin typeface="Arial" pitchFamily="34" charset="0"/>
                <a:ea typeface="Arial" pitchFamily="34" charset="-122"/>
                <a:cs typeface="Arial" pitchFamily="34" charset="-120"/>
              </a:rPr>
              <a:t>Immagini rubate, mai costruite.</a:t>
            </a:r>
            <a:endParaRPr lang="en-US" sz="1100" dirty="0"/>
          </a:p>
        </p:txBody>
      </p:sp>
      <p:sp>
        <p:nvSpPr>
          <p:cNvPr id="10" name="Text 7"/>
          <p:cNvSpPr txBox="1"/>
          <p:nvPr/>
        </p:nvSpPr>
        <p:spPr>
          <a:xfrm>
            <a:off x="9464040" y="5074920"/>
            <a:ext cx="1920240" cy="320040"/>
          </a:xfrm>
          <a:prstGeom prst="rect">
            <a:avLst/>
          </a:prstGeom>
          <a:noFill/>
          <a:ln/>
        </p:spPr>
        <p:txBody>
          <a:bodyPr wrap="square" lIns="0" tIns="0" rIns="0" bIns="0" rtlCol="0" anchor="ctr"/>
          <a:lstStyle/>
          <a:p>
            <a:pPr indent="0" marL="0">
              <a:buNone/>
            </a:pPr>
            <a:r>
              <a:rPr lang="en-US" sz="1300" i="1" dirty="0">
                <a:solidFill>
                  <a:srgbClr val="1E2023"/>
                </a:solidFill>
                <a:latin typeface="Cambria" pitchFamily="34" charset="0"/>
                <a:ea typeface="Cambria" pitchFamily="34" charset="-122"/>
                <a:cs typeface="Cambria" pitchFamily="34" charset="-120"/>
              </a:rPr>
              <a:t>La città come scena</a:t>
            </a:r>
            <a:endParaRPr lang="en-US" sz="1300" dirty="0"/>
          </a:p>
        </p:txBody>
      </p:sp>
      <p:sp>
        <p:nvSpPr>
          <p:cNvPr id="11" name="Text 8"/>
          <p:cNvSpPr txBox="1"/>
          <p:nvPr/>
        </p:nvSpPr>
        <p:spPr>
          <a:xfrm>
            <a:off x="9464040" y="5440680"/>
            <a:ext cx="1920240" cy="640080"/>
          </a:xfrm>
          <a:prstGeom prst="rect">
            <a:avLst/>
          </a:prstGeom>
          <a:noFill/>
          <a:ln/>
        </p:spPr>
        <p:txBody>
          <a:bodyPr wrap="square" lIns="0" tIns="0" rIns="0" bIns="0" rtlCol="0" anchor="t"/>
          <a:lstStyle/>
          <a:p>
            <a:pPr indent="0" marL="0">
              <a:lnSpc>
                <a:spcPct val="115000"/>
              </a:lnSpc>
              <a:spcAft>
                <a:spcPts val="600"/>
              </a:spcAft>
              <a:buNone/>
            </a:pPr>
            <a:r>
              <a:rPr lang="en-US" sz="1100" dirty="0">
                <a:solidFill>
                  <a:srgbClr val="5E6266"/>
                </a:solidFill>
                <a:latin typeface="Arial" pitchFamily="34" charset="0"/>
                <a:ea typeface="Arial" pitchFamily="34" charset="-122"/>
                <a:cs typeface="Arial" pitchFamily="34" charset="-120"/>
              </a:rPr>
              <a:t>L’architettura racconta il suo mondo.</a:t>
            </a:r>
            <a:endParaRPr lang="en-US" sz="1100" dirty="0"/>
          </a:p>
        </p:txBody>
      </p:sp>
      <p:sp>
        <p:nvSpPr>
          <p:cNvPr id="12" name="Text 9"/>
          <p:cNvSpPr txBox="1"/>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5E6266"/>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023"/>
        </a:solidFill>
      </p:bgPr>
    </p:bg>
    <p:spTree>
      <p:nvGrpSpPr>
        <p:cNvPr id="1" name=""/>
        <p:cNvGrpSpPr/>
        <p:nvPr/>
      </p:nvGrpSpPr>
      <p:grpSpPr>
        <a:xfrm>
          <a:off x="0" y="0"/>
          <a:ext cx="0" cy="0"/>
          <a:chOff x="0" y="0"/>
          <a:chExt cx="0" cy="0"/>
        </a:xfrm>
      </p:grpSpPr>
      <p:pic>
        <p:nvPicPr>
          <p:cNvPr id="2" name="Image 0" descr="img/bors_5.jpg">    </p:cNvPr>
          <p:cNvPicPr>
            <a:picLocks noChangeAspect="1"/>
          </p:cNvPicPr>
          <p:nvPr/>
        </p:nvPicPr>
        <p:blipFill>
          <a:blip r:embed="rId1"/>
          <a:srcRect l="0" r="0" t="4144" b="4144"/>
          <a:stretch/>
        </p:blipFill>
        <p:spPr>
          <a:xfrm>
            <a:off x="0" y="0"/>
            <a:ext cx="4206240" cy="6858000"/>
          </a:xfrm>
          <a:prstGeom prst="rect">
            <a:avLst/>
          </a:prstGeom>
        </p:spPr>
      </p:pic>
      <p:sp>
        <p:nvSpPr>
          <p:cNvPr id="3" name="Text 0"/>
          <p:cNvSpPr txBox="1"/>
          <p:nvPr/>
        </p:nvSpPr>
        <p:spPr>
          <a:xfrm>
            <a:off x="4892040" y="731520"/>
            <a:ext cx="5486400" cy="274320"/>
          </a:xfrm>
          <a:prstGeom prst="rect">
            <a:avLst/>
          </a:prstGeom>
          <a:noFill/>
          <a:ln/>
        </p:spPr>
        <p:txBody>
          <a:bodyPr wrap="square" lIns="0" tIns="0" rIns="0" bIns="0" rtlCol="0" anchor="ctr"/>
          <a:lstStyle/>
          <a:p>
            <a:pPr indent="0" marL="0">
              <a:buNone/>
            </a:pPr>
            <a:r>
              <a:rPr lang="en-US" sz="1000" spc="400" kern="0" dirty="0">
                <a:solidFill>
                  <a:srgbClr val="A9ACAE"/>
                </a:solidFill>
                <a:latin typeface="Arial" pitchFamily="34" charset="0"/>
                <a:ea typeface="Arial" pitchFamily="34" charset="-122"/>
                <a:cs typeface="Arial" pitchFamily="34" charset="-120"/>
              </a:rPr>
              <a:t>02 — ATMOSFERA</a:t>
            </a:r>
            <a:endParaRPr lang="en-US" sz="1000" dirty="0"/>
          </a:p>
        </p:txBody>
      </p:sp>
      <p:sp>
        <p:nvSpPr>
          <p:cNvPr id="4" name="Text 1"/>
          <p:cNvSpPr txBox="1"/>
          <p:nvPr/>
        </p:nvSpPr>
        <p:spPr>
          <a:xfrm>
            <a:off x="4892040" y="1097280"/>
            <a:ext cx="6400800" cy="822960"/>
          </a:xfrm>
          <a:prstGeom prst="rect">
            <a:avLst/>
          </a:prstGeom>
          <a:noFill/>
          <a:ln/>
        </p:spPr>
        <p:txBody>
          <a:bodyPr wrap="square" lIns="0" tIns="0" rIns="0" bIns="0" rtlCol="0" anchor="t"/>
          <a:lstStyle/>
          <a:p>
            <a:pPr indent="0" marL="0">
              <a:buNone/>
            </a:pPr>
            <a:r>
              <a:rPr lang="en-US" sz="3600" dirty="0">
                <a:solidFill>
                  <a:srgbClr val="FFFFFF"/>
                </a:solidFill>
                <a:latin typeface="Cambria" pitchFamily="34" charset="0"/>
                <a:ea typeface="Cambria" pitchFamily="34" charset="-122"/>
                <a:cs typeface="Cambria" pitchFamily="34" charset="-120"/>
              </a:rPr>
              <a:t>Il grigio di Parigi</a:t>
            </a:r>
            <a:endParaRPr lang="en-US" sz="3600" dirty="0"/>
          </a:p>
        </p:txBody>
      </p:sp>
      <p:sp>
        <p:nvSpPr>
          <p:cNvPr id="5" name="Text 2"/>
          <p:cNvSpPr txBox="1"/>
          <p:nvPr/>
        </p:nvSpPr>
        <p:spPr>
          <a:xfrm>
            <a:off x="4892040" y="2103120"/>
            <a:ext cx="3108960" cy="365760"/>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Pioggia</a:t>
            </a:r>
            <a:endParaRPr lang="en-US" sz="2000" dirty="0"/>
          </a:p>
        </p:txBody>
      </p:sp>
      <p:sp>
        <p:nvSpPr>
          <p:cNvPr id="6" name="Text 3"/>
          <p:cNvSpPr txBox="1"/>
          <p:nvPr/>
        </p:nvSpPr>
        <p:spPr>
          <a:xfrm>
            <a:off x="4892040" y="2514600"/>
            <a:ext cx="3017520" cy="64008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A9ACAE"/>
                </a:solidFill>
                <a:latin typeface="Arial" pitchFamily="34" charset="0"/>
                <a:ea typeface="Arial" pitchFamily="34" charset="-122"/>
                <a:cs typeface="Arial" pitchFamily="34" charset="-120"/>
              </a:rPr>
              <a:t>Asfalto bagnato, riflessi, ombrelli, vetri appannati.</a:t>
            </a:r>
            <a:endParaRPr lang="en-US" sz="1200" dirty="0"/>
          </a:p>
        </p:txBody>
      </p:sp>
      <p:sp>
        <p:nvSpPr>
          <p:cNvPr id="7" name="Text 4"/>
          <p:cNvSpPr txBox="1"/>
          <p:nvPr/>
        </p:nvSpPr>
        <p:spPr>
          <a:xfrm>
            <a:off x="8275320" y="2103120"/>
            <a:ext cx="3108960" cy="365760"/>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Nebbia</a:t>
            </a:r>
            <a:endParaRPr lang="en-US" sz="2000" dirty="0"/>
          </a:p>
        </p:txBody>
      </p:sp>
      <p:sp>
        <p:nvSpPr>
          <p:cNvPr id="8" name="Text 5"/>
          <p:cNvSpPr txBox="1"/>
          <p:nvPr/>
        </p:nvSpPr>
        <p:spPr>
          <a:xfrm>
            <a:off x="8275320" y="2514600"/>
            <a:ext cx="3017520" cy="64008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A9ACAE"/>
                </a:solidFill>
                <a:latin typeface="Arial" pitchFamily="34" charset="0"/>
                <a:ea typeface="Arial" pitchFamily="34" charset="-122"/>
                <a:cs typeface="Arial" pitchFamily="34" charset="-120"/>
              </a:rPr>
              <a:t>Mattine velate, profondità che si perde, figure che emergono.</a:t>
            </a:r>
            <a:endParaRPr lang="en-US" sz="1200" dirty="0"/>
          </a:p>
        </p:txBody>
      </p:sp>
      <p:sp>
        <p:nvSpPr>
          <p:cNvPr id="9" name="Text 6"/>
          <p:cNvSpPr txBox="1"/>
          <p:nvPr/>
        </p:nvSpPr>
        <p:spPr>
          <a:xfrm>
            <a:off x="4892040" y="3246120"/>
            <a:ext cx="3108960" cy="365760"/>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Foglie secche</a:t>
            </a:r>
            <a:endParaRPr lang="en-US" sz="2000" dirty="0"/>
          </a:p>
        </p:txBody>
      </p:sp>
      <p:sp>
        <p:nvSpPr>
          <p:cNvPr id="10" name="Text 7"/>
          <p:cNvSpPr txBox="1"/>
          <p:nvPr/>
        </p:nvSpPr>
        <p:spPr>
          <a:xfrm>
            <a:off x="4892040" y="3657600"/>
            <a:ext cx="3017520" cy="64008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A9ACAE"/>
                </a:solidFill>
                <a:latin typeface="Arial" pitchFamily="34" charset="0"/>
                <a:ea typeface="Arial" pitchFamily="34" charset="-122"/>
                <a:cs typeface="Arial" pitchFamily="34" charset="-120"/>
              </a:rPr>
              <a:t>Viali spogli, foglie a terra nei giardini e sui marciapiedi.</a:t>
            </a:r>
            <a:endParaRPr lang="en-US" sz="1200" dirty="0"/>
          </a:p>
        </p:txBody>
      </p:sp>
      <p:sp>
        <p:nvSpPr>
          <p:cNvPr id="11" name="Text 8"/>
          <p:cNvSpPr txBox="1"/>
          <p:nvPr/>
        </p:nvSpPr>
        <p:spPr>
          <a:xfrm>
            <a:off x="8275320" y="3246120"/>
            <a:ext cx="3108960" cy="365760"/>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Pietra</a:t>
            </a:r>
            <a:endParaRPr lang="en-US" sz="2000" dirty="0"/>
          </a:p>
        </p:txBody>
      </p:sp>
      <p:sp>
        <p:nvSpPr>
          <p:cNvPr id="12" name="Text 9"/>
          <p:cNvSpPr txBox="1"/>
          <p:nvPr/>
        </p:nvSpPr>
        <p:spPr>
          <a:xfrm>
            <a:off x="8275320" y="3657600"/>
            <a:ext cx="3017520" cy="64008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A9ACAE"/>
                </a:solidFill>
                <a:latin typeface="Arial" pitchFamily="34" charset="0"/>
                <a:ea typeface="Arial" pitchFamily="34" charset="-122"/>
                <a:cs typeface="Arial" pitchFamily="34" charset="-120"/>
              </a:rPr>
              <a:t>Facciate haussmanniane, portici, pavé, ferro battuto.</a:t>
            </a:r>
            <a:endParaRPr lang="en-US" sz="1200" dirty="0"/>
          </a:p>
        </p:txBody>
      </p:sp>
      <p:sp>
        <p:nvSpPr>
          <p:cNvPr id="13" name="Text 10"/>
          <p:cNvSpPr txBox="1"/>
          <p:nvPr/>
        </p:nvSpPr>
        <p:spPr>
          <a:xfrm>
            <a:off x="4892040" y="4572000"/>
            <a:ext cx="5486400" cy="274320"/>
          </a:xfrm>
          <a:prstGeom prst="rect">
            <a:avLst/>
          </a:prstGeom>
          <a:noFill/>
          <a:ln/>
        </p:spPr>
        <p:txBody>
          <a:bodyPr wrap="square" lIns="0" tIns="0" rIns="0" bIns="0" rtlCol="0" anchor="ctr"/>
          <a:lstStyle/>
          <a:p>
            <a:pPr indent="0" marL="0">
              <a:buNone/>
            </a:pPr>
            <a:r>
              <a:rPr lang="en-US" sz="1000" spc="400" kern="0" dirty="0">
                <a:solidFill>
                  <a:srgbClr val="A9ACAE"/>
                </a:solidFill>
                <a:latin typeface="Arial" pitchFamily="34" charset="0"/>
                <a:ea typeface="Arial" pitchFamily="34" charset="-122"/>
                <a:cs typeface="Arial" pitchFamily="34" charset="-120"/>
              </a:rPr>
              <a:t>PALETTE</a:t>
            </a:r>
            <a:endParaRPr lang="en-US" sz="1000" dirty="0"/>
          </a:p>
        </p:txBody>
      </p:sp>
      <p:sp>
        <p:nvSpPr>
          <p:cNvPr id="14" name="Shape 11"/>
          <p:cNvSpPr/>
          <p:nvPr/>
        </p:nvSpPr>
        <p:spPr>
          <a:xfrm>
            <a:off x="4892040" y="4937760"/>
            <a:ext cx="1188720" cy="822960"/>
          </a:xfrm>
          <a:prstGeom prst="rect">
            <a:avLst/>
          </a:prstGeom>
          <a:solidFill>
            <a:srgbClr val="2B2D30"/>
          </a:solidFill>
          <a:ln w="9525">
            <a:solidFill>
              <a:srgbClr val="3A3D40"/>
            </a:solidFill>
            <a:prstDash val="solid"/>
          </a:ln>
        </p:spPr>
      </p:sp>
      <p:sp>
        <p:nvSpPr>
          <p:cNvPr id="15" name="Text 12"/>
          <p:cNvSpPr txBox="1"/>
          <p:nvPr/>
        </p:nvSpPr>
        <p:spPr>
          <a:xfrm>
            <a:off x="4892040" y="5852160"/>
            <a:ext cx="1234440" cy="365760"/>
          </a:xfrm>
          <a:prstGeom prst="rect">
            <a:avLst/>
          </a:prstGeom>
          <a:noFill/>
          <a:ln/>
        </p:spPr>
        <p:txBody>
          <a:bodyPr wrap="square" lIns="0" tIns="0" rIns="0" bIns="0" rtlCol="0" anchor="t"/>
          <a:lstStyle/>
          <a:p>
            <a:pPr indent="0" marL="0">
              <a:lnSpc>
                <a:spcPct val="115000"/>
              </a:lnSpc>
              <a:spcAft>
                <a:spcPts val="600"/>
              </a:spcAft>
              <a:buNone/>
            </a:pPr>
            <a:r>
              <a:rPr lang="en-US" sz="950" dirty="0">
                <a:solidFill>
                  <a:srgbClr val="A9ACAE"/>
                </a:solidFill>
                <a:latin typeface="Arial" pitchFamily="34" charset="0"/>
                <a:ea typeface="Arial" pitchFamily="34" charset="-122"/>
                <a:cs typeface="Arial" pitchFamily="34" charset="-120"/>
              </a:rPr>
              <a:t>Antracite</a:t>
            </a:r>
            <a:endParaRPr lang="en-US" sz="950" dirty="0"/>
          </a:p>
        </p:txBody>
      </p:sp>
      <p:sp>
        <p:nvSpPr>
          <p:cNvPr id="16" name="Shape 13"/>
          <p:cNvSpPr/>
          <p:nvPr/>
        </p:nvSpPr>
        <p:spPr>
          <a:xfrm>
            <a:off x="6217920" y="4937760"/>
            <a:ext cx="1188720" cy="822960"/>
          </a:xfrm>
          <a:prstGeom prst="rect">
            <a:avLst/>
          </a:prstGeom>
          <a:solidFill>
            <a:srgbClr val="5E6266"/>
          </a:solidFill>
          <a:ln w="9525">
            <a:solidFill>
              <a:srgbClr val="3A3D40"/>
            </a:solidFill>
            <a:prstDash val="solid"/>
          </a:ln>
        </p:spPr>
      </p:sp>
      <p:sp>
        <p:nvSpPr>
          <p:cNvPr id="17" name="Text 14"/>
          <p:cNvSpPr txBox="1"/>
          <p:nvPr/>
        </p:nvSpPr>
        <p:spPr>
          <a:xfrm>
            <a:off x="6217920" y="5852160"/>
            <a:ext cx="1234440" cy="365760"/>
          </a:xfrm>
          <a:prstGeom prst="rect">
            <a:avLst/>
          </a:prstGeom>
          <a:noFill/>
          <a:ln/>
        </p:spPr>
        <p:txBody>
          <a:bodyPr wrap="square" lIns="0" tIns="0" rIns="0" bIns="0" rtlCol="0" anchor="t"/>
          <a:lstStyle/>
          <a:p>
            <a:pPr indent="0" marL="0">
              <a:lnSpc>
                <a:spcPct val="115000"/>
              </a:lnSpc>
              <a:spcAft>
                <a:spcPts val="600"/>
              </a:spcAft>
              <a:buNone/>
            </a:pPr>
            <a:r>
              <a:rPr lang="en-US" sz="950" dirty="0">
                <a:solidFill>
                  <a:srgbClr val="A9ACAE"/>
                </a:solidFill>
                <a:latin typeface="Arial" pitchFamily="34" charset="0"/>
                <a:ea typeface="Arial" pitchFamily="34" charset="-122"/>
                <a:cs typeface="Arial" pitchFamily="34" charset="-120"/>
              </a:rPr>
              <a:t>Ardesia</a:t>
            </a:r>
            <a:endParaRPr lang="en-US" sz="950" dirty="0"/>
          </a:p>
        </p:txBody>
      </p:sp>
      <p:sp>
        <p:nvSpPr>
          <p:cNvPr id="18" name="Shape 15"/>
          <p:cNvSpPr/>
          <p:nvPr/>
        </p:nvSpPr>
        <p:spPr>
          <a:xfrm>
            <a:off x="7543800" y="4937760"/>
            <a:ext cx="1188720" cy="822960"/>
          </a:xfrm>
          <a:prstGeom prst="rect">
            <a:avLst/>
          </a:prstGeom>
          <a:solidFill>
            <a:srgbClr val="8E9092"/>
          </a:solidFill>
          <a:ln w="9525">
            <a:solidFill>
              <a:srgbClr val="3A3D40"/>
            </a:solidFill>
            <a:prstDash val="solid"/>
          </a:ln>
        </p:spPr>
      </p:sp>
      <p:sp>
        <p:nvSpPr>
          <p:cNvPr id="19" name="Text 16"/>
          <p:cNvSpPr txBox="1"/>
          <p:nvPr/>
        </p:nvSpPr>
        <p:spPr>
          <a:xfrm>
            <a:off x="7543800" y="5852160"/>
            <a:ext cx="1234440" cy="365760"/>
          </a:xfrm>
          <a:prstGeom prst="rect">
            <a:avLst/>
          </a:prstGeom>
          <a:noFill/>
          <a:ln/>
        </p:spPr>
        <p:txBody>
          <a:bodyPr wrap="square" lIns="0" tIns="0" rIns="0" bIns="0" rtlCol="0" anchor="t"/>
          <a:lstStyle/>
          <a:p>
            <a:pPr indent="0" marL="0">
              <a:lnSpc>
                <a:spcPct val="115000"/>
              </a:lnSpc>
              <a:spcAft>
                <a:spcPts val="600"/>
              </a:spcAft>
              <a:buNone/>
            </a:pPr>
            <a:r>
              <a:rPr lang="en-US" sz="950" dirty="0">
                <a:solidFill>
                  <a:srgbClr val="A9ACAE"/>
                </a:solidFill>
                <a:latin typeface="Arial" pitchFamily="34" charset="0"/>
                <a:ea typeface="Arial" pitchFamily="34" charset="-122"/>
                <a:cs typeface="Arial" pitchFamily="34" charset="-120"/>
              </a:rPr>
              <a:t>Pietra bagnata</a:t>
            </a:r>
            <a:endParaRPr lang="en-US" sz="950" dirty="0"/>
          </a:p>
        </p:txBody>
      </p:sp>
      <p:sp>
        <p:nvSpPr>
          <p:cNvPr id="20" name="Shape 17"/>
          <p:cNvSpPr/>
          <p:nvPr/>
        </p:nvSpPr>
        <p:spPr>
          <a:xfrm>
            <a:off x="8869680" y="4937760"/>
            <a:ext cx="1188720" cy="822960"/>
          </a:xfrm>
          <a:prstGeom prst="rect">
            <a:avLst/>
          </a:prstGeom>
          <a:solidFill>
            <a:srgbClr val="C9CACB"/>
          </a:solidFill>
          <a:ln w="9525">
            <a:solidFill>
              <a:srgbClr val="3A3D40"/>
            </a:solidFill>
            <a:prstDash val="solid"/>
          </a:ln>
        </p:spPr>
      </p:sp>
      <p:sp>
        <p:nvSpPr>
          <p:cNvPr id="21" name="Text 18"/>
          <p:cNvSpPr txBox="1"/>
          <p:nvPr/>
        </p:nvSpPr>
        <p:spPr>
          <a:xfrm>
            <a:off x="8869680" y="5852160"/>
            <a:ext cx="1234440" cy="365760"/>
          </a:xfrm>
          <a:prstGeom prst="rect">
            <a:avLst/>
          </a:prstGeom>
          <a:noFill/>
          <a:ln/>
        </p:spPr>
        <p:txBody>
          <a:bodyPr wrap="square" lIns="0" tIns="0" rIns="0" bIns="0" rtlCol="0" anchor="t"/>
          <a:lstStyle/>
          <a:p>
            <a:pPr indent="0" marL="0">
              <a:lnSpc>
                <a:spcPct val="115000"/>
              </a:lnSpc>
              <a:spcAft>
                <a:spcPts val="600"/>
              </a:spcAft>
              <a:buNone/>
            </a:pPr>
            <a:r>
              <a:rPr lang="en-US" sz="950" dirty="0">
                <a:solidFill>
                  <a:srgbClr val="A9ACAE"/>
                </a:solidFill>
                <a:latin typeface="Arial" pitchFamily="34" charset="0"/>
                <a:ea typeface="Arial" pitchFamily="34" charset="-122"/>
                <a:cs typeface="Arial" pitchFamily="34" charset="-120"/>
              </a:rPr>
              <a:t>Nebbia</a:t>
            </a:r>
            <a:endParaRPr lang="en-US" sz="950" dirty="0"/>
          </a:p>
        </p:txBody>
      </p:sp>
      <p:sp>
        <p:nvSpPr>
          <p:cNvPr id="22" name="Shape 19"/>
          <p:cNvSpPr/>
          <p:nvPr/>
        </p:nvSpPr>
        <p:spPr>
          <a:xfrm>
            <a:off x="10195560" y="4937760"/>
            <a:ext cx="1188720" cy="822960"/>
          </a:xfrm>
          <a:prstGeom prst="rect">
            <a:avLst/>
          </a:prstGeom>
          <a:solidFill>
            <a:srgbClr val="A8875A"/>
          </a:solidFill>
          <a:ln w="9525">
            <a:solidFill>
              <a:srgbClr val="3A3D40"/>
            </a:solidFill>
            <a:prstDash val="solid"/>
          </a:ln>
        </p:spPr>
      </p:sp>
      <p:sp>
        <p:nvSpPr>
          <p:cNvPr id="23" name="Text 20"/>
          <p:cNvSpPr txBox="1"/>
          <p:nvPr/>
        </p:nvSpPr>
        <p:spPr>
          <a:xfrm>
            <a:off x="10195560" y="5852160"/>
            <a:ext cx="1234440" cy="365760"/>
          </a:xfrm>
          <a:prstGeom prst="rect">
            <a:avLst/>
          </a:prstGeom>
          <a:noFill/>
          <a:ln/>
        </p:spPr>
        <p:txBody>
          <a:bodyPr wrap="square" lIns="0" tIns="0" rIns="0" bIns="0" rtlCol="0" anchor="t"/>
          <a:lstStyle/>
          <a:p>
            <a:pPr indent="0" marL="0">
              <a:lnSpc>
                <a:spcPct val="115000"/>
              </a:lnSpc>
              <a:spcAft>
                <a:spcPts val="600"/>
              </a:spcAft>
              <a:buNone/>
            </a:pPr>
            <a:r>
              <a:rPr lang="en-US" sz="950" dirty="0">
                <a:solidFill>
                  <a:srgbClr val="A9ACAE"/>
                </a:solidFill>
                <a:latin typeface="Arial" pitchFamily="34" charset="0"/>
                <a:ea typeface="Arial" pitchFamily="34" charset="-122"/>
                <a:cs typeface="Arial" pitchFamily="34" charset="-120"/>
              </a:rPr>
              <a:t>Cammello · accento</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0"/>
        </a:solidFill>
      </p:bgPr>
    </p:bg>
    <p:spTree>
      <p:nvGrpSpPr>
        <p:cNvPr id="1" name=""/>
        <p:cNvGrpSpPr/>
        <p:nvPr/>
      </p:nvGrpSpPr>
      <p:grpSpPr>
        <a:xfrm>
          <a:off x="0" y="0"/>
          <a:ext cx="0" cy="0"/>
          <a:chOff x="0" y="0"/>
          <a:chExt cx="0" cy="0"/>
        </a:xfrm>
      </p:grpSpPr>
      <p:pic>
        <p:nvPicPr>
          <p:cNvPr id="2" name="Image 0" descr="img/column.jpg">    </p:cNvPr>
          <p:cNvPicPr>
            <a:picLocks noChangeAspect="1"/>
          </p:cNvPicPr>
          <p:nvPr/>
        </p:nvPicPr>
        <p:blipFill>
          <a:blip r:embed="rId1"/>
          <a:srcRect l="3856" r="7161" t="0" b="0"/>
          <a:stretch/>
        </p:blipFill>
        <p:spPr>
          <a:xfrm>
            <a:off x="7680960" y="0"/>
            <a:ext cx="4510735" cy="6858000"/>
          </a:xfrm>
          <a:prstGeom prst="rect">
            <a:avLst/>
          </a:prstGeom>
        </p:spPr>
      </p:pic>
      <p:sp>
        <p:nvSpPr>
          <p:cNvPr id="3" name="Text 0"/>
          <p:cNvSpPr txBox="1"/>
          <p:nvPr/>
        </p:nvSpPr>
        <p:spPr>
          <a:xfrm>
            <a:off x="685800" y="731520"/>
            <a:ext cx="5486400" cy="274320"/>
          </a:xfrm>
          <a:prstGeom prst="rect">
            <a:avLst/>
          </a:prstGeom>
          <a:noFill/>
          <a:ln/>
        </p:spPr>
        <p:txBody>
          <a:bodyPr wrap="square" lIns="0" tIns="0" rIns="0" bIns="0" rtlCol="0" anchor="ctr"/>
          <a:lstStyle/>
          <a:p>
            <a:pPr indent="0" marL="0">
              <a:buNone/>
            </a:pPr>
            <a:r>
              <a:rPr lang="en-US" sz="1000" spc="400" kern="0" dirty="0">
                <a:solidFill>
                  <a:srgbClr val="5E6266"/>
                </a:solidFill>
                <a:latin typeface="Arial" pitchFamily="34" charset="0"/>
                <a:ea typeface="Arial" pitchFamily="34" charset="-122"/>
                <a:cs typeface="Arial" pitchFamily="34" charset="-120"/>
              </a:rPr>
              <a:t>03 — FOTOGRAFIA</a:t>
            </a:r>
            <a:endParaRPr lang="en-US" sz="1000" dirty="0"/>
          </a:p>
        </p:txBody>
      </p:sp>
      <p:sp>
        <p:nvSpPr>
          <p:cNvPr id="4" name="Text 1"/>
          <p:cNvSpPr txBox="1"/>
          <p:nvPr/>
        </p:nvSpPr>
        <p:spPr>
          <a:xfrm>
            <a:off x="685800" y="1097280"/>
            <a:ext cx="6583680" cy="822960"/>
          </a:xfrm>
          <a:prstGeom prst="rect">
            <a:avLst/>
          </a:prstGeom>
          <a:noFill/>
          <a:ln/>
        </p:spPr>
        <p:txBody>
          <a:bodyPr wrap="square" lIns="0" tIns="0" rIns="0" bIns="0" rtlCol="0" anchor="t"/>
          <a:lstStyle/>
          <a:p>
            <a:pPr indent="0" marL="0">
              <a:buNone/>
            </a:pPr>
            <a:r>
              <a:rPr lang="en-US" sz="3600" dirty="0">
                <a:solidFill>
                  <a:srgbClr val="1E2023"/>
                </a:solidFill>
                <a:latin typeface="Cambria" pitchFamily="34" charset="0"/>
                <a:ea typeface="Cambria" pitchFamily="34" charset="-122"/>
                <a:cs typeface="Cambria" pitchFamily="34" charset="-120"/>
              </a:rPr>
              <a:t>Mai in posa</a:t>
            </a:r>
            <a:endParaRPr lang="en-US" sz="3600" dirty="0"/>
          </a:p>
        </p:txBody>
      </p:sp>
      <p:sp>
        <p:nvSpPr>
          <p:cNvPr id="5" name="Text 2"/>
          <p:cNvSpPr txBox="1"/>
          <p:nvPr/>
        </p:nvSpPr>
        <p:spPr>
          <a:xfrm>
            <a:off x="685800" y="2011680"/>
            <a:ext cx="548640" cy="365760"/>
          </a:xfrm>
          <a:prstGeom prst="rect">
            <a:avLst/>
          </a:prstGeom>
          <a:noFill/>
          <a:ln/>
        </p:spPr>
        <p:txBody>
          <a:bodyPr wrap="square" lIns="0" tIns="0" rIns="0" bIns="0" rtlCol="0" anchor="ctr"/>
          <a:lstStyle/>
          <a:p>
            <a:pPr indent="0" marL="0">
              <a:buNone/>
            </a:pPr>
            <a:r>
              <a:rPr lang="en-US" sz="1800" i="1" dirty="0">
                <a:solidFill>
                  <a:srgbClr val="A8875A"/>
                </a:solidFill>
                <a:latin typeface="Cambria" pitchFamily="34" charset="0"/>
                <a:ea typeface="Cambria" pitchFamily="34" charset="-122"/>
                <a:cs typeface="Cambria" pitchFamily="34" charset="-120"/>
              </a:rPr>
              <a:t>01</a:t>
            </a:r>
            <a:endParaRPr lang="en-US" sz="1800" dirty="0"/>
          </a:p>
        </p:txBody>
      </p:sp>
      <p:sp>
        <p:nvSpPr>
          <p:cNvPr id="6" name="Text 3"/>
          <p:cNvSpPr txBox="1"/>
          <p:nvPr/>
        </p:nvSpPr>
        <p:spPr>
          <a:xfrm>
            <a:off x="1325880" y="2011680"/>
            <a:ext cx="585216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Il gesto prima della posa</a:t>
            </a:r>
            <a:endParaRPr lang="en-US" sz="1400" dirty="0"/>
          </a:p>
        </p:txBody>
      </p:sp>
      <p:sp>
        <p:nvSpPr>
          <p:cNvPr id="7" name="Text 4"/>
          <p:cNvSpPr txBox="1"/>
          <p:nvPr/>
        </p:nvSpPr>
        <p:spPr>
          <a:xfrm>
            <a:off x="1325880" y="2340864"/>
            <a:ext cx="5852160" cy="45720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Diamo alla modella una destinazione e un’azione. Lo scatto arriva a metà del gesto.</a:t>
            </a:r>
            <a:endParaRPr lang="en-US" sz="1200" dirty="0"/>
          </a:p>
        </p:txBody>
      </p:sp>
      <p:sp>
        <p:nvSpPr>
          <p:cNvPr id="8" name="Text 5"/>
          <p:cNvSpPr txBox="1"/>
          <p:nvPr/>
        </p:nvSpPr>
        <p:spPr>
          <a:xfrm>
            <a:off x="685800" y="2743200"/>
            <a:ext cx="548640" cy="365760"/>
          </a:xfrm>
          <a:prstGeom prst="rect">
            <a:avLst/>
          </a:prstGeom>
          <a:noFill/>
          <a:ln/>
        </p:spPr>
        <p:txBody>
          <a:bodyPr wrap="square" lIns="0" tIns="0" rIns="0" bIns="0" rtlCol="0" anchor="ctr"/>
          <a:lstStyle/>
          <a:p>
            <a:pPr indent="0" marL="0">
              <a:buNone/>
            </a:pPr>
            <a:r>
              <a:rPr lang="en-US" sz="1800" i="1" dirty="0">
                <a:solidFill>
                  <a:srgbClr val="A8875A"/>
                </a:solidFill>
                <a:latin typeface="Cambria" pitchFamily="34" charset="0"/>
                <a:ea typeface="Cambria" pitchFamily="34" charset="-122"/>
                <a:cs typeface="Cambria" pitchFamily="34" charset="-120"/>
              </a:rPr>
              <a:t>02</a:t>
            </a:r>
            <a:endParaRPr lang="en-US" sz="1800" dirty="0"/>
          </a:p>
        </p:txBody>
      </p:sp>
      <p:sp>
        <p:nvSpPr>
          <p:cNvPr id="9" name="Text 6"/>
          <p:cNvSpPr txBox="1"/>
          <p:nvPr/>
        </p:nvSpPr>
        <p:spPr>
          <a:xfrm>
            <a:off x="1325880" y="2743200"/>
            <a:ext cx="585216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Lo sguardo di un passante</a:t>
            </a:r>
            <a:endParaRPr lang="en-US" sz="1400" dirty="0"/>
          </a:p>
        </p:txBody>
      </p:sp>
      <p:sp>
        <p:nvSpPr>
          <p:cNvPr id="10" name="Text 7"/>
          <p:cNvSpPr txBox="1"/>
          <p:nvPr/>
        </p:nvSpPr>
        <p:spPr>
          <a:xfrm>
            <a:off x="1325880" y="3072384"/>
            <a:ext cx="5852160" cy="45720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Teleobiettivo dal marciapiede opposto, attraverso vetrine, tra la gente.</a:t>
            </a:r>
            <a:endParaRPr lang="en-US" sz="1200" dirty="0"/>
          </a:p>
        </p:txBody>
      </p:sp>
      <p:sp>
        <p:nvSpPr>
          <p:cNvPr id="11" name="Text 8"/>
          <p:cNvSpPr txBox="1"/>
          <p:nvPr/>
        </p:nvSpPr>
        <p:spPr>
          <a:xfrm>
            <a:off x="685800" y="3474720"/>
            <a:ext cx="548640" cy="365760"/>
          </a:xfrm>
          <a:prstGeom prst="rect">
            <a:avLst/>
          </a:prstGeom>
          <a:noFill/>
          <a:ln/>
        </p:spPr>
        <p:txBody>
          <a:bodyPr wrap="square" lIns="0" tIns="0" rIns="0" bIns="0" rtlCol="0" anchor="ctr"/>
          <a:lstStyle/>
          <a:p>
            <a:pPr indent="0" marL="0">
              <a:buNone/>
            </a:pPr>
            <a:r>
              <a:rPr lang="en-US" sz="1800" i="1" dirty="0">
                <a:solidFill>
                  <a:srgbClr val="A8875A"/>
                </a:solidFill>
                <a:latin typeface="Cambria" pitchFamily="34" charset="0"/>
                <a:ea typeface="Cambria" pitchFamily="34" charset="-122"/>
                <a:cs typeface="Cambria" pitchFamily="34" charset="-120"/>
              </a:rPr>
              <a:t>03</a:t>
            </a:r>
            <a:endParaRPr lang="en-US" sz="1800" dirty="0"/>
          </a:p>
        </p:txBody>
      </p:sp>
      <p:sp>
        <p:nvSpPr>
          <p:cNvPr id="12" name="Text 9"/>
          <p:cNvSpPr txBox="1"/>
          <p:nvPr/>
        </p:nvSpPr>
        <p:spPr>
          <a:xfrm>
            <a:off x="1325880" y="3474720"/>
            <a:ext cx="585216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Movimento visibile</a:t>
            </a:r>
            <a:endParaRPr lang="en-US" sz="1400" dirty="0"/>
          </a:p>
        </p:txBody>
      </p:sp>
      <p:sp>
        <p:nvSpPr>
          <p:cNvPr id="13" name="Text 10"/>
          <p:cNvSpPr txBox="1"/>
          <p:nvPr/>
        </p:nvSpPr>
        <p:spPr>
          <a:xfrm>
            <a:off x="1325880" y="3803904"/>
            <a:ext cx="5852160" cy="45720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Il cappotto che si apre, il passo lungo, un leggero mosso. Il cappello resta leggibile.</a:t>
            </a:r>
            <a:endParaRPr lang="en-US" sz="1200" dirty="0"/>
          </a:p>
        </p:txBody>
      </p:sp>
      <p:sp>
        <p:nvSpPr>
          <p:cNvPr id="14" name="Text 11"/>
          <p:cNvSpPr txBox="1"/>
          <p:nvPr/>
        </p:nvSpPr>
        <p:spPr>
          <a:xfrm>
            <a:off x="685800" y="4206240"/>
            <a:ext cx="548640" cy="365760"/>
          </a:xfrm>
          <a:prstGeom prst="rect">
            <a:avLst/>
          </a:prstGeom>
          <a:noFill/>
          <a:ln/>
        </p:spPr>
        <p:txBody>
          <a:bodyPr wrap="square" lIns="0" tIns="0" rIns="0" bIns="0" rtlCol="0" anchor="ctr"/>
          <a:lstStyle/>
          <a:p>
            <a:pPr indent="0" marL="0">
              <a:buNone/>
            </a:pPr>
            <a:r>
              <a:rPr lang="en-US" sz="1800" i="1" dirty="0">
                <a:solidFill>
                  <a:srgbClr val="A8875A"/>
                </a:solidFill>
                <a:latin typeface="Cambria" pitchFamily="34" charset="0"/>
                <a:ea typeface="Cambria" pitchFamily="34" charset="-122"/>
                <a:cs typeface="Cambria" pitchFamily="34" charset="-120"/>
              </a:rPr>
              <a:t>04</a:t>
            </a:r>
            <a:endParaRPr lang="en-US" sz="1800" dirty="0"/>
          </a:p>
        </p:txBody>
      </p:sp>
      <p:sp>
        <p:nvSpPr>
          <p:cNvPr id="15" name="Text 12"/>
          <p:cNvSpPr txBox="1"/>
          <p:nvPr/>
        </p:nvSpPr>
        <p:spPr>
          <a:xfrm>
            <a:off x="1325880" y="4206240"/>
            <a:ext cx="585216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Solo luce vera</a:t>
            </a:r>
            <a:endParaRPr lang="en-US" sz="1400" dirty="0"/>
          </a:p>
        </p:txBody>
      </p:sp>
      <p:sp>
        <p:nvSpPr>
          <p:cNvPr id="16" name="Text 13"/>
          <p:cNvSpPr txBox="1"/>
          <p:nvPr/>
        </p:nvSpPr>
        <p:spPr>
          <a:xfrm>
            <a:off x="1325880" y="4535424"/>
            <a:ext cx="5852160" cy="45720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Luce diffusa del cielo coperto. Interni appena più caldi della strada.</a:t>
            </a:r>
            <a:endParaRPr lang="en-US" sz="1200" dirty="0"/>
          </a:p>
        </p:txBody>
      </p:sp>
      <p:sp>
        <p:nvSpPr>
          <p:cNvPr id="17" name="Text 14"/>
          <p:cNvSpPr txBox="1"/>
          <p:nvPr/>
        </p:nvSpPr>
        <p:spPr>
          <a:xfrm>
            <a:off x="685800" y="4937760"/>
            <a:ext cx="548640" cy="365760"/>
          </a:xfrm>
          <a:prstGeom prst="rect">
            <a:avLst/>
          </a:prstGeom>
          <a:noFill/>
          <a:ln/>
        </p:spPr>
        <p:txBody>
          <a:bodyPr wrap="square" lIns="0" tIns="0" rIns="0" bIns="0" rtlCol="0" anchor="ctr"/>
          <a:lstStyle/>
          <a:p>
            <a:pPr indent="0" marL="0">
              <a:buNone/>
            </a:pPr>
            <a:r>
              <a:rPr lang="en-US" sz="1800" i="1" dirty="0">
                <a:solidFill>
                  <a:srgbClr val="A8875A"/>
                </a:solidFill>
                <a:latin typeface="Cambria" pitchFamily="34" charset="0"/>
                <a:ea typeface="Cambria" pitchFamily="34" charset="-122"/>
                <a:cs typeface="Cambria" pitchFamily="34" charset="-120"/>
              </a:rPr>
              <a:t>05</a:t>
            </a:r>
            <a:endParaRPr lang="en-US" sz="1800" dirty="0"/>
          </a:p>
        </p:txBody>
      </p:sp>
      <p:sp>
        <p:nvSpPr>
          <p:cNvPr id="18" name="Text 15"/>
          <p:cNvSpPr txBox="1"/>
          <p:nvPr/>
        </p:nvSpPr>
        <p:spPr>
          <a:xfrm>
            <a:off x="1325880" y="4937760"/>
            <a:ext cx="585216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Toni grigi, grana di pellicola</a:t>
            </a:r>
            <a:endParaRPr lang="en-US" sz="1400" dirty="0"/>
          </a:p>
        </p:txBody>
      </p:sp>
      <p:sp>
        <p:nvSpPr>
          <p:cNvPr id="19" name="Text 16"/>
          <p:cNvSpPr txBox="1"/>
          <p:nvPr/>
        </p:nvSpPr>
        <p:spPr>
          <a:xfrm>
            <a:off x="1325880" y="5266944"/>
            <a:ext cx="5852160" cy="45720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Colore freddo e desaturato; una parte della serie in bianco e nero.</a:t>
            </a:r>
            <a:endParaRPr lang="en-US" sz="1200" dirty="0"/>
          </a:p>
        </p:txBody>
      </p:sp>
      <p:sp>
        <p:nvSpPr>
          <p:cNvPr id="20" name="Text 17"/>
          <p:cNvSpPr txBox="1"/>
          <p:nvPr/>
        </p:nvSpPr>
        <p:spPr>
          <a:xfrm>
            <a:off x="685800" y="5669280"/>
            <a:ext cx="548640" cy="365760"/>
          </a:xfrm>
          <a:prstGeom prst="rect">
            <a:avLst/>
          </a:prstGeom>
          <a:noFill/>
          <a:ln/>
        </p:spPr>
        <p:txBody>
          <a:bodyPr wrap="square" lIns="0" tIns="0" rIns="0" bIns="0" rtlCol="0" anchor="ctr"/>
          <a:lstStyle/>
          <a:p>
            <a:pPr indent="0" marL="0">
              <a:buNone/>
            </a:pPr>
            <a:r>
              <a:rPr lang="en-US" sz="1800" i="1" dirty="0">
                <a:solidFill>
                  <a:srgbClr val="A8875A"/>
                </a:solidFill>
                <a:latin typeface="Cambria" pitchFamily="34" charset="0"/>
                <a:ea typeface="Cambria" pitchFamily="34" charset="-122"/>
                <a:cs typeface="Cambria" pitchFamily="34" charset="-120"/>
              </a:rPr>
              <a:t>06</a:t>
            </a:r>
            <a:endParaRPr lang="en-US" sz="1800" dirty="0"/>
          </a:p>
        </p:txBody>
      </p:sp>
      <p:sp>
        <p:nvSpPr>
          <p:cNvPr id="21" name="Text 18"/>
          <p:cNvSpPr txBox="1"/>
          <p:nvPr/>
        </p:nvSpPr>
        <p:spPr>
          <a:xfrm>
            <a:off x="1325880" y="5669280"/>
            <a:ext cx="585216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Niente primi piani al volto</a:t>
            </a:r>
            <a:endParaRPr lang="en-US" sz="1400" dirty="0"/>
          </a:p>
        </p:txBody>
      </p:sp>
      <p:sp>
        <p:nvSpPr>
          <p:cNvPr id="22" name="Text 19"/>
          <p:cNvSpPr txBox="1"/>
          <p:nvPr/>
        </p:nvSpPr>
        <p:spPr>
          <a:xfrm>
            <a:off x="1325880" y="5998464"/>
            <a:ext cx="5852160" cy="45720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Lo spazio è per la figura intera. Da vicino riprendiamo solo il cappello.</a:t>
            </a:r>
            <a:endParaRPr lang="en-US" sz="1200" dirty="0"/>
          </a:p>
        </p:txBody>
      </p:sp>
      <p:sp>
        <p:nvSpPr>
          <p:cNvPr id="23" name="Text 20"/>
          <p:cNvSpPr txBox="1"/>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5E6266"/>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img/beret.jpg">    </p:cNvPr>
          <p:cNvPicPr>
            <a:picLocks noChangeAspect="1"/>
          </p:cNvPicPr>
          <p:nvPr/>
        </p:nvPicPr>
        <p:blipFill>
          <a:blip r:embed="rId1"/>
          <a:srcRect l="8222" r="8222" t="0" b="0"/>
          <a:stretch/>
        </p:blipFill>
        <p:spPr>
          <a:xfrm>
            <a:off x="0" y="0"/>
            <a:ext cx="4297680" cy="6858000"/>
          </a:xfrm>
          <a:prstGeom prst="rect">
            <a:avLst/>
          </a:prstGeom>
        </p:spPr>
      </p:pic>
      <p:sp>
        <p:nvSpPr>
          <p:cNvPr id="3" name="Text 0"/>
          <p:cNvSpPr txBox="1"/>
          <p:nvPr/>
        </p:nvSpPr>
        <p:spPr>
          <a:xfrm>
            <a:off x="4937760" y="731520"/>
            <a:ext cx="5486400" cy="274320"/>
          </a:xfrm>
          <a:prstGeom prst="rect">
            <a:avLst/>
          </a:prstGeom>
          <a:noFill/>
          <a:ln/>
        </p:spPr>
        <p:txBody>
          <a:bodyPr wrap="square" lIns="0" tIns="0" rIns="0" bIns="0" rtlCol="0" anchor="ctr"/>
          <a:lstStyle/>
          <a:p>
            <a:pPr indent="0" marL="0">
              <a:buNone/>
            </a:pPr>
            <a:r>
              <a:rPr lang="en-US" sz="1000" spc="400" kern="0" dirty="0">
                <a:solidFill>
                  <a:srgbClr val="5E6266"/>
                </a:solidFill>
                <a:latin typeface="Arial" pitchFamily="34" charset="0"/>
                <a:ea typeface="Arial" pitchFamily="34" charset="-122"/>
                <a:cs typeface="Arial" pitchFamily="34" charset="-120"/>
              </a:rPr>
              <a:t>04 — STYLING</a:t>
            </a:r>
            <a:endParaRPr lang="en-US" sz="1000" dirty="0"/>
          </a:p>
        </p:txBody>
      </p:sp>
      <p:sp>
        <p:nvSpPr>
          <p:cNvPr id="4" name="Text 1"/>
          <p:cNvSpPr txBox="1"/>
          <p:nvPr/>
        </p:nvSpPr>
        <p:spPr>
          <a:xfrm>
            <a:off x="4937760" y="1097280"/>
            <a:ext cx="6675120" cy="822960"/>
          </a:xfrm>
          <a:prstGeom prst="rect">
            <a:avLst/>
          </a:prstGeom>
          <a:noFill/>
          <a:ln/>
        </p:spPr>
        <p:txBody>
          <a:bodyPr wrap="square" lIns="0" tIns="0" rIns="0" bIns="0" rtlCol="0" anchor="t"/>
          <a:lstStyle/>
          <a:p>
            <a:pPr indent="0" marL="0">
              <a:buNone/>
            </a:pPr>
            <a:r>
              <a:rPr lang="en-US" sz="3600" dirty="0">
                <a:solidFill>
                  <a:srgbClr val="1E2023"/>
                </a:solidFill>
                <a:latin typeface="Cambria" pitchFamily="34" charset="0"/>
                <a:ea typeface="Cambria" pitchFamily="34" charset="-122"/>
                <a:cs typeface="Cambria" pitchFamily="34" charset="-120"/>
              </a:rPr>
              <a:t>Ricchezza silenziosa</a:t>
            </a:r>
            <a:endParaRPr lang="en-US" sz="3600" dirty="0"/>
          </a:p>
        </p:txBody>
      </p:sp>
      <p:sp>
        <p:nvSpPr>
          <p:cNvPr id="5" name="Text 2"/>
          <p:cNvSpPr txBox="1"/>
          <p:nvPr/>
        </p:nvSpPr>
        <p:spPr>
          <a:xfrm>
            <a:off x="4937760" y="1920240"/>
            <a:ext cx="6583680" cy="731520"/>
          </a:xfrm>
          <a:prstGeom prst="rect">
            <a:avLst/>
          </a:prstGeom>
          <a:noFill/>
          <a:ln/>
        </p:spPr>
        <p:txBody>
          <a:bodyPr wrap="square" lIns="0" tIns="0" rIns="0" bIns="0" rtlCol="0" anchor="t"/>
          <a:lstStyle/>
          <a:p>
            <a:pPr indent="0" marL="0">
              <a:lnSpc>
                <a:spcPct val="115000"/>
              </a:lnSpc>
              <a:spcAft>
                <a:spcPts val="600"/>
              </a:spcAft>
              <a:buNone/>
            </a:pPr>
            <a:r>
              <a:rPr lang="en-US" sz="1400" dirty="0">
                <a:solidFill>
                  <a:srgbClr val="5E6266"/>
                </a:solidFill>
                <a:latin typeface="Arial" pitchFamily="34" charset="0"/>
                <a:ea typeface="Arial" pitchFamily="34" charset="-122"/>
                <a:cs typeface="Arial" pitchFamily="34" charset="-120"/>
              </a:rPr>
              <a:t>Prendiamo spunto dall’old money senza citarlo alla lettera. La ricchezza si legge nei materiali, nei tagli e nella misura, non nei loghi.</a:t>
            </a:r>
            <a:endParaRPr lang="en-US" sz="1400" dirty="0"/>
          </a:p>
        </p:txBody>
      </p:sp>
      <p:sp>
        <p:nvSpPr>
          <p:cNvPr id="6" name="Text 3"/>
          <p:cNvSpPr txBox="1"/>
          <p:nvPr/>
        </p:nvSpPr>
        <p:spPr>
          <a:xfrm>
            <a:off x="4937760" y="2926080"/>
            <a:ext cx="3108960" cy="365760"/>
          </a:xfrm>
          <a:prstGeom prst="rect">
            <a:avLst/>
          </a:prstGeom>
          <a:noFill/>
          <a:ln/>
        </p:spPr>
        <p:txBody>
          <a:bodyPr wrap="square" lIns="0" tIns="0" rIns="0" bIns="0" rtlCol="0" anchor="ctr"/>
          <a:lstStyle/>
          <a:p>
            <a:pPr indent="0" marL="0">
              <a:buNone/>
            </a:pPr>
            <a:r>
              <a:rPr lang="en-US" sz="2000" i="1" dirty="0">
                <a:solidFill>
                  <a:srgbClr val="1E2023"/>
                </a:solidFill>
                <a:latin typeface="Cambria" pitchFamily="34" charset="0"/>
                <a:ea typeface="Cambria" pitchFamily="34" charset="-122"/>
                <a:cs typeface="Cambria" pitchFamily="34" charset="-120"/>
              </a:rPr>
              <a:t>Sì</a:t>
            </a:r>
            <a:endParaRPr lang="en-US" sz="2000" dirty="0"/>
          </a:p>
        </p:txBody>
      </p:sp>
      <p:sp>
        <p:nvSpPr>
          <p:cNvPr id="7" name="Text 4"/>
          <p:cNvSpPr txBox="1"/>
          <p:nvPr/>
        </p:nvSpPr>
        <p:spPr>
          <a:xfrm>
            <a:off x="4937760" y="3383280"/>
            <a:ext cx="3108960" cy="274320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E2023"/>
                </a:solidFill>
                <a:latin typeface="Arial" pitchFamily="34" charset="0"/>
                <a:ea typeface="Arial" pitchFamily="34" charset="-122"/>
                <a:cs typeface="Arial" pitchFamily="34" charset="-120"/>
              </a:rPr>
              <a:t>Cappotti lunghi in lana e cashmere, spigato, doppiopetto</a:t>
            </a:r>
            <a:endParaRPr lang="en-US" sz="1250" dirty="0"/>
          </a:p>
          <a:p>
            <a:pPr marL="177800" indent="-177800">
              <a:spcAft>
                <a:spcPts val="800"/>
              </a:spcAft>
              <a:buSzPct val="100000"/>
              <a:buChar char="•"/>
            </a:pPr>
            <a:r>
              <a:rPr lang="en-US" sz="1250" dirty="0">
                <a:solidFill>
                  <a:srgbClr val="1E2023"/>
                </a:solidFill>
                <a:latin typeface="Arial" pitchFamily="34" charset="0"/>
                <a:ea typeface="Arial" pitchFamily="34" charset="-122"/>
                <a:cs typeface="Arial" pitchFamily="34" charset="-120"/>
              </a:rPr>
              <a:t>Dolcevita, gonne midi, pantaloni ampi</a:t>
            </a:r>
            <a:endParaRPr lang="en-US" sz="1250" dirty="0"/>
          </a:p>
          <a:p>
            <a:pPr marL="177800" indent="-177800">
              <a:spcAft>
                <a:spcPts val="800"/>
              </a:spcAft>
              <a:buSzPct val="100000"/>
              <a:buChar char="•"/>
            </a:pPr>
            <a:r>
              <a:rPr lang="en-US" sz="1250" dirty="0">
                <a:solidFill>
                  <a:srgbClr val="1E2023"/>
                </a:solidFill>
                <a:latin typeface="Arial" pitchFamily="34" charset="0"/>
                <a:ea typeface="Arial" pitchFamily="34" charset="-122"/>
                <a:cs typeface="Arial" pitchFamily="34" charset="-120"/>
              </a:rPr>
              <a:t>Guanti in pelle, collant velati, stivaletti a punta</a:t>
            </a:r>
            <a:endParaRPr lang="en-US" sz="1250" dirty="0"/>
          </a:p>
          <a:p>
            <a:pPr marL="177800" indent="-177800">
              <a:spcAft>
                <a:spcPts val="800"/>
              </a:spcAft>
              <a:buSzPct val="100000"/>
              <a:buChar char="•"/>
            </a:pPr>
            <a:r>
              <a:rPr lang="en-US" sz="1250" dirty="0">
                <a:solidFill>
                  <a:srgbClr val="1E2023"/>
                </a:solidFill>
                <a:latin typeface="Arial" pitchFamily="34" charset="0"/>
                <a:ea typeface="Arial" pitchFamily="34" charset="-122"/>
                <a:cs typeface="Arial" pitchFamily="34" charset="-120"/>
              </a:rPr>
              <a:t>Borse strutturate portate a mano</a:t>
            </a:r>
            <a:endParaRPr lang="en-US" sz="1250" dirty="0"/>
          </a:p>
          <a:p>
            <a:pPr marL="177800" indent="-177800">
              <a:spcAft>
                <a:spcPts val="800"/>
              </a:spcAft>
              <a:buSzPct val="100000"/>
              <a:buChar char="•"/>
            </a:pPr>
            <a:r>
              <a:rPr lang="en-US" sz="1250" dirty="0">
                <a:solidFill>
                  <a:srgbClr val="1E2023"/>
                </a:solidFill>
                <a:latin typeface="Arial" pitchFamily="34" charset="0"/>
                <a:ea typeface="Arial" pitchFamily="34" charset="-122"/>
                <a:cs typeface="Arial" pitchFamily="34" charset="-120"/>
              </a:rPr>
              <a:t>Gioielli dorati discreti, occhiali scuri</a:t>
            </a:r>
            <a:endParaRPr lang="en-US" sz="1250" dirty="0"/>
          </a:p>
        </p:txBody>
      </p:sp>
      <p:sp>
        <p:nvSpPr>
          <p:cNvPr id="8" name="Text 5"/>
          <p:cNvSpPr txBox="1"/>
          <p:nvPr/>
        </p:nvSpPr>
        <p:spPr>
          <a:xfrm>
            <a:off x="8412480" y="2926080"/>
            <a:ext cx="3108960" cy="365760"/>
          </a:xfrm>
          <a:prstGeom prst="rect">
            <a:avLst/>
          </a:prstGeom>
          <a:noFill/>
          <a:ln/>
        </p:spPr>
        <p:txBody>
          <a:bodyPr wrap="square" lIns="0" tIns="0" rIns="0" bIns="0" rtlCol="0" anchor="ctr"/>
          <a:lstStyle/>
          <a:p>
            <a:pPr indent="0" marL="0">
              <a:buNone/>
            </a:pPr>
            <a:r>
              <a:rPr lang="en-US" sz="2000" i="1" dirty="0">
                <a:solidFill>
                  <a:srgbClr val="5E6266"/>
                </a:solidFill>
                <a:latin typeface="Cambria" pitchFamily="34" charset="0"/>
                <a:ea typeface="Cambria" pitchFamily="34" charset="-122"/>
                <a:cs typeface="Cambria" pitchFamily="34" charset="-120"/>
              </a:rPr>
              <a:t>No</a:t>
            </a:r>
            <a:endParaRPr lang="en-US" sz="2000" dirty="0"/>
          </a:p>
        </p:txBody>
      </p:sp>
      <p:sp>
        <p:nvSpPr>
          <p:cNvPr id="9" name="Text 6"/>
          <p:cNvSpPr txBox="1"/>
          <p:nvPr/>
        </p:nvSpPr>
        <p:spPr>
          <a:xfrm>
            <a:off x="8412480" y="3383280"/>
            <a:ext cx="3108960" cy="274320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E2023"/>
                </a:solidFill>
                <a:latin typeface="Arial" pitchFamily="34" charset="0"/>
                <a:ea typeface="Arial" pitchFamily="34" charset="-122"/>
                <a:cs typeface="Arial" pitchFamily="34" charset="-120"/>
              </a:rPr>
              <a:t>Loghi e monogrammi in vista</a:t>
            </a:r>
            <a:endParaRPr lang="en-US" sz="1250" dirty="0"/>
          </a:p>
          <a:p>
            <a:pPr marL="177800" indent="-177800">
              <a:spcAft>
                <a:spcPts val="800"/>
              </a:spcAft>
              <a:buSzPct val="100000"/>
              <a:buChar char="•"/>
            </a:pPr>
            <a:r>
              <a:rPr lang="en-US" sz="1250" dirty="0">
                <a:solidFill>
                  <a:srgbClr val="1E2023"/>
                </a:solidFill>
                <a:latin typeface="Arial" pitchFamily="34" charset="0"/>
                <a:ea typeface="Arial" pitchFamily="34" charset="-122"/>
                <a:cs typeface="Arial" pitchFamily="34" charset="-120"/>
              </a:rPr>
              <a:t>Perle, tweed e foulard tutti insieme</a:t>
            </a:r>
            <a:endParaRPr lang="en-US" sz="1250" dirty="0"/>
          </a:p>
          <a:p>
            <a:pPr marL="177800" indent="-177800">
              <a:spcAft>
                <a:spcPts val="800"/>
              </a:spcAft>
              <a:buSzPct val="100000"/>
              <a:buChar char="•"/>
            </a:pPr>
            <a:r>
              <a:rPr lang="en-US" sz="1250" dirty="0">
                <a:solidFill>
                  <a:srgbClr val="1E2023"/>
                </a:solidFill>
                <a:latin typeface="Arial" pitchFamily="34" charset="0"/>
                <a:ea typeface="Arial" pitchFamily="34" charset="-122"/>
                <a:cs typeface="Arial" pitchFamily="34" charset="-120"/>
              </a:rPr>
              <a:t>Look vintage o in costume</a:t>
            </a:r>
            <a:endParaRPr lang="en-US" sz="1250" dirty="0"/>
          </a:p>
          <a:p>
            <a:pPr marL="177800" indent="-177800">
              <a:spcAft>
                <a:spcPts val="800"/>
              </a:spcAft>
              <a:buSzPct val="100000"/>
              <a:buChar char="•"/>
            </a:pPr>
            <a:r>
              <a:rPr lang="en-US" sz="1250" dirty="0">
                <a:solidFill>
                  <a:srgbClr val="1E2023"/>
                </a:solidFill>
                <a:latin typeface="Arial" pitchFamily="34" charset="0"/>
                <a:ea typeface="Arial" pitchFamily="34" charset="-122"/>
                <a:cs typeface="Arial" pitchFamily="34" charset="-120"/>
              </a:rPr>
              <a:t>Colori accesi fuori dal cappello</a:t>
            </a:r>
            <a:endParaRPr lang="en-US" sz="1250" dirty="0"/>
          </a:p>
        </p:txBody>
      </p:sp>
      <p:sp>
        <p:nvSpPr>
          <p:cNvPr id="10" name="Text 7"/>
          <p:cNvSpPr txBox="1"/>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5E6266"/>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023"/>
        </a:solidFill>
      </p:bgPr>
    </p:bg>
    <p:spTree>
      <p:nvGrpSpPr>
        <p:cNvPr id="1" name=""/>
        <p:cNvGrpSpPr/>
        <p:nvPr/>
      </p:nvGrpSpPr>
      <p:grpSpPr>
        <a:xfrm>
          <a:off x="0" y="0"/>
          <a:ext cx="0" cy="0"/>
          <a:chOff x="0" y="0"/>
          <a:chExt cx="0" cy="0"/>
        </a:xfrm>
      </p:grpSpPr>
      <p:sp>
        <p:nvSpPr>
          <p:cNvPr id="2" name="Text 0"/>
          <p:cNvSpPr txBox="1"/>
          <p:nvPr/>
        </p:nvSpPr>
        <p:spPr>
          <a:xfrm>
            <a:off x="685800" y="731520"/>
            <a:ext cx="5486400" cy="274320"/>
          </a:xfrm>
          <a:prstGeom prst="rect">
            <a:avLst/>
          </a:prstGeom>
          <a:noFill/>
          <a:ln/>
        </p:spPr>
        <p:txBody>
          <a:bodyPr wrap="square" lIns="0" tIns="0" rIns="0" bIns="0" rtlCol="0" anchor="ctr"/>
          <a:lstStyle/>
          <a:p>
            <a:pPr indent="0" marL="0">
              <a:buNone/>
            </a:pPr>
            <a:r>
              <a:rPr lang="en-US" sz="1000" spc="400" kern="0" dirty="0">
                <a:solidFill>
                  <a:srgbClr val="A9ACAE"/>
                </a:solidFill>
                <a:latin typeface="Arial" pitchFamily="34" charset="0"/>
                <a:ea typeface="Arial" pitchFamily="34" charset="-122"/>
                <a:cs typeface="Arial" pitchFamily="34" charset="-120"/>
              </a:rPr>
              <a:t>05 — IL CAPPELLO</a:t>
            </a:r>
            <a:endParaRPr lang="en-US" sz="1000" dirty="0"/>
          </a:p>
        </p:txBody>
      </p:sp>
      <p:sp>
        <p:nvSpPr>
          <p:cNvPr id="3" name="Text 1"/>
          <p:cNvSpPr txBox="1"/>
          <p:nvPr/>
        </p:nvSpPr>
        <p:spPr>
          <a:xfrm>
            <a:off x="685800" y="1097280"/>
            <a:ext cx="5486400" cy="822960"/>
          </a:xfrm>
          <a:prstGeom prst="rect">
            <a:avLst/>
          </a:prstGeom>
          <a:noFill/>
          <a:ln/>
        </p:spPr>
        <p:txBody>
          <a:bodyPr wrap="square" lIns="0" tIns="0" rIns="0" bIns="0" rtlCol="0" anchor="t"/>
          <a:lstStyle/>
          <a:p>
            <a:pPr indent="0" marL="0">
              <a:buNone/>
            </a:pPr>
            <a:r>
              <a:rPr lang="en-US" sz="3600" dirty="0">
                <a:solidFill>
                  <a:srgbClr val="FFFFFF"/>
                </a:solidFill>
                <a:latin typeface="Cambria" pitchFamily="34" charset="0"/>
                <a:ea typeface="Cambria" pitchFamily="34" charset="-122"/>
                <a:cs typeface="Cambria" pitchFamily="34" charset="-120"/>
              </a:rPr>
              <a:t>Sempre protagonista</a:t>
            </a:r>
            <a:endParaRPr lang="en-US" sz="3600" dirty="0"/>
          </a:p>
        </p:txBody>
      </p:sp>
      <p:sp>
        <p:nvSpPr>
          <p:cNvPr id="4" name="Text 2"/>
          <p:cNvSpPr txBox="1"/>
          <p:nvPr/>
        </p:nvSpPr>
        <p:spPr>
          <a:xfrm>
            <a:off x="6583680" y="1143000"/>
            <a:ext cx="4937760" cy="1280160"/>
          </a:xfrm>
          <a:prstGeom prst="rect">
            <a:avLst/>
          </a:prstGeom>
          <a:noFill/>
          <a:ln/>
        </p:spPr>
        <p:txBody>
          <a:bodyPr wrap="square" lIns="0" tIns="0" rIns="0" bIns="0" rtlCol="0" anchor="t"/>
          <a:lstStyle/>
          <a:p>
            <a:pPr indent="0" marL="0">
              <a:lnSpc>
                <a:spcPct val="115000"/>
              </a:lnSpc>
              <a:spcAft>
                <a:spcPts val="600"/>
              </a:spcAft>
              <a:buNone/>
            </a:pPr>
            <a:r>
              <a:rPr lang="en-US" sz="1300" dirty="0">
                <a:solidFill>
                  <a:srgbClr val="DCDDDC"/>
                </a:solidFill>
                <a:latin typeface="Arial" pitchFamily="34" charset="0"/>
                <a:ea typeface="Arial" pitchFamily="34" charset="-122"/>
                <a:cs typeface="Arial" pitchFamily="34" charset="-120"/>
              </a:rPr>
              <a:t>In ogni scena il cappello definisce la silhouette. Alterniamo la figura intera ai dettagli del cappello (feltro, nastro, tesa bagnata) per renderlo leggibile anche mentre lei cammina. Niente primi piani al volto. L’unico colore acceso concesso è il suo.</a:t>
            </a:r>
            <a:endParaRPr lang="en-US" sz="1300" dirty="0"/>
          </a:p>
        </p:txBody>
      </p:sp>
      <p:pic>
        <p:nvPicPr>
          <p:cNvPr id="5" name="Image 0" descr="img/prod0.jpg">    </p:cNvPr>
          <p:cNvPicPr>
            <a:picLocks noChangeAspect="1"/>
          </p:cNvPicPr>
          <p:nvPr/>
        </p:nvPicPr>
        <p:blipFill>
          <a:blip r:embed="rId1"/>
          <a:srcRect l="0" r="0" t="51" b="41"/>
          <a:stretch/>
        </p:blipFill>
        <p:spPr>
          <a:xfrm>
            <a:off x="685800" y="2697480"/>
            <a:ext cx="1984248" cy="2478024"/>
          </a:xfrm>
          <a:prstGeom prst="rect">
            <a:avLst/>
          </a:prstGeom>
        </p:spPr>
      </p:pic>
      <p:sp>
        <p:nvSpPr>
          <p:cNvPr id="6" name="Text 3"/>
          <p:cNvSpPr txBox="1"/>
          <p:nvPr/>
        </p:nvSpPr>
        <p:spPr>
          <a:xfrm>
            <a:off x="685800" y="5303520"/>
            <a:ext cx="1984248" cy="45720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DCDDDC"/>
                </a:solidFill>
                <a:latin typeface="Arial" pitchFamily="34" charset="0"/>
                <a:ea typeface="Arial" pitchFamily="34" charset="-122"/>
                <a:cs typeface="Arial" pitchFamily="34" charset="-120"/>
              </a:rPr>
              <a:t>Tamburello in feltro cammello</a:t>
            </a:r>
            <a:endParaRPr lang="en-US" sz="1150" dirty="0"/>
          </a:p>
        </p:txBody>
      </p:sp>
      <p:pic>
        <p:nvPicPr>
          <p:cNvPr id="7" name="Image 1" descr="img/prod1.jpg">    </p:cNvPr>
          <p:cNvPicPr>
            <a:picLocks noChangeAspect="1"/>
          </p:cNvPicPr>
          <p:nvPr/>
        </p:nvPicPr>
        <p:blipFill>
          <a:blip r:embed="rId2"/>
          <a:srcRect l="0" r="0" t="51" b="41"/>
          <a:stretch/>
        </p:blipFill>
        <p:spPr>
          <a:xfrm>
            <a:off x="2898648" y="2697480"/>
            <a:ext cx="1984248" cy="2478024"/>
          </a:xfrm>
          <a:prstGeom prst="rect">
            <a:avLst/>
          </a:prstGeom>
        </p:spPr>
      </p:pic>
      <p:sp>
        <p:nvSpPr>
          <p:cNvPr id="8" name="Text 4"/>
          <p:cNvSpPr txBox="1"/>
          <p:nvPr/>
        </p:nvSpPr>
        <p:spPr>
          <a:xfrm>
            <a:off x="2898648" y="5303520"/>
            <a:ext cx="1984248" cy="45720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DCDDDC"/>
                </a:solidFill>
                <a:latin typeface="Arial" pitchFamily="34" charset="0"/>
                <a:ea typeface="Arial" pitchFamily="34" charset="-122"/>
                <a:cs typeface="Arial" pitchFamily="34" charset="-120"/>
              </a:rPr>
              <a:t>Fedora in feltro maculato</a:t>
            </a:r>
            <a:endParaRPr lang="en-US" sz="1150" dirty="0"/>
          </a:p>
        </p:txBody>
      </p:sp>
      <p:pic>
        <p:nvPicPr>
          <p:cNvPr id="9" name="Image 2" descr="img/prod2.jpg">    </p:cNvPr>
          <p:cNvPicPr>
            <a:picLocks noChangeAspect="1"/>
          </p:cNvPicPr>
          <p:nvPr/>
        </p:nvPicPr>
        <p:blipFill>
          <a:blip r:embed="rId3"/>
          <a:srcRect l="0" r="0" t="51" b="41"/>
          <a:stretch/>
        </p:blipFill>
        <p:spPr>
          <a:xfrm>
            <a:off x="5111496" y="2697480"/>
            <a:ext cx="1984248" cy="2478024"/>
          </a:xfrm>
          <a:prstGeom prst="rect">
            <a:avLst/>
          </a:prstGeom>
        </p:spPr>
      </p:pic>
      <p:sp>
        <p:nvSpPr>
          <p:cNvPr id="10" name="Text 5"/>
          <p:cNvSpPr txBox="1"/>
          <p:nvPr/>
        </p:nvSpPr>
        <p:spPr>
          <a:xfrm>
            <a:off x="5111496" y="5303520"/>
            <a:ext cx="1984248" cy="45720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DCDDDC"/>
                </a:solidFill>
                <a:latin typeface="Arial" pitchFamily="34" charset="0"/>
                <a:ea typeface="Arial" pitchFamily="34" charset="-122"/>
                <a:cs typeface="Arial" pitchFamily="34" charset="-120"/>
              </a:rPr>
              <a:t>Cloche in feltro prugna</a:t>
            </a:r>
            <a:endParaRPr lang="en-US" sz="1150" dirty="0"/>
          </a:p>
        </p:txBody>
      </p:sp>
      <p:pic>
        <p:nvPicPr>
          <p:cNvPr id="11" name="Image 3" descr="img/prod3.jpg">    </p:cNvPr>
          <p:cNvPicPr>
            <a:picLocks noChangeAspect="1"/>
          </p:cNvPicPr>
          <p:nvPr/>
        </p:nvPicPr>
        <p:blipFill>
          <a:blip r:embed="rId4"/>
          <a:srcRect l="0" r="0" t="51" b="41"/>
          <a:stretch/>
        </p:blipFill>
        <p:spPr>
          <a:xfrm>
            <a:off x="7324344" y="2697480"/>
            <a:ext cx="1984248" cy="2478024"/>
          </a:xfrm>
          <a:prstGeom prst="rect">
            <a:avLst/>
          </a:prstGeom>
        </p:spPr>
      </p:pic>
      <p:sp>
        <p:nvSpPr>
          <p:cNvPr id="12" name="Text 6"/>
          <p:cNvSpPr txBox="1"/>
          <p:nvPr/>
        </p:nvSpPr>
        <p:spPr>
          <a:xfrm>
            <a:off x="7324344" y="5303520"/>
            <a:ext cx="1984248" cy="45720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DCDDDC"/>
                </a:solidFill>
                <a:latin typeface="Arial" pitchFamily="34" charset="0"/>
                <a:ea typeface="Arial" pitchFamily="34" charset="-122"/>
                <a:cs typeface="Arial" pitchFamily="34" charset="-120"/>
              </a:rPr>
              <a:t>Cloche leopardata con fiocco</a:t>
            </a:r>
            <a:endParaRPr lang="en-US" sz="1150" dirty="0"/>
          </a:p>
        </p:txBody>
      </p:sp>
      <p:pic>
        <p:nvPicPr>
          <p:cNvPr id="13" name="Image 4" descr="img/prod4.jpg">    </p:cNvPr>
          <p:cNvPicPr>
            <a:picLocks noChangeAspect="1"/>
          </p:cNvPicPr>
          <p:nvPr/>
        </p:nvPicPr>
        <p:blipFill>
          <a:blip r:embed="rId5"/>
          <a:srcRect l="0" r="0" t="51" b="41"/>
          <a:stretch/>
        </p:blipFill>
        <p:spPr>
          <a:xfrm>
            <a:off x="9537192" y="2697480"/>
            <a:ext cx="1984248" cy="2478024"/>
          </a:xfrm>
          <a:prstGeom prst="rect">
            <a:avLst/>
          </a:prstGeom>
        </p:spPr>
      </p:pic>
      <p:sp>
        <p:nvSpPr>
          <p:cNvPr id="14" name="Text 7"/>
          <p:cNvSpPr txBox="1"/>
          <p:nvPr/>
        </p:nvSpPr>
        <p:spPr>
          <a:xfrm>
            <a:off x="9537192" y="5303520"/>
            <a:ext cx="1984248" cy="45720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DCDDDC"/>
                </a:solidFill>
                <a:latin typeface="Arial" pitchFamily="34" charset="0"/>
                <a:ea typeface="Arial" pitchFamily="34" charset="-122"/>
                <a:cs typeface="Arial" pitchFamily="34" charset="-120"/>
              </a:rPr>
              <a:t>Coppola in feltro ricamata</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0"/>
        </a:solidFill>
      </p:bgPr>
    </p:bg>
    <p:spTree>
      <p:nvGrpSpPr>
        <p:cNvPr id="1" name=""/>
        <p:cNvGrpSpPr/>
        <p:nvPr/>
      </p:nvGrpSpPr>
      <p:grpSpPr>
        <a:xfrm>
          <a:off x="0" y="0"/>
          <a:ext cx="0" cy="0"/>
          <a:chOff x="0" y="0"/>
          <a:chExt cx="0" cy="0"/>
        </a:xfrm>
      </p:grpSpPr>
      <p:pic>
        <p:nvPicPr>
          <p:cNvPr id="2" name="Image 0" descr="img/bors_roof.jpg">    </p:cNvPr>
          <p:cNvPicPr>
            <a:picLocks noChangeAspect="1"/>
          </p:cNvPicPr>
          <p:nvPr/>
        </p:nvPicPr>
        <p:blipFill>
          <a:blip r:embed="rId1"/>
          <a:srcRect l="0" r="0" t="824" b="3295"/>
          <a:stretch/>
        </p:blipFill>
        <p:spPr>
          <a:xfrm>
            <a:off x="0" y="0"/>
            <a:ext cx="4023360" cy="6858000"/>
          </a:xfrm>
          <a:prstGeom prst="rect">
            <a:avLst/>
          </a:prstGeom>
        </p:spPr>
      </p:pic>
      <p:sp>
        <p:nvSpPr>
          <p:cNvPr id="3" name="Text 0"/>
          <p:cNvSpPr txBox="1"/>
          <p:nvPr/>
        </p:nvSpPr>
        <p:spPr>
          <a:xfrm>
            <a:off x="4663440" y="731520"/>
            <a:ext cx="5486400" cy="274320"/>
          </a:xfrm>
          <a:prstGeom prst="rect">
            <a:avLst/>
          </a:prstGeom>
          <a:noFill/>
          <a:ln/>
        </p:spPr>
        <p:txBody>
          <a:bodyPr wrap="square" lIns="0" tIns="0" rIns="0" bIns="0" rtlCol="0" anchor="ctr"/>
          <a:lstStyle/>
          <a:p>
            <a:pPr indent="0" marL="0">
              <a:buNone/>
            </a:pPr>
            <a:r>
              <a:rPr lang="en-US" sz="1000" spc="400" kern="0" dirty="0">
                <a:solidFill>
                  <a:srgbClr val="5E6266"/>
                </a:solidFill>
                <a:latin typeface="Arial" pitchFamily="34" charset="0"/>
                <a:ea typeface="Arial" pitchFamily="34" charset="-122"/>
                <a:cs typeface="Arial" pitchFamily="34" charset="-120"/>
              </a:rPr>
              <a:t>06 — LA CITTÀ</a:t>
            </a:r>
            <a:endParaRPr lang="en-US" sz="1000" dirty="0"/>
          </a:p>
        </p:txBody>
      </p:sp>
      <p:sp>
        <p:nvSpPr>
          <p:cNvPr id="4" name="Text 1"/>
          <p:cNvSpPr txBox="1"/>
          <p:nvPr/>
        </p:nvSpPr>
        <p:spPr>
          <a:xfrm>
            <a:off x="4663440" y="1097280"/>
            <a:ext cx="7132320" cy="822960"/>
          </a:xfrm>
          <a:prstGeom prst="rect">
            <a:avLst/>
          </a:prstGeom>
          <a:noFill/>
          <a:ln/>
        </p:spPr>
        <p:txBody>
          <a:bodyPr wrap="square" lIns="0" tIns="0" rIns="0" bIns="0" rtlCol="0" anchor="t"/>
          <a:lstStyle/>
          <a:p>
            <a:pPr indent="0" marL="0">
              <a:buNone/>
            </a:pPr>
            <a:r>
              <a:rPr lang="en-US" sz="3000" dirty="0">
                <a:solidFill>
                  <a:srgbClr val="1E2023"/>
                </a:solidFill>
                <a:latin typeface="Cambria" pitchFamily="34" charset="0"/>
                <a:ea typeface="Cambria" pitchFamily="34" charset="-122"/>
                <a:cs typeface="Cambria" pitchFamily="34" charset="-120"/>
              </a:rPr>
              <a:t>L’architettura come scenografia</a:t>
            </a:r>
            <a:endParaRPr lang="en-US" sz="3000" dirty="0"/>
          </a:p>
        </p:txBody>
      </p:sp>
      <p:sp>
        <p:nvSpPr>
          <p:cNvPr id="5" name="Text 2"/>
          <p:cNvSpPr txBox="1"/>
          <p:nvPr/>
        </p:nvSpPr>
        <p:spPr>
          <a:xfrm>
            <a:off x="4663440" y="1965960"/>
            <a:ext cx="6766560" cy="822960"/>
          </a:xfrm>
          <a:prstGeom prst="rect">
            <a:avLst/>
          </a:prstGeom>
          <a:noFill/>
          <a:ln/>
        </p:spPr>
        <p:txBody>
          <a:bodyPr wrap="square" lIns="0" tIns="0" rIns="0" bIns="0" rtlCol="0" anchor="t"/>
          <a:lstStyle/>
          <a:p>
            <a:pPr indent="0" marL="0">
              <a:lnSpc>
                <a:spcPct val="115000"/>
              </a:lnSpc>
              <a:spcAft>
                <a:spcPts val="600"/>
              </a:spcAft>
              <a:buNone/>
            </a:pPr>
            <a:r>
              <a:rPr lang="en-US" sz="1400" dirty="0">
                <a:solidFill>
                  <a:srgbClr val="5E6266"/>
                </a:solidFill>
                <a:latin typeface="Arial" pitchFamily="34" charset="0"/>
                <a:ea typeface="Arial" pitchFamily="34" charset="-122"/>
                <a:cs typeface="Arial" pitchFamily="34" charset="-120"/>
              </a:rPr>
              <a:t>Spesso la figura è piccola nell’inquadratura: è la città a raccontare il mondo in cui vive. Parigi va romanticizzata senza cartoline, niente Tour Eiffel.</a:t>
            </a:r>
            <a:endParaRPr lang="en-US" sz="1400" dirty="0"/>
          </a:p>
        </p:txBody>
      </p:sp>
      <p:sp>
        <p:nvSpPr>
          <p:cNvPr id="6" name="Text 3"/>
          <p:cNvSpPr txBox="1"/>
          <p:nvPr/>
        </p:nvSpPr>
        <p:spPr>
          <a:xfrm>
            <a:off x="4663440" y="3063240"/>
            <a:ext cx="3200400" cy="320040"/>
          </a:xfrm>
          <a:prstGeom prst="rect">
            <a:avLst/>
          </a:prstGeom>
          <a:noFill/>
          <a:ln/>
        </p:spPr>
        <p:txBody>
          <a:bodyPr wrap="square" lIns="0" tIns="0" rIns="0" bIns="0" rtlCol="0" anchor="ctr"/>
          <a:lstStyle/>
          <a:p>
            <a:pPr indent="0" marL="0">
              <a:buNone/>
            </a:pPr>
            <a:r>
              <a:rPr lang="en-US" sz="1800" i="1" dirty="0">
                <a:solidFill>
                  <a:srgbClr val="1E2023"/>
                </a:solidFill>
                <a:latin typeface="Cambria" pitchFamily="34" charset="0"/>
                <a:ea typeface="Cambria" pitchFamily="34" charset="-122"/>
                <a:cs typeface="Cambria" pitchFamily="34" charset="-120"/>
              </a:rPr>
              <a:t>Facciate</a:t>
            </a:r>
            <a:endParaRPr lang="en-US" sz="1800" dirty="0"/>
          </a:p>
        </p:txBody>
      </p:sp>
      <p:sp>
        <p:nvSpPr>
          <p:cNvPr id="7" name="Text 4"/>
          <p:cNvSpPr txBox="1"/>
          <p:nvPr/>
        </p:nvSpPr>
        <p:spPr>
          <a:xfrm>
            <a:off x="4663440" y="3429000"/>
            <a:ext cx="3200400" cy="64008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Palazzi haussmanniani, balconi in ferro battuto, portoni in legno.</a:t>
            </a:r>
            <a:endParaRPr lang="en-US" sz="1200" dirty="0"/>
          </a:p>
        </p:txBody>
      </p:sp>
      <p:sp>
        <p:nvSpPr>
          <p:cNvPr id="8" name="Text 5"/>
          <p:cNvSpPr txBox="1"/>
          <p:nvPr/>
        </p:nvSpPr>
        <p:spPr>
          <a:xfrm>
            <a:off x="8138160" y="3063240"/>
            <a:ext cx="3200400" cy="320040"/>
          </a:xfrm>
          <a:prstGeom prst="rect">
            <a:avLst/>
          </a:prstGeom>
          <a:noFill/>
          <a:ln/>
        </p:spPr>
        <p:txBody>
          <a:bodyPr wrap="square" lIns="0" tIns="0" rIns="0" bIns="0" rtlCol="0" anchor="ctr"/>
          <a:lstStyle/>
          <a:p>
            <a:pPr indent="0" marL="0">
              <a:buNone/>
            </a:pPr>
            <a:r>
              <a:rPr lang="en-US" sz="1800" i="1" dirty="0">
                <a:solidFill>
                  <a:srgbClr val="1E2023"/>
                </a:solidFill>
                <a:latin typeface="Cambria" pitchFamily="34" charset="0"/>
                <a:ea typeface="Cambria" pitchFamily="34" charset="-122"/>
                <a:cs typeface="Cambria" pitchFamily="34" charset="-120"/>
              </a:rPr>
              <a:t>Portici</a:t>
            </a:r>
            <a:endParaRPr lang="en-US" sz="1800" dirty="0"/>
          </a:p>
        </p:txBody>
      </p:sp>
      <p:sp>
        <p:nvSpPr>
          <p:cNvPr id="9" name="Text 6"/>
          <p:cNvSpPr txBox="1"/>
          <p:nvPr/>
        </p:nvSpPr>
        <p:spPr>
          <a:xfrm>
            <a:off x="8138160" y="3429000"/>
            <a:ext cx="3200400" cy="64008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Palais-Royal, Rue de Rivoli, Place des Vosges.</a:t>
            </a:r>
            <a:endParaRPr lang="en-US" sz="1200" dirty="0"/>
          </a:p>
        </p:txBody>
      </p:sp>
      <p:sp>
        <p:nvSpPr>
          <p:cNvPr id="10" name="Text 7"/>
          <p:cNvSpPr txBox="1"/>
          <p:nvPr/>
        </p:nvSpPr>
        <p:spPr>
          <a:xfrm>
            <a:off x="4663440" y="4160520"/>
            <a:ext cx="3200400" cy="320040"/>
          </a:xfrm>
          <a:prstGeom prst="rect">
            <a:avLst/>
          </a:prstGeom>
          <a:noFill/>
          <a:ln/>
        </p:spPr>
        <p:txBody>
          <a:bodyPr wrap="square" lIns="0" tIns="0" rIns="0" bIns="0" rtlCol="0" anchor="ctr"/>
          <a:lstStyle/>
          <a:p>
            <a:pPr indent="0" marL="0">
              <a:buNone/>
            </a:pPr>
            <a:r>
              <a:rPr lang="en-US" sz="1800" i="1" dirty="0">
                <a:solidFill>
                  <a:srgbClr val="1E2023"/>
                </a:solidFill>
                <a:latin typeface="Cambria" pitchFamily="34" charset="0"/>
                <a:ea typeface="Cambria" pitchFamily="34" charset="-122"/>
                <a:cs typeface="Cambria" pitchFamily="34" charset="-120"/>
              </a:rPr>
              <a:t>Metro</a:t>
            </a:r>
            <a:endParaRPr lang="en-US" sz="1800" dirty="0"/>
          </a:p>
        </p:txBody>
      </p:sp>
      <p:sp>
        <p:nvSpPr>
          <p:cNvPr id="11" name="Text 8"/>
          <p:cNvSpPr txBox="1"/>
          <p:nvPr/>
        </p:nvSpPr>
        <p:spPr>
          <a:xfrm>
            <a:off x="4663440" y="4526280"/>
            <a:ext cx="3200400" cy="64008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Ingressi Art Nouveau di Guimard, scale, piastrelle bianche.</a:t>
            </a:r>
            <a:endParaRPr lang="en-US" sz="1200" dirty="0"/>
          </a:p>
        </p:txBody>
      </p:sp>
      <p:sp>
        <p:nvSpPr>
          <p:cNvPr id="12" name="Text 9"/>
          <p:cNvSpPr txBox="1"/>
          <p:nvPr/>
        </p:nvSpPr>
        <p:spPr>
          <a:xfrm>
            <a:off x="8138160" y="4160520"/>
            <a:ext cx="3200400" cy="320040"/>
          </a:xfrm>
          <a:prstGeom prst="rect">
            <a:avLst/>
          </a:prstGeom>
          <a:noFill/>
          <a:ln/>
        </p:spPr>
        <p:txBody>
          <a:bodyPr wrap="square" lIns="0" tIns="0" rIns="0" bIns="0" rtlCol="0" anchor="ctr"/>
          <a:lstStyle/>
          <a:p>
            <a:pPr indent="0" marL="0">
              <a:buNone/>
            </a:pPr>
            <a:r>
              <a:rPr lang="en-US" sz="1800" i="1" dirty="0">
                <a:solidFill>
                  <a:srgbClr val="1E2023"/>
                </a:solidFill>
                <a:latin typeface="Cambria" pitchFamily="34" charset="0"/>
                <a:ea typeface="Cambria" pitchFamily="34" charset="-122"/>
                <a:cs typeface="Cambria" pitchFamily="34" charset="-120"/>
              </a:rPr>
              <a:t>Lungosenna</a:t>
            </a:r>
            <a:endParaRPr lang="en-US" sz="1800" dirty="0"/>
          </a:p>
        </p:txBody>
      </p:sp>
      <p:sp>
        <p:nvSpPr>
          <p:cNvPr id="13" name="Text 10"/>
          <p:cNvSpPr txBox="1"/>
          <p:nvPr/>
        </p:nvSpPr>
        <p:spPr>
          <a:xfrm>
            <a:off x="8138160" y="4526280"/>
            <a:ext cx="3200400" cy="64008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Ponti e banchine nella nebbia del mattino.</a:t>
            </a:r>
            <a:endParaRPr lang="en-US" sz="1200" dirty="0"/>
          </a:p>
        </p:txBody>
      </p:sp>
      <p:sp>
        <p:nvSpPr>
          <p:cNvPr id="14" name="Text 11"/>
          <p:cNvSpPr txBox="1"/>
          <p:nvPr/>
        </p:nvSpPr>
        <p:spPr>
          <a:xfrm>
            <a:off x="4663440" y="5257800"/>
            <a:ext cx="3200400" cy="320040"/>
          </a:xfrm>
          <a:prstGeom prst="rect">
            <a:avLst/>
          </a:prstGeom>
          <a:noFill/>
          <a:ln/>
        </p:spPr>
        <p:txBody>
          <a:bodyPr wrap="square" lIns="0" tIns="0" rIns="0" bIns="0" rtlCol="0" anchor="ctr"/>
          <a:lstStyle/>
          <a:p>
            <a:pPr indent="0" marL="0">
              <a:buNone/>
            </a:pPr>
            <a:r>
              <a:rPr lang="en-US" sz="1800" i="1" dirty="0">
                <a:solidFill>
                  <a:srgbClr val="1E2023"/>
                </a:solidFill>
                <a:latin typeface="Cambria" pitchFamily="34" charset="0"/>
                <a:ea typeface="Cambria" pitchFamily="34" charset="-122"/>
                <a:cs typeface="Cambria" pitchFamily="34" charset="-120"/>
              </a:rPr>
              <a:t>Giardini</a:t>
            </a:r>
            <a:endParaRPr lang="en-US" sz="1800" dirty="0"/>
          </a:p>
        </p:txBody>
      </p:sp>
      <p:sp>
        <p:nvSpPr>
          <p:cNvPr id="15" name="Text 12"/>
          <p:cNvSpPr txBox="1"/>
          <p:nvPr/>
        </p:nvSpPr>
        <p:spPr>
          <a:xfrm>
            <a:off x="4663440" y="5623560"/>
            <a:ext cx="3200400" cy="64008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Viali spogli, foglie a terra, le sedie verdi.</a:t>
            </a:r>
            <a:endParaRPr lang="en-US" sz="1200" dirty="0"/>
          </a:p>
        </p:txBody>
      </p:sp>
      <p:sp>
        <p:nvSpPr>
          <p:cNvPr id="16" name="Text 13"/>
          <p:cNvSpPr txBox="1"/>
          <p:nvPr/>
        </p:nvSpPr>
        <p:spPr>
          <a:xfrm>
            <a:off x="8138160" y="5257800"/>
            <a:ext cx="3200400" cy="320040"/>
          </a:xfrm>
          <a:prstGeom prst="rect">
            <a:avLst/>
          </a:prstGeom>
          <a:noFill/>
          <a:ln/>
        </p:spPr>
        <p:txBody>
          <a:bodyPr wrap="square" lIns="0" tIns="0" rIns="0" bIns="0" rtlCol="0" anchor="ctr"/>
          <a:lstStyle/>
          <a:p>
            <a:pPr indent="0" marL="0">
              <a:buNone/>
            </a:pPr>
            <a:r>
              <a:rPr lang="en-US" sz="1800" i="1" dirty="0">
                <a:solidFill>
                  <a:srgbClr val="1E2023"/>
                </a:solidFill>
                <a:latin typeface="Cambria" pitchFamily="34" charset="0"/>
                <a:ea typeface="Cambria" pitchFamily="34" charset="-122"/>
                <a:cs typeface="Cambria" pitchFamily="34" charset="-120"/>
              </a:rPr>
              <a:t>Interni</a:t>
            </a:r>
            <a:endParaRPr lang="en-US" sz="1800" dirty="0"/>
          </a:p>
        </p:txBody>
      </p:sp>
      <p:sp>
        <p:nvSpPr>
          <p:cNvPr id="17" name="Text 14"/>
          <p:cNvSpPr txBox="1"/>
          <p:nvPr/>
        </p:nvSpPr>
        <p:spPr>
          <a:xfrm>
            <a:off x="8138160" y="5623560"/>
            <a:ext cx="3200400" cy="64008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Androni, scaloni, ascensori a gabbia e in legno.</a:t>
            </a:r>
            <a:endParaRPr lang="en-US" sz="1200" dirty="0"/>
          </a:p>
        </p:txBody>
      </p:sp>
      <p:sp>
        <p:nvSpPr>
          <p:cNvPr id="18" name="Text 15"/>
          <p:cNvSpPr txBox="1"/>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5E6266"/>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023"/>
        </a:solidFill>
      </p:bgPr>
    </p:bg>
    <p:spTree>
      <p:nvGrpSpPr>
        <p:cNvPr id="1" name=""/>
        <p:cNvGrpSpPr/>
        <p:nvPr/>
      </p:nvGrpSpPr>
      <p:grpSpPr>
        <a:xfrm>
          <a:off x="0" y="0"/>
          <a:ext cx="0" cy="0"/>
          <a:chOff x="0" y="0"/>
          <a:chExt cx="0" cy="0"/>
        </a:xfrm>
      </p:grpSpPr>
      <p:pic>
        <p:nvPicPr>
          <p:cNvPr id="2" name="Image 0" descr="img/celine.jpg">    </p:cNvPr>
          <p:cNvPicPr>
            <a:picLocks noChangeAspect="1"/>
          </p:cNvPicPr>
          <p:nvPr/>
        </p:nvPicPr>
        <p:blipFill>
          <a:blip r:embed="rId1"/>
          <a:srcRect l="0" r="0" t="3109" b="3109"/>
          <a:stretch/>
        </p:blipFill>
        <p:spPr>
          <a:xfrm>
            <a:off x="0" y="0"/>
            <a:ext cx="5669280" cy="6858000"/>
          </a:xfrm>
          <a:prstGeom prst="rect">
            <a:avLst/>
          </a:prstGeom>
        </p:spPr>
      </p:pic>
      <p:sp>
        <p:nvSpPr>
          <p:cNvPr id="3" name="Text 0"/>
          <p:cNvSpPr txBox="1"/>
          <p:nvPr/>
        </p:nvSpPr>
        <p:spPr>
          <a:xfrm>
            <a:off x="6309360" y="731520"/>
            <a:ext cx="5486400" cy="274320"/>
          </a:xfrm>
          <a:prstGeom prst="rect">
            <a:avLst/>
          </a:prstGeom>
          <a:noFill/>
          <a:ln/>
        </p:spPr>
        <p:txBody>
          <a:bodyPr wrap="square" lIns="0" tIns="0" rIns="0" bIns="0" rtlCol="0" anchor="ctr"/>
          <a:lstStyle/>
          <a:p>
            <a:pPr indent="0" marL="0">
              <a:buNone/>
            </a:pPr>
            <a:r>
              <a:rPr lang="en-US" sz="1000" spc="400" kern="0" dirty="0">
                <a:solidFill>
                  <a:srgbClr val="A9ACAE"/>
                </a:solidFill>
                <a:latin typeface="Arial" pitchFamily="34" charset="0"/>
                <a:ea typeface="Arial" pitchFamily="34" charset="-122"/>
                <a:cs typeface="Arial" pitchFamily="34" charset="-120"/>
              </a:rPr>
              <a:t>RIFERIMENTO</a:t>
            </a:r>
            <a:endParaRPr lang="en-US" sz="1000" dirty="0"/>
          </a:p>
        </p:txBody>
      </p:sp>
      <p:sp>
        <p:nvSpPr>
          <p:cNvPr id="4" name="Text 1"/>
          <p:cNvSpPr txBox="1"/>
          <p:nvPr/>
        </p:nvSpPr>
        <p:spPr>
          <a:xfrm>
            <a:off x="6309360" y="1097280"/>
            <a:ext cx="5242255" cy="731520"/>
          </a:xfrm>
          <a:prstGeom prst="rect">
            <a:avLst/>
          </a:prstGeom>
          <a:noFill/>
          <a:ln/>
        </p:spPr>
        <p:txBody>
          <a:bodyPr wrap="square" lIns="0" tIns="0" rIns="0" bIns="0" rtlCol="0" anchor="t"/>
          <a:lstStyle/>
          <a:p>
            <a:pPr indent="0" marL="0">
              <a:buNone/>
            </a:pPr>
            <a:r>
              <a:rPr lang="en-US" sz="3400" dirty="0">
                <a:solidFill>
                  <a:srgbClr val="FFFFFF"/>
                </a:solidFill>
                <a:latin typeface="Cambria" pitchFamily="34" charset="0"/>
                <a:ea typeface="Cambria" pitchFamily="34" charset="-122"/>
                <a:cs typeface="Cambria" pitchFamily="34" charset="-120"/>
              </a:rPr>
              <a:t>Celine</a:t>
            </a:r>
            <a:endParaRPr lang="en-US" sz="3400" dirty="0"/>
          </a:p>
        </p:txBody>
      </p:sp>
      <p:sp>
        <p:nvSpPr>
          <p:cNvPr id="5" name="Text 2"/>
          <p:cNvSpPr txBox="1"/>
          <p:nvPr/>
        </p:nvSpPr>
        <p:spPr>
          <a:xfrm>
            <a:off x="6309360" y="1828800"/>
            <a:ext cx="5242255" cy="365760"/>
          </a:xfrm>
          <a:prstGeom prst="rect">
            <a:avLst/>
          </a:prstGeom>
          <a:noFill/>
          <a:ln/>
        </p:spPr>
        <p:txBody>
          <a:bodyPr wrap="square" lIns="0" tIns="0" rIns="0" bIns="0" rtlCol="0" anchor="t"/>
          <a:lstStyle/>
          <a:p>
            <a:pPr indent="0" marL="0">
              <a:lnSpc>
                <a:spcPct val="115000"/>
              </a:lnSpc>
              <a:spcAft>
                <a:spcPts val="600"/>
              </a:spcAft>
              <a:buNone/>
            </a:pPr>
            <a:r>
              <a:rPr lang="en-US" sz="1300" i="1" dirty="0">
                <a:solidFill>
                  <a:srgbClr val="A9ACAE"/>
                </a:solidFill>
                <a:latin typeface="Arial" pitchFamily="34" charset="0"/>
                <a:ea typeface="Arial" pitchFamily="34" charset="-122"/>
                <a:cs typeface="Arial" pitchFamily="34" charset="-120"/>
              </a:rPr>
              <a:t>Campagna Paris, post Instagram</a:t>
            </a:r>
            <a:endParaRPr lang="en-US" sz="1300" dirty="0"/>
          </a:p>
        </p:txBody>
      </p:sp>
      <p:sp>
        <p:nvSpPr>
          <p:cNvPr id="6" name="Text 3"/>
          <p:cNvSpPr txBox="1"/>
          <p:nvPr/>
        </p:nvSpPr>
        <p:spPr>
          <a:xfrm>
            <a:off x="6309360" y="2514600"/>
            <a:ext cx="5486400" cy="274320"/>
          </a:xfrm>
          <a:prstGeom prst="rect">
            <a:avLst/>
          </a:prstGeom>
          <a:noFill/>
          <a:ln/>
        </p:spPr>
        <p:txBody>
          <a:bodyPr wrap="square" lIns="0" tIns="0" rIns="0" bIns="0" rtlCol="0" anchor="ctr"/>
          <a:lstStyle/>
          <a:p>
            <a:pPr indent="0" marL="0">
              <a:buNone/>
            </a:pPr>
            <a:r>
              <a:rPr lang="en-US" sz="1000" spc="400" kern="0" dirty="0">
                <a:solidFill>
                  <a:srgbClr val="A8875A"/>
                </a:solidFill>
                <a:latin typeface="Arial" pitchFamily="34" charset="0"/>
                <a:ea typeface="Arial" pitchFamily="34" charset="-122"/>
                <a:cs typeface="Arial" pitchFamily="34" charset="-120"/>
              </a:rPr>
              <a:t>COSA VEDIAMO</a:t>
            </a:r>
            <a:endParaRPr lang="en-US" sz="1000" dirty="0"/>
          </a:p>
        </p:txBody>
      </p:sp>
      <p:sp>
        <p:nvSpPr>
          <p:cNvPr id="7" name="Text 4"/>
          <p:cNvSpPr txBox="1"/>
          <p:nvPr/>
        </p:nvSpPr>
        <p:spPr>
          <a:xfrm>
            <a:off x="6309360" y="2834640"/>
            <a:ext cx="5242255" cy="1280160"/>
          </a:xfrm>
          <a:prstGeom prst="rect">
            <a:avLst/>
          </a:prstGeom>
          <a:noFill/>
          <a:ln/>
        </p:spPr>
        <p:txBody>
          <a:bodyPr wrap="square" lIns="0" tIns="0" rIns="0" bIns="0" rtlCol="0" anchor="t"/>
          <a:lstStyle/>
          <a:p>
            <a:pPr indent="0" marL="0">
              <a:lnSpc>
                <a:spcPct val="115000"/>
              </a:lnSpc>
              <a:spcAft>
                <a:spcPts val="600"/>
              </a:spcAft>
              <a:buNone/>
            </a:pPr>
            <a:r>
              <a:rPr lang="en-US" sz="1350" dirty="0">
                <a:solidFill>
                  <a:srgbClr val="DCDDDC"/>
                </a:solidFill>
                <a:latin typeface="Arial" pitchFamily="34" charset="0"/>
                <a:ea typeface="Arial" pitchFamily="34" charset="-122"/>
                <a:cs typeface="Arial" pitchFamily="34" charset="-120"/>
              </a:rPr>
              <a:t>Bianco e nero crudo. Un passo lungo sul pavé, il cappello a secchiello nero calato sul viso, le facciate haussmanniane sullo sfondo.</a:t>
            </a:r>
            <a:endParaRPr lang="en-US" sz="1350" dirty="0"/>
          </a:p>
        </p:txBody>
      </p:sp>
      <p:sp>
        <p:nvSpPr>
          <p:cNvPr id="8" name="Text 5"/>
          <p:cNvSpPr txBox="1"/>
          <p:nvPr/>
        </p:nvSpPr>
        <p:spPr>
          <a:xfrm>
            <a:off x="6309360" y="4206240"/>
            <a:ext cx="5486400" cy="274320"/>
          </a:xfrm>
          <a:prstGeom prst="rect">
            <a:avLst/>
          </a:prstGeom>
          <a:noFill/>
          <a:ln/>
        </p:spPr>
        <p:txBody>
          <a:bodyPr wrap="square" lIns="0" tIns="0" rIns="0" bIns="0" rtlCol="0" anchor="ctr"/>
          <a:lstStyle/>
          <a:p>
            <a:pPr indent="0" marL="0">
              <a:buNone/>
            </a:pPr>
            <a:r>
              <a:rPr lang="en-US" sz="1000" spc="400" kern="0" dirty="0">
                <a:solidFill>
                  <a:srgbClr val="A8875A"/>
                </a:solidFill>
                <a:latin typeface="Arial" pitchFamily="34" charset="0"/>
                <a:ea typeface="Arial" pitchFamily="34" charset="-122"/>
                <a:cs typeface="Arial" pitchFamily="34" charset="-120"/>
              </a:rPr>
              <a:t>COSA PRENDIAMO PER TIRABASSO</a:t>
            </a:r>
            <a:endParaRPr lang="en-US" sz="1000" dirty="0"/>
          </a:p>
        </p:txBody>
      </p:sp>
      <p:sp>
        <p:nvSpPr>
          <p:cNvPr id="9" name="Text 6"/>
          <p:cNvSpPr txBox="1"/>
          <p:nvPr/>
        </p:nvSpPr>
        <p:spPr>
          <a:xfrm>
            <a:off x="6309360" y="4526280"/>
            <a:ext cx="5242255" cy="182880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Il passo deciso, la figura colta a metà movimento</a:t>
            </a:r>
            <a:endParaRPr lang="en-US" sz="1350" dirty="0"/>
          </a:p>
          <a:p>
            <a:pPr marL="177800" indent="-1778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Il bianco e nero per una parte della serie</a:t>
            </a:r>
            <a:endParaRPr lang="en-US" sz="1350" dirty="0"/>
          </a:p>
          <a:p>
            <a:pPr marL="177800" indent="-1778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Il cappello scuro come segno grafico</a:t>
            </a:r>
            <a:endParaRPr lang="en-US" sz="1350" dirty="0"/>
          </a:p>
        </p:txBody>
      </p:sp>
      <p:sp>
        <p:nvSpPr>
          <p:cNvPr id="10" name="Text 7"/>
          <p:cNvSpPr txBox="1"/>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8A8D90"/>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023"/>
        </a:solidFill>
      </p:bgPr>
    </p:bg>
    <p:spTree>
      <p:nvGrpSpPr>
        <p:cNvPr id="1" name=""/>
        <p:cNvGrpSpPr/>
        <p:nvPr/>
      </p:nvGrpSpPr>
      <p:grpSpPr>
        <a:xfrm>
          <a:off x="0" y="0"/>
          <a:ext cx="0" cy="0"/>
          <a:chOff x="0" y="0"/>
          <a:chExt cx="0" cy="0"/>
        </a:xfrm>
      </p:grpSpPr>
      <p:pic>
        <p:nvPicPr>
          <p:cNvPr id="2" name="Image 0" descr="img/cucinelli.jpg">    </p:cNvPr>
          <p:cNvPicPr>
            <a:picLocks noChangeAspect="1"/>
          </p:cNvPicPr>
          <p:nvPr/>
        </p:nvPicPr>
        <p:blipFill>
          <a:blip r:embed="rId1"/>
          <a:srcRect l="0" r="0" t="14076" b="17204"/>
          <a:stretch/>
        </p:blipFill>
        <p:spPr>
          <a:xfrm>
            <a:off x="0" y="0"/>
            <a:ext cx="5669280" cy="6858000"/>
          </a:xfrm>
          <a:prstGeom prst="rect">
            <a:avLst/>
          </a:prstGeom>
        </p:spPr>
      </p:pic>
      <p:sp>
        <p:nvSpPr>
          <p:cNvPr id="3" name="Text 0"/>
          <p:cNvSpPr txBox="1"/>
          <p:nvPr/>
        </p:nvSpPr>
        <p:spPr>
          <a:xfrm>
            <a:off x="6309360" y="731520"/>
            <a:ext cx="5486400" cy="274320"/>
          </a:xfrm>
          <a:prstGeom prst="rect">
            <a:avLst/>
          </a:prstGeom>
          <a:noFill/>
          <a:ln/>
        </p:spPr>
        <p:txBody>
          <a:bodyPr wrap="square" lIns="0" tIns="0" rIns="0" bIns="0" rtlCol="0" anchor="ctr"/>
          <a:lstStyle/>
          <a:p>
            <a:pPr indent="0" marL="0">
              <a:buNone/>
            </a:pPr>
            <a:r>
              <a:rPr lang="en-US" sz="1000" spc="400" kern="0" dirty="0">
                <a:solidFill>
                  <a:srgbClr val="A9ACAE"/>
                </a:solidFill>
                <a:latin typeface="Arial" pitchFamily="34" charset="0"/>
                <a:ea typeface="Arial" pitchFamily="34" charset="-122"/>
                <a:cs typeface="Arial" pitchFamily="34" charset="-120"/>
              </a:rPr>
              <a:t>RIFERIMENTO</a:t>
            </a:r>
            <a:endParaRPr lang="en-US" sz="1000" dirty="0"/>
          </a:p>
        </p:txBody>
      </p:sp>
      <p:sp>
        <p:nvSpPr>
          <p:cNvPr id="4" name="Text 1"/>
          <p:cNvSpPr txBox="1"/>
          <p:nvPr/>
        </p:nvSpPr>
        <p:spPr>
          <a:xfrm>
            <a:off x="6309360" y="1097280"/>
            <a:ext cx="5242255" cy="731520"/>
          </a:xfrm>
          <a:prstGeom prst="rect">
            <a:avLst/>
          </a:prstGeom>
          <a:noFill/>
          <a:ln/>
        </p:spPr>
        <p:txBody>
          <a:bodyPr wrap="square" lIns="0" tIns="0" rIns="0" bIns="0" rtlCol="0" anchor="t"/>
          <a:lstStyle/>
          <a:p>
            <a:pPr indent="0" marL="0">
              <a:buNone/>
            </a:pPr>
            <a:r>
              <a:rPr lang="en-US" sz="3400" dirty="0">
                <a:solidFill>
                  <a:srgbClr val="FFFFFF"/>
                </a:solidFill>
                <a:latin typeface="Cambria" pitchFamily="34" charset="0"/>
                <a:ea typeface="Cambria" pitchFamily="34" charset="-122"/>
                <a:cs typeface="Cambria" pitchFamily="34" charset="-120"/>
              </a:rPr>
              <a:t>Brunello Cucinelli</a:t>
            </a:r>
            <a:endParaRPr lang="en-US" sz="3400" dirty="0"/>
          </a:p>
        </p:txBody>
      </p:sp>
      <p:sp>
        <p:nvSpPr>
          <p:cNvPr id="5" name="Text 2"/>
          <p:cNvSpPr txBox="1"/>
          <p:nvPr/>
        </p:nvSpPr>
        <p:spPr>
          <a:xfrm>
            <a:off x="6309360" y="1828800"/>
            <a:ext cx="5242255" cy="365760"/>
          </a:xfrm>
          <a:prstGeom prst="rect">
            <a:avLst/>
          </a:prstGeom>
          <a:noFill/>
          <a:ln/>
        </p:spPr>
        <p:txBody>
          <a:bodyPr wrap="square" lIns="0" tIns="0" rIns="0" bIns="0" rtlCol="0" anchor="t"/>
          <a:lstStyle/>
          <a:p>
            <a:pPr indent="0" marL="0">
              <a:lnSpc>
                <a:spcPct val="115000"/>
              </a:lnSpc>
              <a:spcAft>
                <a:spcPts val="600"/>
              </a:spcAft>
              <a:buNone/>
            </a:pPr>
            <a:r>
              <a:rPr lang="en-US" sz="1300" i="1" dirty="0">
                <a:solidFill>
                  <a:srgbClr val="A9ACAE"/>
                </a:solidFill>
                <a:latin typeface="Arial" pitchFamily="34" charset="0"/>
                <a:ea typeface="Arial" pitchFamily="34" charset="-122"/>
                <a:cs typeface="Arial" pitchFamily="34" charset="-120"/>
              </a:rPr>
              <a:t>Sartorial bucket bag, Instagram, agosto 2026</a:t>
            </a:r>
            <a:endParaRPr lang="en-US" sz="1300" dirty="0"/>
          </a:p>
        </p:txBody>
      </p:sp>
      <p:sp>
        <p:nvSpPr>
          <p:cNvPr id="6" name="Text 3"/>
          <p:cNvSpPr txBox="1"/>
          <p:nvPr/>
        </p:nvSpPr>
        <p:spPr>
          <a:xfrm>
            <a:off x="6309360" y="2514600"/>
            <a:ext cx="5486400" cy="274320"/>
          </a:xfrm>
          <a:prstGeom prst="rect">
            <a:avLst/>
          </a:prstGeom>
          <a:noFill/>
          <a:ln/>
        </p:spPr>
        <p:txBody>
          <a:bodyPr wrap="square" lIns="0" tIns="0" rIns="0" bIns="0" rtlCol="0" anchor="ctr"/>
          <a:lstStyle/>
          <a:p>
            <a:pPr indent="0" marL="0">
              <a:buNone/>
            </a:pPr>
            <a:r>
              <a:rPr lang="en-US" sz="1000" spc="400" kern="0" dirty="0">
                <a:solidFill>
                  <a:srgbClr val="A8875A"/>
                </a:solidFill>
                <a:latin typeface="Arial" pitchFamily="34" charset="0"/>
                <a:ea typeface="Arial" pitchFamily="34" charset="-122"/>
                <a:cs typeface="Arial" pitchFamily="34" charset="-120"/>
              </a:rPr>
              <a:t>COSA VEDIAMO</a:t>
            </a:r>
            <a:endParaRPr lang="en-US" sz="1000" dirty="0"/>
          </a:p>
        </p:txBody>
      </p:sp>
      <p:sp>
        <p:nvSpPr>
          <p:cNvPr id="7" name="Text 4"/>
          <p:cNvSpPr txBox="1"/>
          <p:nvPr/>
        </p:nvSpPr>
        <p:spPr>
          <a:xfrm>
            <a:off x="6309360" y="2834640"/>
            <a:ext cx="5242255" cy="1280160"/>
          </a:xfrm>
          <a:prstGeom prst="rect">
            <a:avLst/>
          </a:prstGeom>
          <a:noFill/>
          <a:ln/>
        </p:spPr>
        <p:txBody>
          <a:bodyPr wrap="square" lIns="0" tIns="0" rIns="0" bIns="0" rtlCol="0" anchor="t"/>
          <a:lstStyle/>
          <a:p>
            <a:pPr indent="0" marL="0">
              <a:lnSpc>
                <a:spcPct val="115000"/>
              </a:lnSpc>
              <a:spcAft>
                <a:spcPts val="600"/>
              </a:spcAft>
              <a:buNone/>
            </a:pPr>
            <a:r>
              <a:rPr lang="en-US" sz="1350" dirty="0">
                <a:solidFill>
                  <a:srgbClr val="DCDDDC"/>
                </a:solidFill>
                <a:latin typeface="Arial" pitchFamily="34" charset="0"/>
                <a:ea typeface="Arial" pitchFamily="34" charset="-122"/>
                <a:cs typeface="Arial" pitchFamily="34" charset="-120"/>
              </a:rPr>
              <a:t>Due donne in un ascensore rivestito in legno. Un momento sospeso e quotidiano (le cuffie, un caffè da portare via) ma ricchissimo nei materiali.</a:t>
            </a:r>
            <a:endParaRPr lang="en-US" sz="1350" dirty="0"/>
          </a:p>
        </p:txBody>
      </p:sp>
      <p:sp>
        <p:nvSpPr>
          <p:cNvPr id="8" name="Text 5"/>
          <p:cNvSpPr txBox="1"/>
          <p:nvPr/>
        </p:nvSpPr>
        <p:spPr>
          <a:xfrm>
            <a:off x="6309360" y="4206240"/>
            <a:ext cx="5486400" cy="274320"/>
          </a:xfrm>
          <a:prstGeom prst="rect">
            <a:avLst/>
          </a:prstGeom>
          <a:noFill/>
          <a:ln/>
        </p:spPr>
        <p:txBody>
          <a:bodyPr wrap="square" lIns="0" tIns="0" rIns="0" bIns="0" rtlCol="0" anchor="ctr"/>
          <a:lstStyle/>
          <a:p>
            <a:pPr indent="0" marL="0">
              <a:buNone/>
            </a:pPr>
            <a:r>
              <a:rPr lang="en-US" sz="1000" spc="400" kern="0" dirty="0">
                <a:solidFill>
                  <a:srgbClr val="A8875A"/>
                </a:solidFill>
                <a:latin typeface="Arial" pitchFamily="34" charset="0"/>
                <a:ea typeface="Arial" pitchFamily="34" charset="-122"/>
                <a:cs typeface="Arial" pitchFamily="34" charset="-120"/>
              </a:rPr>
              <a:t>COSA PRENDIAMO PER TIRABASSO</a:t>
            </a:r>
            <a:endParaRPr lang="en-US" sz="1000" dirty="0"/>
          </a:p>
        </p:txBody>
      </p:sp>
      <p:sp>
        <p:nvSpPr>
          <p:cNvPr id="9" name="Text 6"/>
          <p:cNvSpPr txBox="1"/>
          <p:nvPr/>
        </p:nvSpPr>
        <p:spPr>
          <a:xfrm>
            <a:off x="6309360" y="4526280"/>
            <a:ext cx="5242255" cy="182880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La scena dell’ascensore elegante</a:t>
            </a:r>
            <a:endParaRPr lang="en-US" sz="1350" dirty="0"/>
          </a:p>
          <a:p>
            <a:pPr marL="177800" indent="-1778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Il calore degli interni contro il grigio della strada</a:t>
            </a:r>
            <a:endParaRPr lang="en-US" sz="1350" dirty="0"/>
          </a:p>
          <a:p>
            <a:pPr marL="177800" indent="-1778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Uno styling ricco di texture: maglia, feltro, pelle</a:t>
            </a:r>
            <a:endParaRPr lang="en-US" sz="1350" dirty="0"/>
          </a:p>
        </p:txBody>
      </p:sp>
      <p:sp>
        <p:nvSpPr>
          <p:cNvPr id="10" name="Text 7"/>
          <p:cNvSpPr txBox="1"/>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8A8D90"/>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023"/>
        </a:solidFill>
      </p:bgPr>
    </p:bg>
    <p:spTree>
      <p:nvGrpSpPr>
        <p:cNvPr id="1" name=""/>
        <p:cNvGrpSpPr/>
        <p:nvPr/>
      </p:nvGrpSpPr>
      <p:grpSpPr>
        <a:xfrm>
          <a:off x="0" y="0"/>
          <a:ext cx="0" cy="0"/>
          <a:chOff x="0" y="0"/>
          <a:chExt cx="0" cy="0"/>
        </a:xfrm>
      </p:grpSpPr>
      <p:pic>
        <p:nvPicPr>
          <p:cNvPr id="2" name="Image 0" descr="img/bors_9.jpg">    </p:cNvPr>
          <p:cNvPicPr>
            <a:picLocks noChangeAspect="1"/>
          </p:cNvPicPr>
          <p:nvPr/>
        </p:nvPicPr>
        <p:blipFill>
          <a:blip r:embed="rId1"/>
          <a:srcRect l="26296" r="26296" t="0" b="0"/>
          <a:stretch/>
        </p:blipFill>
        <p:spPr>
          <a:xfrm>
            <a:off x="0" y="0"/>
            <a:ext cx="1828800" cy="6858000"/>
          </a:xfrm>
          <a:prstGeom prst="rect">
            <a:avLst/>
          </a:prstGeom>
        </p:spPr>
      </p:pic>
      <p:pic>
        <p:nvPicPr>
          <p:cNvPr id="3" name="Image 1" descr="img/bors_13.jpg">    </p:cNvPr>
          <p:cNvPicPr>
            <a:picLocks noChangeAspect="1"/>
          </p:cNvPicPr>
          <p:nvPr/>
        </p:nvPicPr>
        <p:blipFill>
          <a:blip r:embed="rId2"/>
          <a:srcRect l="26296" r="26296" t="0" b="0"/>
          <a:stretch/>
        </p:blipFill>
        <p:spPr>
          <a:xfrm>
            <a:off x="1920240" y="0"/>
            <a:ext cx="1828800" cy="6858000"/>
          </a:xfrm>
          <a:prstGeom prst="rect">
            <a:avLst/>
          </a:prstGeom>
        </p:spPr>
      </p:pic>
      <p:pic>
        <p:nvPicPr>
          <p:cNvPr id="4" name="Image 2" descr="img/bors_16.jpg">    </p:cNvPr>
          <p:cNvPicPr>
            <a:picLocks noChangeAspect="1"/>
          </p:cNvPicPr>
          <p:nvPr/>
        </p:nvPicPr>
        <p:blipFill>
          <a:blip r:embed="rId3"/>
          <a:srcRect l="26296" r="26296" t="0" b="0"/>
          <a:stretch/>
        </p:blipFill>
        <p:spPr>
          <a:xfrm>
            <a:off x="3840480" y="0"/>
            <a:ext cx="1828800" cy="6858000"/>
          </a:xfrm>
          <a:prstGeom prst="rect">
            <a:avLst/>
          </a:prstGeom>
        </p:spPr>
      </p:pic>
      <p:sp>
        <p:nvSpPr>
          <p:cNvPr id="5" name="Text 0"/>
          <p:cNvSpPr txBox="1"/>
          <p:nvPr/>
        </p:nvSpPr>
        <p:spPr>
          <a:xfrm>
            <a:off x="6309360" y="731520"/>
            <a:ext cx="5486400" cy="274320"/>
          </a:xfrm>
          <a:prstGeom prst="rect">
            <a:avLst/>
          </a:prstGeom>
          <a:noFill/>
          <a:ln/>
        </p:spPr>
        <p:txBody>
          <a:bodyPr wrap="square" lIns="0" tIns="0" rIns="0" bIns="0" rtlCol="0" anchor="ctr"/>
          <a:lstStyle/>
          <a:p>
            <a:pPr indent="0" marL="0">
              <a:buNone/>
            </a:pPr>
            <a:r>
              <a:rPr lang="en-US" sz="1000" spc="400" kern="0" dirty="0">
                <a:solidFill>
                  <a:srgbClr val="A9ACAE"/>
                </a:solidFill>
                <a:latin typeface="Arial" pitchFamily="34" charset="0"/>
                <a:ea typeface="Arial" pitchFamily="34" charset="-122"/>
                <a:cs typeface="Arial" pitchFamily="34" charset="-120"/>
              </a:rPr>
              <a:t>RIFERIMENTO</a:t>
            </a:r>
            <a:endParaRPr lang="en-US" sz="1000" dirty="0"/>
          </a:p>
        </p:txBody>
      </p:sp>
      <p:sp>
        <p:nvSpPr>
          <p:cNvPr id="6" name="Text 1"/>
          <p:cNvSpPr txBox="1"/>
          <p:nvPr/>
        </p:nvSpPr>
        <p:spPr>
          <a:xfrm>
            <a:off x="6309360" y="1097280"/>
            <a:ext cx="5242255" cy="731520"/>
          </a:xfrm>
          <a:prstGeom prst="rect">
            <a:avLst/>
          </a:prstGeom>
          <a:noFill/>
          <a:ln/>
        </p:spPr>
        <p:txBody>
          <a:bodyPr wrap="square" lIns="0" tIns="0" rIns="0" bIns="0" rtlCol="0" anchor="t"/>
          <a:lstStyle/>
          <a:p>
            <a:pPr indent="0" marL="0">
              <a:buNone/>
            </a:pPr>
            <a:r>
              <a:rPr lang="en-US" sz="3400" dirty="0">
                <a:solidFill>
                  <a:srgbClr val="FFFFFF"/>
                </a:solidFill>
                <a:latin typeface="Cambria" pitchFamily="34" charset="0"/>
                <a:ea typeface="Cambria" pitchFamily="34" charset="-122"/>
                <a:cs typeface="Cambria" pitchFamily="34" charset="-120"/>
              </a:rPr>
              <a:t>Borsalino</a:t>
            </a:r>
            <a:endParaRPr lang="en-US" sz="3400" dirty="0"/>
          </a:p>
        </p:txBody>
      </p:sp>
      <p:sp>
        <p:nvSpPr>
          <p:cNvPr id="7" name="Text 2"/>
          <p:cNvSpPr txBox="1"/>
          <p:nvPr/>
        </p:nvSpPr>
        <p:spPr>
          <a:xfrm>
            <a:off x="6309360" y="1828800"/>
            <a:ext cx="5242255" cy="365760"/>
          </a:xfrm>
          <a:prstGeom prst="rect">
            <a:avLst/>
          </a:prstGeom>
          <a:noFill/>
          <a:ln/>
        </p:spPr>
        <p:txBody>
          <a:bodyPr wrap="square" lIns="0" tIns="0" rIns="0" bIns="0" rtlCol="0" anchor="t"/>
          <a:lstStyle/>
          <a:p>
            <a:pPr indent="0" marL="0">
              <a:lnSpc>
                <a:spcPct val="115000"/>
              </a:lnSpc>
              <a:spcAft>
                <a:spcPts val="600"/>
              </a:spcAft>
              <a:buNone/>
            </a:pPr>
            <a:r>
              <a:rPr lang="en-US" sz="1300" i="1" dirty="0">
                <a:solidFill>
                  <a:srgbClr val="A9ACAE"/>
                </a:solidFill>
                <a:latin typeface="Arial" pitchFamily="34" charset="0"/>
                <a:ea typeface="Arial" pitchFamily="34" charset="-122"/>
                <a:cs typeface="Arial" pitchFamily="34" charset="-120"/>
              </a:rPr>
              <a:t>Fluid Line, film Instagram</a:t>
            </a:r>
            <a:endParaRPr lang="en-US" sz="1300" dirty="0"/>
          </a:p>
        </p:txBody>
      </p:sp>
      <p:sp>
        <p:nvSpPr>
          <p:cNvPr id="8" name="Text 3"/>
          <p:cNvSpPr txBox="1"/>
          <p:nvPr/>
        </p:nvSpPr>
        <p:spPr>
          <a:xfrm>
            <a:off x="6309360" y="2514600"/>
            <a:ext cx="5486400" cy="274320"/>
          </a:xfrm>
          <a:prstGeom prst="rect">
            <a:avLst/>
          </a:prstGeom>
          <a:noFill/>
          <a:ln/>
        </p:spPr>
        <p:txBody>
          <a:bodyPr wrap="square" lIns="0" tIns="0" rIns="0" bIns="0" rtlCol="0" anchor="ctr"/>
          <a:lstStyle/>
          <a:p>
            <a:pPr indent="0" marL="0">
              <a:buNone/>
            </a:pPr>
            <a:r>
              <a:rPr lang="en-US" sz="1000" spc="400" kern="0" dirty="0">
                <a:solidFill>
                  <a:srgbClr val="A8875A"/>
                </a:solidFill>
                <a:latin typeface="Arial" pitchFamily="34" charset="0"/>
                <a:ea typeface="Arial" pitchFamily="34" charset="-122"/>
                <a:cs typeface="Arial" pitchFamily="34" charset="-120"/>
              </a:rPr>
              <a:t>COSA VEDIAMO</a:t>
            </a:r>
            <a:endParaRPr lang="en-US" sz="1000" dirty="0"/>
          </a:p>
        </p:txBody>
      </p:sp>
      <p:sp>
        <p:nvSpPr>
          <p:cNvPr id="9" name="Text 4"/>
          <p:cNvSpPr txBox="1"/>
          <p:nvPr/>
        </p:nvSpPr>
        <p:spPr>
          <a:xfrm>
            <a:off x="6309360" y="2834640"/>
            <a:ext cx="5242255" cy="1280160"/>
          </a:xfrm>
          <a:prstGeom prst="rect">
            <a:avLst/>
          </a:prstGeom>
          <a:noFill/>
          <a:ln/>
        </p:spPr>
        <p:txBody>
          <a:bodyPr wrap="square" lIns="0" tIns="0" rIns="0" bIns="0" rtlCol="0" anchor="t"/>
          <a:lstStyle/>
          <a:p>
            <a:pPr indent="0" marL="0">
              <a:lnSpc>
                <a:spcPct val="115000"/>
              </a:lnSpc>
              <a:spcAft>
                <a:spcPts val="600"/>
              </a:spcAft>
              <a:buNone/>
            </a:pPr>
            <a:r>
              <a:rPr lang="en-US" sz="1350" dirty="0">
                <a:solidFill>
                  <a:srgbClr val="DCDDDC"/>
                </a:solidFill>
                <a:latin typeface="Arial" pitchFamily="34" charset="0"/>
                <a:ea typeface="Arial" pitchFamily="34" charset="-122"/>
                <a:cs typeface="Arial" pitchFamily="34" charset="-120"/>
              </a:rPr>
              <a:t>Un film costruito per frammenti: tetti di Parigi, un semaforo, luci sfocate, l’accessorio in mano mentre si cammina. Il volto quasi non compare.</a:t>
            </a:r>
            <a:endParaRPr lang="en-US" sz="1350" dirty="0"/>
          </a:p>
        </p:txBody>
      </p:sp>
      <p:sp>
        <p:nvSpPr>
          <p:cNvPr id="10" name="Text 5"/>
          <p:cNvSpPr txBox="1"/>
          <p:nvPr/>
        </p:nvSpPr>
        <p:spPr>
          <a:xfrm>
            <a:off x="6309360" y="4206240"/>
            <a:ext cx="5486400" cy="274320"/>
          </a:xfrm>
          <a:prstGeom prst="rect">
            <a:avLst/>
          </a:prstGeom>
          <a:noFill/>
          <a:ln/>
        </p:spPr>
        <p:txBody>
          <a:bodyPr wrap="square" lIns="0" tIns="0" rIns="0" bIns="0" rtlCol="0" anchor="ctr"/>
          <a:lstStyle/>
          <a:p>
            <a:pPr indent="0" marL="0">
              <a:buNone/>
            </a:pPr>
            <a:r>
              <a:rPr lang="en-US" sz="1000" spc="400" kern="0" dirty="0">
                <a:solidFill>
                  <a:srgbClr val="A8875A"/>
                </a:solidFill>
                <a:latin typeface="Arial" pitchFamily="34" charset="0"/>
                <a:ea typeface="Arial" pitchFamily="34" charset="-122"/>
                <a:cs typeface="Arial" pitchFamily="34" charset="-120"/>
              </a:rPr>
              <a:t>COSA PRENDIAMO PER TIRABASSO</a:t>
            </a:r>
            <a:endParaRPr lang="en-US" sz="1000" dirty="0"/>
          </a:p>
        </p:txBody>
      </p:sp>
      <p:sp>
        <p:nvSpPr>
          <p:cNvPr id="11" name="Text 6"/>
          <p:cNvSpPr txBox="1"/>
          <p:nvPr/>
        </p:nvSpPr>
        <p:spPr>
          <a:xfrm>
            <a:off x="6309360" y="4526280"/>
            <a:ext cx="5242255" cy="182880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Il montaggio per frammenti per film e reel</a:t>
            </a:r>
            <a:endParaRPr lang="en-US" sz="1350" dirty="0"/>
          </a:p>
          <a:p>
            <a:pPr marL="177800" indent="-1778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Inquadrature strette sul cappello in movimento</a:t>
            </a:r>
            <a:endParaRPr lang="en-US" sz="1350" dirty="0"/>
          </a:p>
          <a:p>
            <a:pPr marL="177800" indent="-177800">
              <a:spcAft>
                <a:spcPts val="600"/>
              </a:spcAft>
              <a:buSzPct val="100000"/>
              <a:buChar char="•"/>
            </a:pPr>
            <a:r>
              <a:rPr lang="en-US" sz="1350" dirty="0">
                <a:solidFill>
                  <a:srgbClr val="FFFFFF"/>
                </a:solidFill>
                <a:latin typeface="Arial" pitchFamily="34" charset="0"/>
                <a:ea typeface="Arial" pitchFamily="34" charset="-122"/>
                <a:cs typeface="Arial" pitchFamily="34" charset="-120"/>
              </a:rPr>
              <a:t>Grana cinematografica e colori freddi</a:t>
            </a:r>
            <a:endParaRPr lang="en-US" sz="1350" dirty="0"/>
          </a:p>
        </p:txBody>
      </p:sp>
      <p:sp>
        <p:nvSpPr>
          <p:cNvPr id="12" name="Text 7"/>
          <p:cNvSpPr txBox="1"/>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8A8D90"/>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023"/>
        </a:solidFill>
      </p:bgPr>
    </p:bg>
    <p:spTree>
      <p:nvGrpSpPr>
        <p:cNvPr id="1" name=""/>
        <p:cNvGrpSpPr/>
        <p:nvPr/>
      </p:nvGrpSpPr>
      <p:grpSpPr>
        <a:xfrm>
          <a:off x="0" y="0"/>
          <a:ext cx="0" cy="0"/>
          <a:chOff x="0" y="0"/>
          <a:chExt cx="0" cy="0"/>
        </a:xfrm>
      </p:grpSpPr>
      <p:pic>
        <p:nvPicPr>
          <p:cNvPr id="2" name="Image 0" descr="img/nb_thumb.jpg">    </p:cNvPr>
          <p:cNvPicPr>
            <a:picLocks noChangeAspect="1"/>
          </p:cNvPicPr>
          <p:nvPr/>
        </p:nvPicPr>
        <p:blipFill>
          <a:blip r:embed="rId1"/>
          <a:srcRect l="5074" r="5074" t="0" b="0"/>
          <a:stretch/>
        </p:blipFill>
        <p:spPr>
          <a:xfrm>
            <a:off x="0" y="0"/>
            <a:ext cx="3474720" cy="6858000"/>
          </a:xfrm>
          <a:prstGeom prst="rect">
            <a:avLst/>
          </a:prstGeom>
        </p:spPr>
      </p:pic>
      <p:pic>
        <p:nvPicPr>
          <p:cNvPr id="3" name="Image 1" descr="img/nb_5.3.jpg">    </p:cNvPr>
          <p:cNvPicPr>
            <a:picLocks noChangeAspect="1"/>
          </p:cNvPicPr>
          <p:nvPr/>
        </p:nvPicPr>
        <p:blipFill>
          <a:blip r:embed="rId2"/>
          <a:srcRect l="0" r="0" t="4755" b="4755"/>
          <a:stretch/>
        </p:blipFill>
        <p:spPr>
          <a:xfrm>
            <a:off x="3566160" y="0"/>
            <a:ext cx="2103120" cy="3383280"/>
          </a:xfrm>
          <a:prstGeom prst="rect">
            <a:avLst/>
          </a:prstGeom>
        </p:spPr>
      </p:pic>
      <p:pic>
        <p:nvPicPr>
          <p:cNvPr id="4" name="Image 2" descr="img/nb_11.5.jpg">    </p:cNvPr>
          <p:cNvPicPr>
            <a:picLocks noChangeAspect="1"/>
          </p:cNvPicPr>
          <p:nvPr/>
        </p:nvPicPr>
        <p:blipFill>
          <a:blip r:embed="rId3"/>
          <a:srcRect l="0" r="0" t="4280" b="5231"/>
          <a:stretch/>
        </p:blipFill>
        <p:spPr>
          <a:xfrm>
            <a:off x="3566160" y="3474720"/>
            <a:ext cx="2103120" cy="3383280"/>
          </a:xfrm>
          <a:prstGeom prst="rect">
            <a:avLst/>
          </a:prstGeom>
        </p:spPr>
      </p:pic>
      <p:sp>
        <p:nvSpPr>
          <p:cNvPr id="5" name="Text 0"/>
          <p:cNvSpPr txBox="1"/>
          <p:nvPr/>
        </p:nvSpPr>
        <p:spPr>
          <a:xfrm>
            <a:off x="6309360" y="548640"/>
            <a:ext cx="5486400" cy="274320"/>
          </a:xfrm>
          <a:prstGeom prst="rect">
            <a:avLst/>
          </a:prstGeom>
          <a:noFill/>
          <a:ln/>
        </p:spPr>
        <p:txBody>
          <a:bodyPr wrap="square" lIns="0" tIns="0" rIns="0" bIns="0" rtlCol="0" anchor="ctr"/>
          <a:lstStyle/>
          <a:p>
            <a:pPr indent="0" marL="0">
              <a:buNone/>
            </a:pPr>
            <a:r>
              <a:rPr lang="en-US" sz="1000" spc="400" kern="0" dirty="0">
                <a:solidFill>
                  <a:srgbClr val="A9ACAE"/>
                </a:solidFill>
                <a:latin typeface="Arial" pitchFamily="34" charset="0"/>
                <a:ea typeface="Arial" pitchFamily="34" charset="-122"/>
                <a:cs typeface="Arial" pitchFamily="34" charset="-120"/>
              </a:rPr>
              <a:t>RIFERIMENTO</a:t>
            </a:r>
            <a:endParaRPr lang="en-US" sz="1000" dirty="0"/>
          </a:p>
        </p:txBody>
      </p:sp>
      <p:sp>
        <p:nvSpPr>
          <p:cNvPr id="6" name="Text 1"/>
          <p:cNvSpPr txBox="1"/>
          <p:nvPr/>
        </p:nvSpPr>
        <p:spPr>
          <a:xfrm>
            <a:off x="6309360" y="868680"/>
            <a:ext cx="5242255" cy="731520"/>
          </a:xfrm>
          <a:prstGeom prst="rect">
            <a:avLst/>
          </a:prstGeom>
          <a:noFill/>
          <a:ln/>
        </p:spPr>
        <p:txBody>
          <a:bodyPr wrap="square" lIns="0" tIns="0" rIns="0" bIns="0" rtlCol="0" anchor="t"/>
          <a:lstStyle/>
          <a:p>
            <a:pPr indent="0" marL="0">
              <a:buNone/>
            </a:pPr>
            <a:r>
              <a:rPr lang="en-US" sz="3400" dirty="0">
                <a:solidFill>
                  <a:srgbClr val="FFFFFF"/>
                </a:solidFill>
                <a:latin typeface="Cambria" pitchFamily="34" charset="0"/>
                <a:ea typeface="Cambria" pitchFamily="34" charset="-122"/>
                <a:cs typeface="Cambria" pitchFamily="34" charset="-120"/>
              </a:rPr>
              <a:t>Natali Bolgar</a:t>
            </a:r>
            <a:endParaRPr lang="en-US" sz="3400" dirty="0"/>
          </a:p>
        </p:txBody>
      </p:sp>
      <p:sp>
        <p:nvSpPr>
          <p:cNvPr id="7" name="Text 2"/>
          <p:cNvSpPr txBox="1"/>
          <p:nvPr/>
        </p:nvSpPr>
        <p:spPr>
          <a:xfrm>
            <a:off x="6309360" y="1554480"/>
            <a:ext cx="5242255" cy="365760"/>
          </a:xfrm>
          <a:prstGeom prst="rect">
            <a:avLst/>
          </a:prstGeom>
          <a:noFill/>
          <a:ln/>
        </p:spPr>
        <p:txBody>
          <a:bodyPr wrap="square" lIns="0" tIns="0" rIns="0" bIns="0" rtlCol="0" anchor="t"/>
          <a:lstStyle/>
          <a:p>
            <a:pPr indent="0" marL="0">
              <a:lnSpc>
                <a:spcPct val="115000"/>
              </a:lnSpc>
              <a:spcAft>
                <a:spcPts val="600"/>
              </a:spcAft>
              <a:buNone/>
            </a:pPr>
            <a:r>
              <a:rPr lang="en-US" sz="1300" i="1" dirty="0">
                <a:solidFill>
                  <a:srgbClr val="A9ACAE"/>
                </a:solidFill>
                <a:latin typeface="Arial" pitchFamily="34" charset="0"/>
                <a:ea typeface="Arial" pitchFamily="34" charset="-122"/>
                <a:cs typeface="Arial" pitchFamily="34" charset="-120"/>
              </a:rPr>
              <a:t>Film Instagram, dal colonnato alla città</a:t>
            </a:r>
            <a:endParaRPr lang="en-US" sz="1300" dirty="0"/>
          </a:p>
        </p:txBody>
      </p:sp>
      <p:sp>
        <p:nvSpPr>
          <p:cNvPr id="8" name="Text 3"/>
          <p:cNvSpPr txBox="1"/>
          <p:nvPr/>
        </p:nvSpPr>
        <p:spPr>
          <a:xfrm>
            <a:off x="6309360" y="2103120"/>
            <a:ext cx="5486400" cy="274320"/>
          </a:xfrm>
          <a:prstGeom prst="rect">
            <a:avLst/>
          </a:prstGeom>
          <a:noFill/>
          <a:ln/>
        </p:spPr>
        <p:txBody>
          <a:bodyPr wrap="square" lIns="0" tIns="0" rIns="0" bIns="0" rtlCol="0" anchor="ctr"/>
          <a:lstStyle/>
          <a:p>
            <a:pPr indent="0" marL="0">
              <a:buNone/>
            </a:pPr>
            <a:r>
              <a:rPr lang="en-US" sz="1000" spc="400" kern="0" dirty="0">
                <a:solidFill>
                  <a:srgbClr val="A8875A"/>
                </a:solidFill>
                <a:latin typeface="Arial" pitchFamily="34" charset="0"/>
                <a:ea typeface="Arial" pitchFamily="34" charset="-122"/>
                <a:cs typeface="Arial" pitchFamily="34" charset="-120"/>
              </a:rPr>
              <a:t>COSA VEDIAMO</a:t>
            </a:r>
            <a:endParaRPr lang="en-US" sz="1000" dirty="0"/>
          </a:p>
        </p:txBody>
      </p:sp>
      <p:sp>
        <p:nvSpPr>
          <p:cNvPr id="9" name="Text 4"/>
          <p:cNvSpPr txBox="1"/>
          <p:nvPr/>
        </p:nvSpPr>
        <p:spPr>
          <a:xfrm>
            <a:off x="6309360" y="2395728"/>
            <a:ext cx="5242255" cy="914400"/>
          </a:xfrm>
          <a:prstGeom prst="rect">
            <a:avLst/>
          </a:prstGeom>
          <a:noFill/>
          <a:ln/>
        </p:spPr>
        <p:txBody>
          <a:bodyPr wrap="square" lIns="0" tIns="0" rIns="0" bIns="0" rtlCol="0" anchor="t"/>
          <a:lstStyle/>
          <a:p>
            <a:pPr indent="0" marL="0">
              <a:lnSpc>
                <a:spcPct val="115000"/>
              </a:lnSpc>
              <a:spcAft>
                <a:spcPts val="600"/>
              </a:spcAft>
              <a:buNone/>
            </a:pPr>
            <a:r>
              <a:rPr lang="en-US" sz="1250" dirty="0">
                <a:solidFill>
                  <a:srgbClr val="DCDDDC"/>
                </a:solidFill>
                <a:latin typeface="Arial" pitchFamily="34" charset="0"/>
                <a:ea typeface="Arial" pitchFamily="34" charset="-122"/>
                <a:cs typeface="Arial" pitchFamily="34" charset="-120"/>
              </a:rPr>
              <a:t>Si apre con lei che passa di corsa tra le colonne. Poi la città usata come architettura: strisce viste dall’alto, scale, un ascensore.</a:t>
            </a:r>
            <a:endParaRPr lang="en-US" sz="1250" dirty="0"/>
          </a:p>
        </p:txBody>
      </p:sp>
      <p:sp>
        <p:nvSpPr>
          <p:cNvPr id="10" name="Text 5"/>
          <p:cNvSpPr txBox="1"/>
          <p:nvPr/>
        </p:nvSpPr>
        <p:spPr>
          <a:xfrm>
            <a:off x="6309360" y="3429000"/>
            <a:ext cx="5486400" cy="274320"/>
          </a:xfrm>
          <a:prstGeom prst="rect">
            <a:avLst/>
          </a:prstGeom>
          <a:noFill/>
          <a:ln/>
        </p:spPr>
        <p:txBody>
          <a:bodyPr wrap="square" lIns="0" tIns="0" rIns="0" bIns="0" rtlCol="0" anchor="ctr"/>
          <a:lstStyle/>
          <a:p>
            <a:pPr indent="0" marL="0">
              <a:buNone/>
            </a:pPr>
            <a:r>
              <a:rPr lang="en-US" sz="1000" spc="400" kern="0" dirty="0">
                <a:solidFill>
                  <a:srgbClr val="A8875A"/>
                </a:solidFill>
                <a:latin typeface="Arial" pitchFamily="34" charset="0"/>
                <a:ea typeface="Arial" pitchFamily="34" charset="-122"/>
                <a:cs typeface="Arial" pitchFamily="34" charset="-120"/>
              </a:rPr>
              <a:t>COSA PRENDIAMO PER TIRABASSO</a:t>
            </a:r>
            <a:endParaRPr lang="en-US" sz="1000" dirty="0"/>
          </a:p>
        </p:txBody>
      </p:sp>
      <p:sp>
        <p:nvSpPr>
          <p:cNvPr id="11" name="Text 6"/>
          <p:cNvSpPr txBox="1"/>
          <p:nvPr/>
        </p:nvSpPr>
        <p:spPr>
          <a:xfrm>
            <a:off x="6309360" y="3721608"/>
            <a:ext cx="5242255" cy="11887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FFFFFF"/>
                </a:solidFill>
                <a:latin typeface="Arial" pitchFamily="34" charset="0"/>
                <a:ea typeface="Arial" pitchFamily="34" charset="-122"/>
                <a:cs typeface="Arial" pitchFamily="34" charset="-120"/>
              </a:rPr>
              <a:t>La scena iniziale: lei che attraversa un colonnato</a:t>
            </a:r>
            <a:endParaRPr lang="en-US" sz="1250" dirty="0"/>
          </a:p>
          <a:p>
            <a:pPr marL="177800" indent="-177800">
              <a:spcAft>
                <a:spcPts val="500"/>
              </a:spcAft>
              <a:buSzPct val="100000"/>
              <a:buChar char="•"/>
            </a:pPr>
            <a:r>
              <a:rPr lang="en-US" sz="1250" dirty="0">
                <a:solidFill>
                  <a:srgbClr val="FFFFFF"/>
                </a:solidFill>
                <a:latin typeface="Arial" pitchFamily="34" charset="0"/>
                <a:ea typeface="Arial" pitchFamily="34" charset="-122"/>
                <a:cs typeface="Arial" pitchFamily="34" charset="-120"/>
              </a:rPr>
              <a:t>La città come geometria: dall’alto, le scale, l’ascensore</a:t>
            </a:r>
            <a:endParaRPr lang="en-US" sz="1250" dirty="0"/>
          </a:p>
          <a:p>
            <a:pPr marL="177800" indent="-177800">
              <a:spcAft>
                <a:spcPts val="500"/>
              </a:spcAft>
              <a:buSzPct val="100000"/>
              <a:buChar char="•"/>
            </a:pPr>
            <a:r>
              <a:rPr lang="en-US" sz="1250" dirty="0">
                <a:solidFill>
                  <a:srgbClr val="FFFFFF"/>
                </a:solidFill>
                <a:latin typeface="Arial" pitchFamily="34" charset="0"/>
                <a:ea typeface="Arial" pitchFamily="34" charset="-122"/>
                <a:cs typeface="Arial" pitchFamily="34" charset="-120"/>
              </a:rPr>
              <a:t>La figura intera, piccola dentro l’architettura</a:t>
            </a:r>
            <a:endParaRPr lang="en-US" sz="1250" dirty="0"/>
          </a:p>
        </p:txBody>
      </p:sp>
      <p:sp>
        <p:nvSpPr>
          <p:cNvPr id="12" name="Text 7"/>
          <p:cNvSpPr txBox="1"/>
          <p:nvPr/>
        </p:nvSpPr>
        <p:spPr>
          <a:xfrm>
            <a:off x="6309360" y="5029200"/>
            <a:ext cx="5486400" cy="274320"/>
          </a:xfrm>
          <a:prstGeom prst="rect">
            <a:avLst/>
          </a:prstGeom>
          <a:noFill/>
          <a:ln/>
        </p:spPr>
        <p:txBody>
          <a:bodyPr wrap="square" lIns="0" tIns="0" rIns="0" bIns="0" rtlCol="0" anchor="ctr"/>
          <a:lstStyle/>
          <a:p>
            <a:pPr indent="0" marL="0">
              <a:buNone/>
            </a:pPr>
            <a:r>
              <a:rPr lang="en-US" sz="1000" spc="400" kern="0" dirty="0">
                <a:solidFill>
                  <a:srgbClr val="A8875A"/>
                </a:solidFill>
                <a:latin typeface="Arial" pitchFamily="34" charset="0"/>
                <a:ea typeface="Arial" pitchFamily="34" charset="-122"/>
                <a:cs typeface="Arial" pitchFamily="34" charset="-120"/>
              </a:rPr>
              <a:t>COSA LASCIAMO</a:t>
            </a:r>
            <a:endParaRPr lang="en-US" sz="1000" dirty="0"/>
          </a:p>
        </p:txBody>
      </p:sp>
      <p:sp>
        <p:nvSpPr>
          <p:cNvPr id="13" name="Text 8"/>
          <p:cNvSpPr txBox="1"/>
          <p:nvPr/>
        </p:nvSpPr>
        <p:spPr>
          <a:xfrm>
            <a:off x="6309360" y="5321808"/>
            <a:ext cx="5242255" cy="118872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A9ACAE"/>
                </a:solidFill>
                <a:latin typeface="Arial" pitchFamily="34" charset="0"/>
                <a:ea typeface="Arial" pitchFamily="34" charset="-122"/>
                <a:cs typeface="Arial" pitchFamily="34" charset="-120"/>
              </a:rPr>
              <a:t>Il ritmo veloce e il tono troppo smart: il nostro è più lento e romantico</a:t>
            </a:r>
            <a:endParaRPr lang="en-US" sz="1250" dirty="0"/>
          </a:p>
          <a:p>
            <a:pPr marL="177800" indent="-177800">
              <a:spcAft>
                <a:spcPts val="500"/>
              </a:spcAft>
              <a:buSzPct val="100000"/>
              <a:buChar char="•"/>
            </a:pPr>
            <a:r>
              <a:rPr lang="en-US" sz="1250" dirty="0">
                <a:solidFill>
                  <a:srgbClr val="A9ACAE"/>
                </a:solidFill>
                <a:latin typeface="Arial" pitchFamily="34" charset="0"/>
                <a:ea typeface="Arial" pitchFamily="34" charset="-122"/>
                <a:cs typeface="Arial" pitchFamily="34" charset="-120"/>
              </a:rPr>
              <a:t>I primi piani al volto: da vicino riprendiamo solo il cappello</a:t>
            </a:r>
            <a:endParaRPr lang="en-US" sz="1250" dirty="0"/>
          </a:p>
        </p:txBody>
      </p:sp>
      <p:sp>
        <p:nvSpPr>
          <p:cNvPr id="14" name="Text 9"/>
          <p:cNvSpPr txBox="1"/>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8A8D9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2F0"/>
        </a:solidFill>
      </p:bgPr>
    </p:bg>
    <p:spTree>
      <p:nvGrpSpPr>
        <p:cNvPr id="1" name=""/>
        <p:cNvGrpSpPr/>
        <p:nvPr/>
      </p:nvGrpSpPr>
      <p:grpSpPr>
        <a:xfrm>
          <a:off x="0" y="0"/>
          <a:ext cx="0" cy="0"/>
          <a:chOff x="0" y="0"/>
          <a:chExt cx="0" cy="0"/>
        </a:xfrm>
      </p:grpSpPr>
      <p:sp>
        <p:nvSpPr>
          <p:cNvPr id="2" name="Text 0"/>
          <p:cNvSpPr txBox="1"/>
          <p:nvPr/>
        </p:nvSpPr>
        <p:spPr>
          <a:xfrm>
            <a:off x="685800" y="548640"/>
            <a:ext cx="5486400" cy="274320"/>
          </a:xfrm>
          <a:prstGeom prst="rect">
            <a:avLst/>
          </a:prstGeom>
          <a:noFill/>
          <a:ln/>
        </p:spPr>
        <p:txBody>
          <a:bodyPr wrap="square" lIns="0" tIns="0" rIns="0" bIns="0" rtlCol="0" anchor="ctr"/>
          <a:lstStyle/>
          <a:p>
            <a:pPr indent="0" marL="0">
              <a:buNone/>
            </a:pPr>
            <a:r>
              <a:rPr lang="en-US" sz="1000" spc="400" kern="0" dirty="0">
                <a:solidFill>
                  <a:srgbClr val="5E6266"/>
                </a:solidFill>
                <a:latin typeface="Arial" pitchFamily="34" charset="0"/>
                <a:ea typeface="Arial" pitchFamily="34" charset="-122"/>
                <a:cs typeface="Arial" pitchFamily="34" charset="-120"/>
              </a:rPr>
              <a:t>07 — IL RACCONTO</a:t>
            </a:r>
            <a:endParaRPr lang="en-US" sz="1000" dirty="0"/>
          </a:p>
        </p:txBody>
      </p:sp>
      <p:sp>
        <p:nvSpPr>
          <p:cNvPr id="3" name="Text 1"/>
          <p:cNvSpPr txBox="1"/>
          <p:nvPr/>
        </p:nvSpPr>
        <p:spPr>
          <a:xfrm>
            <a:off x="685800" y="868680"/>
            <a:ext cx="10058400" cy="731520"/>
          </a:xfrm>
          <a:prstGeom prst="rect">
            <a:avLst/>
          </a:prstGeom>
          <a:noFill/>
          <a:ln/>
        </p:spPr>
        <p:txBody>
          <a:bodyPr wrap="square" lIns="0" tIns="0" rIns="0" bIns="0" rtlCol="0" anchor="t"/>
          <a:lstStyle/>
          <a:p>
            <a:pPr indent="0" marL="0">
              <a:buNone/>
            </a:pPr>
            <a:r>
              <a:rPr lang="en-US" sz="3400" dirty="0">
                <a:solidFill>
                  <a:srgbClr val="1E2023"/>
                </a:solidFill>
                <a:latin typeface="Cambria" pitchFamily="34" charset="0"/>
                <a:ea typeface="Cambria" pitchFamily="34" charset="-122"/>
                <a:cs typeface="Cambria" pitchFamily="34" charset="-120"/>
              </a:rPr>
              <a:t>La giornata in sette scene</a:t>
            </a:r>
            <a:endParaRPr lang="en-US" sz="3400" dirty="0"/>
          </a:p>
        </p:txBody>
      </p:sp>
      <p:sp>
        <p:nvSpPr>
          <p:cNvPr id="4" name="Shape 2"/>
          <p:cNvSpPr/>
          <p:nvPr/>
        </p:nvSpPr>
        <p:spPr>
          <a:xfrm>
            <a:off x="685800" y="1783080"/>
            <a:ext cx="2560320" cy="2240280"/>
          </a:xfrm>
          <a:prstGeom prst="rect">
            <a:avLst/>
          </a:prstGeom>
          <a:solidFill>
            <a:srgbClr val="FFFFFF"/>
          </a:solidFill>
          <a:ln w="9525">
            <a:solidFill>
              <a:srgbClr val="DCDDDC"/>
            </a:solidFill>
            <a:prstDash val="solid"/>
          </a:ln>
        </p:spPr>
      </p:sp>
      <p:sp>
        <p:nvSpPr>
          <p:cNvPr id="5" name="Text 3"/>
          <p:cNvSpPr txBox="1"/>
          <p:nvPr/>
        </p:nvSpPr>
        <p:spPr>
          <a:xfrm>
            <a:off x="914400" y="1965960"/>
            <a:ext cx="914400" cy="502920"/>
          </a:xfrm>
          <a:prstGeom prst="rect">
            <a:avLst/>
          </a:prstGeom>
          <a:noFill/>
          <a:ln/>
        </p:spPr>
        <p:txBody>
          <a:bodyPr wrap="square" lIns="0" tIns="0" rIns="0" bIns="0" rtlCol="0" anchor="ctr"/>
          <a:lstStyle/>
          <a:p>
            <a:pPr indent="0" marL="0">
              <a:buNone/>
            </a:pPr>
            <a:r>
              <a:rPr lang="en-US" sz="2600" i="1" dirty="0">
                <a:solidFill>
                  <a:srgbClr val="A8875A"/>
                </a:solidFill>
                <a:latin typeface="Cambria" pitchFamily="34" charset="0"/>
                <a:ea typeface="Cambria" pitchFamily="34" charset="-122"/>
                <a:cs typeface="Cambria" pitchFamily="34" charset="-120"/>
              </a:rPr>
              <a:t>01</a:t>
            </a:r>
            <a:endParaRPr lang="en-US" sz="2600" dirty="0"/>
          </a:p>
        </p:txBody>
      </p:sp>
      <p:sp>
        <p:nvSpPr>
          <p:cNvPr id="6" name="Text 4"/>
          <p:cNvSpPr txBox="1"/>
          <p:nvPr/>
        </p:nvSpPr>
        <p:spPr>
          <a:xfrm>
            <a:off x="914400" y="2560320"/>
            <a:ext cx="210312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L’uscita</a:t>
            </a:r>
            <a:endParaRPr lang="en-US" sz="1400" dirty="0"/>
          </a:p>
        </p:txBody>
      </p:sp>
      <p:sp>
        <p:nvSpPr>
          <p:cNvPr id="7" name="Text 5"/>
          <p:cNvSpPr txBox="1"/>
          <p:nvPr/>
        </p:nvSpPr>
        <p:spPr>
          <a:xfrm>
            <a:off x="914400" y="2926080"/>
            <a:ext cx="2103120" cy="100584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Un portone si apre su una via haussmanniana. Lei sistema un guanto e parte.</a:t>
            </a:r>
            <a:endParaRPr lang="en-US" sz="1150" dirty="0"/>
          </a:p>
        </p:txBody>
      </p:sp>
      <p:sp>
        <p:nvSpPr>
          <p:cNvPr id="8" name="Shape 6"/>
          <p:cNvSpPr/>
          <p:nvPr/>
        </p:nvSpPr>
        <p:spPr>
          <a:xfrm>
            <a:off x="3429000" y="1783080"/>
            <a:ext cx="2560320" cy="2240280"/>
          </a:xfrm>
          <a:prstGeom prst="rect">
            <a:avLst/>
          </a:prstGeom>
          <a:solidFill>
            <a:srgbClr val="FFFFFF"/>
          </a:solidFill>
          <a:ln w="9525">
            <a:solidFill>
              <a:srgbClr val="DCDDDC"/>
            </a:solidFill>
            <a:prstDash val="solid"/>
          </a:ln>
        </p:spPr>
      </p:sp>
      <p:sp>
        <p:nvSpPr>
          <p:cNvPr id="9" name="Text 7"/>
          <p:cNvSpPr txBox="1"/>
          <p:nvPr/>
        </p:nvSpPr>
        <p:spPr>
          <a:xfrm>
            <a:off x="3657600" y="1965960"/>
            <a:ext cx="914400" cy="502920"/>
          </a:xfrm>
          <a:prstGeom prst="rect">
            <a:avLst/>
          </a:prstGeom>
          <a:noFill/>
          <a:ln/>
        </p:spPr>
        <p:txBody>
          <a:bodyPr wrap="square" lIns="0" tIns="0" rIns="0" bIns="0" rtlCol="0" anchor="ctr"/>
          <a:lstStyle/>
          <a:p>
            <a:pPr indent="0" marL="0">
              <a:buNone/>
            </a:pPr>
            <a:r>
              <a:rPr lang="en-US" sz="2600" i="1" dirty="0">
                <a:solidFill>
                  <a:srgbClr val="A8875A"/>
                </a:solidFill>
                <a:latin typeface="Cambria" pitchFamily="34" charset="0"/>
                <a:ea typeface="Cambria" pitchFamily="34" charset="-122"/>
                <a:cs typeface="Cambria" pitchFamily="34" charset="-120"/>
              </a:rPr>
              <a:t>02</a:t>
            </a:r>
            <a:endParaRPr lang="en-US" sz="2600" dirty="0"/>
          </a:p>
        </p:txBody>
      </p:sp>
      <p:sp>
        <p:nvSpPr>
          <p:cNvPr id="10" name="Text 8"/>
          <p:cNvSpPr txBox="1"/>
          <p:nvPr/>
        </p:nvSpPr>
        <p:spPr>
          <a:xfrm>
            <a:off x="3657600" y="2560320"/>
            <a:ext cx="210312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L’attraversamento</a:t>
            </a:r>
            <a:endParaRPr lang="en-US" sz="1400" dirty="0"/>
          </a:p>
        </p:txBody>
      </p:sp>
      <p:sp>
        <p:nvSpPr>
          <p:cNvPr id="11" name="Text 9"/>
          <p:cNvSpPr txBox="1"/>
          <p:nvPr/>
        </p:nvSpPr>
        <p:spPr>
          <a:xfrm>
            <a:off x="3657600" y="2926080"/>
            <a:ext cx="2103120" cy="100584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Strisce bagnate, il cappotto che si apre nel passo. Vista dal marciapiede opposto.</a:t>
            </a:r>
            <a:endParaRPr lang="en-US" sz="1150" dirty="0"/>
          </a:p>
        </p:txBody>
      </p:sp>
      <p:sp>
        <p:nvSpPr>
          <p:cNvPr id="12" name="Shape 10"/>
          <p:cNvSpPr/>
          <p:nvPr/>
        </p:nvSpPr>
        <p:spPr>
          <a:xfrm>
            <a:off x="6172200" y="1783080"/>
            <a:ext cx="2560320" cy="2240280"/>
          </a:xfrm>
          <a:prstGeom prst="rect">
            <a:avLst/>
          </a:prstGeom>
          <a:solidFill>
            <a:srgbClr val="FFFFFF"/>
          </a:solidFill>
          <a:ln w="9525">
            <a:solidFill>
              <a:srgbClr val="DCDDDC"/>
            </a:solidFill>
            <a:prstDash val="solid"/>
          </a:ln>
        </p:spPr>
      </p:sp>
      <p:sp>
        <p:nvSpPr>
          <p:cNvPr id="13" name="Text 11"/>
          <p:cNvSpPr txBox="1"/>
          <p:nvPr/>
        </p:nvSpPr>
        <p:spPr>
          <a:xfrm>
            <a:off x="6400800" y="1965960"/>
            <a:ext cx="914400" cy="502920"/>
          </a:xfrm>
          <a:prstGeom prst="rect">
            <a:avLst/>
          </a:prstGeom>
          <a:noFill/>
          <a:ln/>
        </p:spPr>
        <p:txBody>
          <a:bodyPr wrap="square" lIns="0" tIns="0" rIns="0" bIns="0" rtlCol="0" anchor="ctr"/>
          <a:lstStyle/>
          <a:p>
            <a:pPr indent="0" marL="0">
              <a:buNone/>
            </a:pPr>
            <a:r>
              <a:rPr lang="en-US" sz="2600" i="1" dirty="0">
                <a:solidFill>
                  <a:srgbClr val="A8875A"/>
                </a:solidFill>
                <a:latin typeface="Cambria" pitchFamily="34" charset="0"/>
                <a:ea typeface="Cambria" pitchFamily="34" charset="-122"/>
                <a:cs typeface="Cambria" pitchFamily="34" charset="-120"/>
              </a:rPr>
              <a:t>03</a:t>
            </a:r>
            <a:endParaRPr lang="en-US" sz="2600" dirty="0"/>
          </a:p>
        </p:txBody>
      </p:sp>
      <p:sp>
        <p:nvSpPr>
          <p:cNvPr id="14" name="Text 12"/>
          <p:cNvSpPr txBox="1"/>
          <p:nvPr/>
        </p:nvSpPr>
        <p:spPr>
          <a:xfrm>
            <a:off x="6400800" y="2560320"/>
            <a:ext cx="210312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Il caffè</a:t>
            </a:r>
            <a:endParaRPr lang="en-US" sz="1400" dirty="0"/>
          </a:p>
        </p:txBody>
      </p:sp>
      <p:sp>
        <p:nvSpPr>
          <p:cNvPr id="15" name="Text 13"/>
          <p:cNvSpPr txBox="1"/>
          <p:nvPr/>
        </p:nvSpPr>
        <p:spPr>
          <a:xfrm>
            <a:off x="6400800" y="2926080"/>
            <a:ext cx="2103120" cy="100584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Dietro il vetro di un bistrot: la tazzina, il rossetto, lo sguardo fuori.</a:t>
            </a:r>
            <a:endParaRPr lang="en-US" sz="1150" dirty="0"/>
          </a:p>
        </p:txBody>
      </p:sp>
      <p:sp>
        <p:nvSpPr>
          <p:cNvPr id="16" name="Shape 14"/>
          <p:cNvSpPr/>
          <p:nvPr/>
        </p:nvSpPr>
        <p:spPr>
          <a:xfrm>
            <a:off x="8915400" y="1783080"/>
            <a:ext cx="2560320" cy="2240280"/>
          </a:xfrm>
          <a:prstGeom prst="rect">
            <a:avLst/>
          </a:prstGeom>
          <a:solidFill>
            <a:srgbClr val="FFFFFF"/>
          </a:solidFill>
          <a:ln w="9525">
            <a:solidFill>
              <a:srgbClr val="DCDDDC"/>
            </a:solidFill>
            <a:prstDash val="solid"/>
          </a:ln>
        </p:spPr>
      </p:sp>
      <p:sp>
        <p:nvSpPr>
          <p:cNvPr id="17" name="Text 15"/>
          <p:cNvSpPr txBox="1"/>
          <p:nvPr/>
        </p:nvSpPr>
        <p:spPr>
          <a:xfrm>
            <a:off x="9144000" y="1965960"/>
            <a:ext cx="914400" cy="502920"/>
          </a:xfrm>
          <a:prstGeom prst="rect">
            <a:avLst/>
          </a:prstGeom>
          <a:noFill/>
          <a:ln/>
        </p:spPr>
        <p:txBody>
          <a:bodyPr wrap="square" lIns="0" tIns="0" rIns="0" bIns="0" rtlCol="0" anchor="ctr"/>
          <a:lstStyle/>
          <a:p>
            <a:pPr indent="0" marL="0">
              <a:buNone/>
            </a:pPr>
            <a:r>
              <a:rPr lang="en-US" sz="2600" i="1" dirty="0">
                <a:solidFill>
                  <a:srgbClr val="A8875A"/>
                </a:solidFill>
                <a:latin typeface="Cambria" pitchFamily="34" charset="0"/>
                <a:ea typeface="Cambria" pitchFamily="34" charset="-122"/>
                <a:cs typeface="Cambria" pitchFamily="34" charset="-120"/>
              </a:rPr>
              <a:t>04</a:t>
            </a:r>
            <a:endParaRPr lang="en-US" sz="2600" dirty="0"/>
          </a:p>
        </p:txBody>
      </p:sp>
      <p:sp>
        <p:nvSpPr>
          <p:cNvPr id="18" name="Text 16"/>
          <p:cNvSpPr txBox="1"/>
          <p:nvPr/>
        </p:nvSpPr>
        <p:spPr>
          <a:xfrm>
            <a:off x="9144000" y="2560320"/>
            <a:ext cx="210312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La metro</a:t>
            </a:r>
            <a:endParaRPr lang="en-US" sz="1400" dirty="0"/>
          </a:p>
        </p:txBody>
      </p:sp>
      <p:sp>
        <p:nvSpPr>
          <p:cNvPr id="19" name="Text 17"/>
          <p:cNvSpPr txBox="1"/>
          <p:nvPr/>
        </p:nvSpPr>
        <p:spPr>
          <a:xfrm>
            <a:off x="9144000" y="2926080"/>
            <a:ext cx="2103120" cy="100584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Scende sotto un ingresso Guimard. Il corrimano, il treno che arriva.</a:t>
            </a:r>
            <a:endParaRPr lang="en-US" sz="1150" dirty="0"/>
          </a:p>
        </p:txBody>
      </p:sp>
      <p:sp>
        <p:nvSpPr>
          <p:cNvPr id="20" name="Shape 18"/>
          <p:cNvSpPr/>
          <p:nvPr/>
        </p:nvSpPr>
        <p:spPr>
          <a:xfrm>
            <a:off x="685800" y="4206240"/>
            <a:ext cx="2560320" cy="2240280"/>
          </a:xfrm>
          <a:prstGeom prst="rect">
            <a:avLst/>
          </a:prstGeom>
          <a:solidFill>
            <a:srgbClr val="FFFFFF"/>
          </a:solidFill>
          <a:ln w="9525">
            <a:solidFill>
              <a:srgbClr val="DCDDDC"/>
            </a:solidFill>
            <a:prstDash val="solid"/>
          </a:ln>
        </p:spPr>
      </p:sp>
      <p:sp>
        <p:nvSpPr>
          <p:cNvPr id="21" name="Text 19"/>
          <p:cNvSpPr txBox="1"/>
          <p:nvPr/>
        </p:nvSpPr>
        <p:spPr>
          <a:xfrm>
            <a:off x="914400" y="4389120"/>
            <a:ext cx="914400" cy="502920"/>
          </a:xfrm>
          <a:prstGeom prst="rect">
            <a:avLst/>
          </a:prstGeom>
          <a:noFill/>
          <a:ln/>
        </p:spPr>
        <p:txBody>
          <a:bodyPr wrap="square" lIns="0" tIns="0" rIns="0" bIns="0" rtlCol="0" anchor="ctr"/>
          <a:lstStyle/>
          <a:p>
            <a:pPr indent="0" marL="0">
              <a:buNone/>
            </a:pPr>
            <a:r>
              <a:rPr lang="en-US" sz="2600" i="1" dirty="0">
                <a:solidFill>
                  <a:srgbClr val="A8875A"/>
                </a:solidFill>
                <a:latin typeface="Cambria" pitchFamily="34" charset="0"/>
                <a:ea typeface="Cambria" pitchFamily="34" charset="-122"/>
                <a:cs typeface="Cambria" pitchFamily="34" charset="-120"/>
              </a:rPr>
              <a:t>05</a:t>
            </a:r>
            <a:endParaRPr lang="en-US" sz="2600" dirty="0"/>
          </a:p>
        </p:txBody>
      </p:sp>
      <p:sp>
        <p:nvSpPr>
          <p:cNvPr id="22" name="Text 20"/>
          <p:cNvSpPr txBox="1"/>
          <p:nvPr/>
        </p:nvSpPr>
        <p:spPr>
          <a:xfrm>
            <a:off x="914400" y="4983480"/>
            <a:ext cx="210312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L’ascensore</a:t>
            </a:r>
            <a:endParaRPr lang="en-US" sz="1400" dirty="0"/>
          </a:p>
        </p:txBody>
      </p:sp>
      <p:sp>
        <p:nvSpPr>
          <p:cNvPr id="23" name="Text 21"/>
          <p:cNvSpPr txBox="1"/>
          <p:nvPr/>
        </p:nvSpPr>
        <p:spPr>
          <a:xfrm>
            <a:off x="914400" y="5349240"/>
            <a:ext cx="2103120" cy="100584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Un ascensore a gabbia o in legno in un palazzo elegante. Pochi secondi sospesi.</a:t>
            </a:r>
            <a:endParaRPr lang="en-US" sz="1150" dirty="0"/>
          </a:p>
        </p:txBody>
      </p:sp>
      <p:sp>
        <p:nvSpPr>
          <p:cNvPr id="24" name="Shape 22"/>
          <p:cNvSpPr/>
          <p:nvPr/>
        </p:nvSpPr>
        <p:spPr>
          <a:xfrm>
            <a:off x="3429000" y="4206240"/>
            <a:ext cx="2560320" cy="2240280"/>
          </a:xfrm>
          <a:prstGeom prst="rect">
            <a:avLst/>
          </a:prstGeom>
          <a:solidFill>
            <a:srgbClr val="FFFFFF"/>
          </a:solidFill>
          <a:ln w="9525">
            <a:solidFill>
              <a:srgbClr val="DCDDDC"/>
            </a:solidFill>
            <a:prstDash val="solid"/>
          </a:ln>
        </p:spPr>
      </p:sp>
      <p:sp>
        <p:nvSpPr>
          <p:cNvPr id="25" name="Text 23"/>
          <p:cNvSpPr txBox="1"/>
          <p:nvPr/>
        </p:nvSpPr>
        <p:spPr>
          <a:xfrm>
            <a:off x="3657600" y="4389120"/>
            <a:ext cx="914400" cy="502920"/>
          </a:xfrm>
          <a:prstGeom prst="rect">
            <a:avLst/>
          </a:prstGeom>
          <a:noFill/>
          <a:ln/>
        </p:spPr>
        <p:txBody>
          <a:bodyPr wrap="square" lIns="0" tIns="0" rIns="0" bIns="0" rtlCol="0" anchor="ctr"/>
          <a:lstStyle/>
          <a:p>
            <a:pPr indent="0" marL="0">
              <a:buNone/>
            </a:pPr>
            <a:r>
              <a:rPr lang="en-US" sz="2600" i="1" dirty="0">
                <a:solidFill>
                  <a:srgbClr val="A8875A"/>
                </a:solidFill>
                <a:latin typeface="Cambria" pitchFamily="34" charset="0"/>
                <a:ea typeface="Cambria" pitchFamily="34" charset="-122"/>
                <a:cs typeface="Cambria" pitchFamily="34" charset="-120"/>
              </a:rPr>
              <a:t>06</a:t>
            </a:r>
            <a:endParaRPr lang="en-US" sz="2600" dirty="0"/>
          </a:p>
        </p:txBody>
      </p:sp>
      <p:sp>
        <p:nvSpPr>
          <p:cNvPr id="26" name="Text 24"/>
          <p:cNvSpPr txBox="1"/>
          <p:nvPr/>
        </p:nvSpPr>
        <p:spPr>
          <a:xfrm>
            <a:off x="3657600" y="4983480"/>
            <a:ext cx="210312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Il riparo</a:t>
            </a:r>
            <a:endParaRPr lang="en-US" sz="1400" dirty="0"/>
          </a:p>
        </p:txBody>
      </p:sp>
      <p:sp>
        <p:nvSpPr>
          <p:cNvPr id="27" name="Text 25"/>
          <p:cNvSpPr txBox="1"/>
          <p:nvPr/>
        </p:nvSpPr>
        <p:spPr>
          <a:xfrm>
            <a:off x="3657600" y="5349240"/>
            <a:ext cx="2103120" cy="100584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La pioggia la ferma sotto un portico. Un dettaglio stretto sul cappello, la pioggia sulla tesa.</a:t>
            </a:r>
            <a:endParaRPr lang="en-US" sz="1150" dirty="0"/>
          </a:p>
        </p:txBody>
      </p:sp>
      <p:sp>
        <p:nvSpPr>
          <p:cNvPr id="28" name="Shape 26"/>
          <p:cNvSpPr/>
          <p:nvPr/>
        </p:nvSpPr>
        <p:spPr>
          <a:xfrm>
            <a:off x="6172200" y="4206240"/>
            <a:ext cx="2560320" cy="2240280"/>
          </a:xfrm>
          <a:prstGeom prst="rect">
            <a:avLst/>
          </a:prstGeom>
          <a:solidFill>
            <a:srgbClr val="FFFFFF"/>
          </a:solidFill>
          <a:ln w="9525">
            <a:solidFill>
              <a:srgbClr val="DCDDDC"/>
            </a:solidFill>
            <a:prstDash val="solid"/>
          </a:ln>
        </p:spPr>
      </p:sp>
      <p:sp>
        <p:nvSpPr>
          <p:cNvPr id="29" name="Text 27"/>
          <p:cNvSpPr txBox="1"/>
          <p:nvPr/>
        </p:nvSpPr>
        <p:spPr>
          <a:xfrm>
            <a:off x="6400800" y="4389120"/>
            <a:ext cx="914400" cy="502920"/>
          </a:xfrm>
          <a:prstGeom prst="rect">
            <a:avLst/>
          </a:prstGeom>
          <a:noFill/>
          <a:ln/>
        </p:spPr>
        <p:txBody>
          <a:bodyPr wrap="square" lIns="0" tIns="0" rIns="0" bIns="0" rtlCol="0" anchor="ctr"/>
          <a:lstStyle/>
          <a:p>
            <a:pPr indent="0" marL="0">
              <a:buNone/>
            </a:pPr>
            <a:r>
              <a:rPr lang="en-US" sz="2600" i="1" dirty="0">
                <a:solidFill>
                  <a:srgbClr val="A8875A"/>
                </a:solidFill>
                <a:latin typeface="Cambria" pitchFamily="34" charset="0"/>
                <a:ea typeface="Cambria" pitchFamily="34" charset="-122"/>
                <a:cs typeface="Cambria" pitchFamily="34" charset="-120"/>
              </a:rPr>
              <a:t>07</a:t>
            </a:r>
            <a:endParaRPr lang="en-US" sz="2600" dirty="0"/>
          </a:p>
        </p:txBody>
      </p:sp>
      <p:sp>
        <p:nvSpPr>
          <p:cNvPr id="30" name="Text 28"/>
          <p:cNvSpPr txBox="1"/>
          <p:nvPr/>
        </p:nvSpPr>
        <p:spPr>
          <a:xfrm>
            <a:off x="6400800" y="4983480"/>
            <a:ext cx="2103120" cy="320040"/>
          </a:xfrm>
          <a:prstGeom prst="rect">
            <a:avLst/>
          </a:prstGeom>
          <a:noFill/>
          <a:ln/>
        </p:spPr>
        <p:txBody>
          <a:bodyPr wrap="square" lIns="0" tIns="0" rIns="0" bIns="0" rtlCol="0" anchor="ctr"/>
          <a:lstStyle/>
          <a:p>
            <a:pPr indent="0" marL="0">
              <a:buNone/>
            </a:pPr>
            <a:r>
              <a:rPr lang="en-US" sz="1400" b="1" dirty="0">
                <a:solidFill>
                  <a:srgbClr val="1E2023"/>
                </a:solidFill>
                <a:latin typeface="Arial" pitchFamily="34" charset="0"/>
                <a:ea typeface="Arial" pitchFamily="34" charset="-122"/>
                <a:cs typeface="Arial" pitchFamily="34" charset="-120"/>
              </a:rPr>
              <a:t>La passeggiata</a:t>
            </a:r>
            <a:endParaRPr lang="en-US" sz="1400" dirty="0"/>
          </a:p>
        </p:txBody>
      </p:sp>
      <p:sp>
        <p:nvSpPr>
          <p:cNvPr id="31" name="Text 29"/>
          <p:cNvSpPr txBox="1"/>
          <p:nvPr/>
        </p:nvSpPr>
        <p:spPr>
          <a:xfrm>
            <a:off x="6400800" y="5349240"/>
            <a:ext cx="2103120" cy="100584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Nebbia e foglie secche in un giardino. La figura si allontana.</a:t>
            </a:r>
            <a:endParaRPr lang="en-US" sz="1150" dirty="0"/>
          </a:p>
        </p:txBody>
      </p:sp>
      <p:pic>
        <p:nvPicPr>
          <p:cNvPr id="32" name="Image 0" descr="img/cafe.jpg">    </p:cNvPr>
          <p:cNvPicPr>
            <a:picLocks noChangeAspect="1"/>
          </p:cNvPicPr>
          <p:nvPr/>
        </p:nvPicPr>
        <p:blipFill>
          <a:blip r:embed="rId1"/>
          <a:srcRect l="0" r="0" t="17011" b="20791"/>
          <a:stretch/>
        </p:blipFill>
        <p:spPr>
          <a:xfrm>
            <a:off x="8915400" y="4206240"/>
            <a:ext cx="2560320" cy="22402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img/palais.jpg">    </p:cNvPr>
          <p:cNvPicPr>
            <a:picLocks noChangeAspect="1"/>
          </p:cNvPicPr>
          <p:nvPr/>
        </p:nvPicPr>
        <p:blipFill>
          <a:blip r:embed="rId1"/>
          <a:srcRect l="18995" r="18995" t="0" b="0"/>
          <a:stretch/>
        </p:blipFill>
        <p:spPr>
          <a:xfrm>
            <a:off x="8351215" y="0"/>
            <a:ext cx="3840480" cy="6858000"/>
          </a:xfrm>
          <a:prstGeom prst="rect">
            <a:avLst/>
          </a:prstGeom>
        </p:spPr>
      </p:pic>
      <p:sp>
        <p:nvSpPr>
          <p:cNvPr id="3" name="Text 0"/>
          <p:cNvSpPr txBox="1"/>
          <p:nvPr/>
        </p:nvSpPr>
        <p:spPr>
          <a:xfrm>
            <a:off x="685800" y="548640"/>
            <a:ext cx="5486400" cy="274320"/>
          </a:xfrm>
          <a:prstGeom prst="rect">
            <a:avLst/>
          </a:prstGeom>
          <a:noFill/>
          <a:ln/>
        </p:spPr>
        <p:txBody>
          <a:bodyPr wrap="square" lIns="0" tIns="0" rIns="0" bIns="0" rtlCol="0" anchor="ctr"/>
          <a:lstStyle/>
          <a:p>
            <a:pPr indent="0" marL="0">
              <a:buNone/>
            </a:pPr>
            <a:r>
              <a:rPr lang="en-US" sz="1000" spc="400" kern="0" dirty="0">
                <a:solidFill>
                  <a:srgbClr val="5E6266"/>
                </a:solidFill>
                <a:latin typeface="Arial" pitchFamily="34" charset="0"/>
                <a:ea typeface="Arial" pitchFamily="34" charset="-122"/>
                <a:cs typeface="Arial" pitchFamily="34" charset="-120"/>
              </a:rPr>
              <a:t>08 — LOCATION</a:t>
            </a:r>
            <a:endParaRPr lang="en-US" sz="1000" dirty="0"/>
          </a:p>
        </p:txBody>
      </p:sp>
      <p:sp>
        <p:nvSpPr>
          <p:cNvPr id="4" name="Text 1"/>
          <p:cNvSpPr txBox="1"/>
          <p:nvPr/>
        </p:nvSpPr>
        <p:spPr>
          <a:xfrm>
            <a:off x="685800" y="868680"/>
            <a:ext cx="7315200" cy="731520"/>
          </a:xfrm>
          <a:prstGeom prst="rect">
            <a:avLst/>
          </a:prstGeom>
          <a:noFill/>
          <a:ln/>
        </p:spPr>
        <p:txBody>
          <a:bodyPr wrap="square" lIns="0" tIns="0" rIns="0" bIns="0" rtlCol="0" anchor="t"/>
          <a:lstStyle/>
          <a:p>
            <a:pPr indent="0" marL="0">
              <a:buNone/>
            </a:pPr>
            <a:r>
              <a:rPr lang="en-US" sz="3400" dirty="0">
                <a:solidFill>
                  <a:srgbClr val="1E2023"/>
                </a:solidFill>
                <a:latin typeface="Cambria" pitchFamily="34" charset="0"/>
                <a:ea typeface="Cambria" pitchFamily="34" charset="-122"/>
                <a:cs typeface="Cambria" pitchFamily="34" charset="-120"/>
              </a:rPr>
              <a:t>Dove a Parigi</a:t>
            </a:r>
            <a:endParaRPr lang="en-US" sz="3400" dirty="0"/>
          </a:p>
        </p:txBody>
      </p:sp>
      <p:sp>
        <p:nvSpPr>
          <p:cNvPr id="5" name="Text 2"/>
          <p:cNvSpPr txBox="1"/>
          <p:nvPr/>
        </p:nvSpPr>
        <p:spPr>
          <a:xfrm>
            <a:off x="685800" y="1783080"/>
            <a:ext cx="2011680" cy="411480"/>
          </a:xfrm>
          <a:prstGeom prst="rect">
            <a:avLst/>
          </a:prstGeom>
          <a:noFill/>
          <a:ln/>
        </p:spPr>
        <p:txBody>
          <a:bodyPr wrap="square" lIns="0" tIns="0" rIns="0" bIns="0" rtlCol="0" anchor="ctr"/>
          <a:lstStyle/>
          <a:p>
            <a:pPr indent="0" marL="0">
              <a:buNone/>
            </a:pPr>
            <a:r>
              <a:rPr lang="en-US" sz="1500" i="1" dirty="0">
                <a:solidFill>
                  <a:srgbClr val="1E2023"/>
                </a:solidFill>
                <a:latin typeface="Cambria" pitchFamily="34" charset="0"/>
                <a:ea typeface="Cambria" pitchFamily="34" charset="-122"/>
                <a:cs typeface="Cambria" pitchFamily="34" charset="-120"/>
              </a:rPr>
              <a:t>Uscita e strade</a:t>
            </a:r>
            <a:endParaRPr lang="en-US" sz="1500" dirty="0"/>
          </a:p>
        </p:txBody>
      </p:sp>
      <p:sp>
        <p:nvSpPr>
          <p:cNvPr id="6" name="Text 3"/>
          <p:cNvSpPr txBox="1"/>
          <p:nvPr/>
        </p:nvSpPr>
        <p:spPr>
          <a:xfrm>
            <a:off x="2788920" y="1783080"/>
            <a:ext cx="4846320" cy="411480"/>
          </a:xfrm>
          <a:prstGeom prst="rect">
            <a:avLst/>
          </a:prstGeom>
          <a:noFill/>
          <a:ln/>
        </p:spPr>
        <p:txBody>
          <a:bodyPr wrap="square" lIns="0" tIns="0" rIns="0" bIns="0" rtlCol="0" anchor="ctr"/>
          <a:lstStyle/>
          <a:p>
            <a:pPr indent="0" marL="0">
              <a:lnSpc>
                <a:spcPct val="115000"/>
              </a:lnSpc>
              <a:spcAft>
                <a:spcPts val="600"/>
              </a:spcAft>
              <a:buNone/>
            </a:pPr>
            <a:r>
              <a:rPr lang="en-US" sz="1250" dirty="0">
                <a:solidFill>
                  <a:srgbClr val="5E6266"/>
                </a:solidFill>
                <a:latin typeface="Arial" pitchFamily="34" charset="0"/>
                <a:ea typeface="Arial" pitchFamily="34" charset="-122"/>
                <a:cs typeface="Arial" pitchFamily="34" charset="-120"/>
              </a:rPr>
              <a:t>Saint-Germain, rue du Bac, Marais, 7° arrondissement</a:t>
            </a:r>
            <a:endParaRPr lang="en-US" sz="1250" dirty="0"/>
          </a:p>
        </p:txBody>
      </p:sp>
      <p:sp>
        <p:nvSpPr>
          <p:cNvPr id="7" name="Shape 4"/>
          <p:cNvSpPr/>
          <p:nvPr/>
        </p:nvSpPr>
        <p:spPr>
          <a:xfrm>
            <a:off x="685800" y="2276856"/>
            <a:ext cx="6949440" cy="0"/>
          </a:xfrm>
          <a:prstGeom prst="line">
            <a:avLst/>
          </a:prstGeom>
          <a:noFill/>
          <a:ln w="9525">
            <a:solidFill>
              <a:srgbClr val="DCDDDC"/>
            </a:solidFill>
            <a:prstDash val="solid"/>
          </a:ln>
        </p:spPr>
      </p:sp>
      <p:sp>
        <p:nvSpPr>
          <p:cNvPr id="8" name="Text 5"/>
          <p:cNvSpPr txBox="1"/>
          <p:nvPr/>
        </p:nvSpPr>
        <p:spPr>
          <a:xfrm>
            <a:off x="685800" y="2368296"/>
            <a:ext cx="2011680" cy="411480"/>
          </a:xfrm>
          <a:prstGeom prst="rect">
            <a:avLst/>
          </a:prstGeom>
          <a:noFill/>
          <a:ln/>
        </p:spPr>
        <p:txBody>
          <a:bodyPr wrap="square" lIns="0" tIns="0" rIns="0" bIns="0" rtlCol="0" anchor="ctr"/>
          <a:lstStyle/>
          <a:p>
            <a:pPr indent="0" marL="0">
              <a:buNone/>
            </a:pPr>
            <a:r>
              <a:rPr lang="en-US" sz="1500" i="1" dirty="0">
                <a:solidFill>
                  <a:srgbClr val="1E2023"/>
                </a:solidFill>
                <a:latin typeface="Cambria" pitchFamily="34" charset="0"/>
                <a:ea typeface="Cambria" pitchFamily="34" charset="-122"/>
                <a:cs typeface="Cambria" pitchFamily="34" charset="-120"/>
              </a:rPr>
              <a:t>Attraversamento</a:t>
            </a:r>
            <a:endParaRPr lang="en-US" sz="1500" dirty="0"/>
          </a:p>
        </p:txBody>
      </p:sp>
      <p:sp>
        <p:nvSpPr>
          <p:cNvPr id="9" name="Text 6"/>
          <p:cNvSpPr txBox="1"/>
          <p:nvPr/>
        </p:nvSpPr>
        <p:spPr>
          <a:xfrm>
            <a:off x="2788920" y="2368296"/>
            <a:ext cx="4846320" cy="411480"/>
          </a:xfrm>
          <a:prstGeom prst="rect">
            <a:avLst/>
          </a:prstGeom>
          <a:noFill/>
          <a:ln/>
        </p:spPr>
        <p:txBody>
          <a:bodyPr wrap="square" lIns="0" tIns="0" rIns="0" bIns="0" rtlCol="0" anchor="ctr"/>
          <a:lstStyle/>
          <a:p>
            <a:pPr indent="0" marL="0">
              <a:lnSpc>
                <a:spcPct val="115000"/>
              </a:lnSpc>
              <a:spcAft>
                <a:spcPts val="600"/>
              </a:spcAft>
              <a:buNone/>
            </a:pPr>
            <a:r>
              <a:rPr lang="en-US" sz="1250" dirty="0">
                <a:solidFill>
                  <a:srgbClr val="5E6266"/>
                </a:solidFill>
                <a:latin typeface="Arial" pitchFamily="34" charset="0"/>
                <a:ea typeface="Arial" pitchFamily="34" charset="-122"/>
                <a:cs typeface="Arial" pitchFamily="34" charset="-120"/>
              </a:rPr>
              <a:t>Grandi incroci haussmanniani: Opéra, boulevard Saint-Germain</a:t>
            </a:r>
            <a:endParaRPr lang="en-US" sz="1250" dirty="0"/>
          </a:p>
        </p:txBody>
      </p:sp>
      <p:sp>
        <p:nvSpPr>
          <p:cNvPr id="10" name="Shape 7"/>
          <p:cNvSpPr/>
          <p:nvPr/>
        </p:nvSpPr>
        <p:spPr>
          <a:xfrm>
            <a:off x="685800" y="2862072"/>
            <a:ext cx="6949440" cy="0"/>
          </a:xfrm>
          <a:prstGeom prst="line">
            <a:avLst/>
          </a:prstGeom>
          <a:noFill/>
          <a:ln w="9525">
            <a:solidFill>
              <a:srgbClr val="DCDDDC"/>
            </a:solidFill>
            <a:prstDash val="solid"/>
          </a:ln>
        </p:spPr>
      </p:sp>
      <p:sp>
        <p:nvSpPr>
          <p:cNvPr id="11" name="Text 8"/>
          <p:cNvSpPr txBox="1"/>
          <p:nvPr/>
        </p:nvSpPr>
        <p:spPr>
          <a:xfrm>
            <a:off x="685800" y="2953512"/>
            <a:ext cx="2011680" cy="411480"/>
          </a:xfrm>
          <a:prstGeom prst="rect">
            <a:avLst/>
          </a:prstGeom>
          <a:noFill/>
          <a:ln/>
        </p:spPr>
        <p:txBody>
          <a:bodyPr wrap="square" lIns="0" tIns="0" rIns="0" bIns="0" rtlCol="0" anchor="ctr"/>
          <a:lstStyle/>
          <a:p>
            <a:pPr indent="0" marL="0">
              <a:buNone/>
            </a:pPr>
            <a:r>
              <a:rPr lang="en-US" sz="1500" i="1" dirty="0">
                <a:solidFill>
                  <a:srgbClr val="1E2023"/>
                </a:solidFill>
                <a:latin typeface="Cambria" pitchFamily="34" charset="0"/>
                <a:ea typeface="Cambria" pitchFamily="34" charset="-122"/>
                <a:cs typeface="Cambria" pitchFamily="34" charset="-120"/>
              </a:rPr>
              <a:t>Caffè</a:t>
            </a:r>
            <a:endParaRPr lang="en-US" sz="1500" dirty="0"/>
          </a:p>
        </p:txBody>
      </p:sp>
      <p:sp>
        <p:nvSpPr>
          <p:cNvPr id="12" name="Text 9"/>
          <p:cNvSpPr txBox="1"/>
          <p:nvPr/>
        </p:nvSpPr>
        <p:spPr>
          <a:xfrm>
            <a:off x="2788920" y="2953512"/>
            <a:ext cx="4846320" cy="411480"/>
          </a:xfrm>
          <a:prstGeom prst="rect">
            <a:avLst/>
          </a:prstGeom>
          <a:noFill/>
          <a:ln/>
        </p:spPr>
        <p:txBody>
          <a:bodyPr wrap="square" lIns="0" tIns="0" rIns="0" bIns="0" rtlCol="0" anchor="ctr"/>
          <a:lstStyle/>
          <a:p>
            <a:pPr indent="0" marL="0">
              <a:lnSpc>
                <a:spcPct val="115000"/>
              </a:lnSpc>
              <a:spcAft>
                <a:spcPts val="600"/>
              </a:spcAft>
              <a:buNone/>
            </a:pPr>
            <a:r>
              <a:rPr lang="en-US" sz="1250" dirty="0">
                <a:solidFill>
                  <a:srgbClr val="5E6266"/>
                </a:solidFill>
                <a:latin typeface="Arial" pitchFamily="34" charset="0"/>
                <a:ea typeface="Arial" pitchFamily="34" charset="-122"/>
                <a:cs typeface="Arial" pitchFamily="34" charset="-120"/>
              </a:rPr>
              <a:t>Le Nemours (Place Colette), Café de Flore, bistrot di quartiere</a:t>
            </a:r>
            <a:endParaRPr lang="en-US" sz="1250" dirty="0"/>
          </a:p>
        </p:txBody>
      </p:sp>
      <p:sp>
        <p:nvSpPr>
          <p:cNvPr id="13" name="Shape 10"/>
          <p:cNvSpPr/>
          <p:nvPr/>
        </p:nvSpPr>
        <p:spPr>
          <a:xfrm>
            <a:off x="685800" y="3447288"/>
            <a:ext cx="6949440" cy="0"/>
          </a:xfrm>
          <a:prstGeom prst="line">
            <a:avLst/>
          </a:prstGeom>
          <a:noFill/>
          <a:ln w="9525">
            <a:solidFill>
              <a:srgbClr val="DCDDDC"/>
            </a:solidFill>
            <a:prstDash val="solid"/>
          </a:ln>
        </p:spPr>
      </p:sp>
      <p:sp>
        <p:nvSpPr>
          <p:cNvPr id="14" name="Text 11"/>
          <p:cNvSpPr txBox="1"/>
          <p:nvPr/>
        </p:nvSpPr>
        <p:spPr>
          <a:xfrm>
            <a:off x="685800" y="3538728"/>
            <a:ext cx="2011680" cy="411480"/>
          </a:xfrm>
          <a:prstGeom prst="rect">
            <a:avLst/>
          </a:prstGeom>
          <a:noFill/>
          <a:ln/>
        </p:spPr>
        <p:txBody>
          <a:bodyPr wrap="square" lIns="0" tIns="0" rIns="0" bIns="0" rtlCol="0" anchor="ctr"/>
          <a:lstStyle/>
          <a:p>
            <a:pPr indent="0" marL="0">
              <a:buNone/>
            </a:pPr>
            <a:r>
              <a:rPr lang="en-US" sz="1500" i="1" dirty="0">
                <a:solidFill>
                  <a:srgbClr val="1E2023"/>
                </a:solidFill>
                <a:latin typeface="Cambria" pitchFamily="34" charset="0"/>
                <a:ea typeface="Cambria" pitchFamily="34" charset="-122"/>
                <a:cs typeface="Cambria" pitchFamily="34" charset="-120"/>
              </a:rPr>
              <a:t>Metro</a:t>
            </a:r>
            <a:endParaRPr lang="en-US" sz="1500" dirty="0"/>
          </a:p>
        </p:txBody>
      </p:sp>
      <p:sp>
        <p:nvSpPr>
          <p:cNvPr id="15" name="Text 12"/>
          <p:cNvSpPr txBox="1"/>
          <p:nvPr/>
        </p:nvSpPr>
        <p:spPr>
          <a:xfrm>
            <a:off x="2788920" y="3538728"/>
            <a:ext cx="4846320" cy="411480"/>
          </a:xfrm>
          <a:prstGeom prst="rect">
            <a:avLst/>
          </a:prstGeom>
          <a:noFill/>
          <a:ln/>
        </p:spPr>
        <p:txBody>
          <a:bodyPr wrap="square" lIns="0" tIns="0" rIns="0" bIns="0" rtlCol="0" anchor="ctr"/>
          <a:lstStyle/>
          <a:p>
            <a:pPr indent="0" marL="0">
              <a:lnSpc>
                <a:spcPct val="115000"/>
              </a:lnSpc>
              <a:spcAft>
                <a:spcPts val="600"/>
              </a:spcAft>
              <a:buNone/>
            </a:pPr>
            <a:r>
              <a:rPr lang="en-US" sz="1250" dirty="0">
                <a:solidFill>
                  <a:srgbClr val="5E6266"/>
                </a:solidFill>
                <a:latin typeface="Arial" pitchFamily="34" charset="0"/>
                <a:ea typeface="Arial" pitchFamily="34" charset="-122"/>
                <a:cs typeface="Arial" pitchFamily="34" charset="-120"/>
              </a:rPr>
              <a:t>Ingressi Guimard (Abbesses, Porte Dauphine), stazione Arts et Métiers</a:t>
            </a:r>
            <a:endParaRPr lang="en-US" sz="1250" dirty="0"/>
          </a:p>
        </p:txBody>
      </p:sp>
      <p:sp>
        <p:nvSpPr>
          <p:cNvPr id="16" name="Shape 13"/>
          <p:cNvSpPr/>
          <p:nvPr/>
        </p:nvSpPr>
        <p:spPr>
          <a:xfrm>
            <a:off x="685800" y="4032504"/>
            <a:ext cx="6949440" cy="0"/>
          </a:xfrm>
          <a:prstGeom prst="line">
            <a:avLst/>
          </a:prstGeom>
          <a:noFill/>
          <a:ln w="9525">
            <a:solidFill>
              <a:srgbClr val="DCDDDC"/>
            </a:solidFill>
            <a:prstDash val="solid"/>
          </a:ln>
        </p:spPr>
      </p:sp>
      <p:sp>
        <p:nvSpPr>
          <p:cNvPr id="17" name="Text 14"/>
          <p:cNvSpPr txBox="1"/>
          <p:nvPr/>
        </p:nvSpPr>
        <p:spPr>
          <a:xfrm>
            <a:off x="685800" y="4123944"/>
            <a:ext cx="2011680" cy="411480"/>
          </a:xfrm>
          <a:prstGeom prst="rect">
            <a:avLst/>
          </a:prstGeom>
          <a:noFill/>
          <a:ln/>
        </p:spPr>
        <p:txBody>
          <a:bodyPr wrap="square" lIns="0" tIns="0" rIns="0" bIns="0" rtlCol="0" anchor="ctr"/>
          <a:lstStyle/>
          <a:p>
            <a:pPr indent="0" marL="0">
              <a:buNone/>
            </a:pPr>
            <a:r>
              <a:rPr lang="en-US" sz="1500" i="1" dirty="0">
                <a:solidFill>
                  <a:srgbClr val="1E2023"/>
                </a:solidFill>
                <a:latin typeface="Cambria" pitchFamily="34" charset="0"/>
                <a:ea typeface="Cambria" pitchFamily="34" charset="-122"/>
                <a:cs typeface="Cambria" pitchFamily="34" charset="-120"/>
              </a:rPr>
              <a:t>Ascensore</a:t>
            </a:r>
            <a:endParaRPr lang="en-US" sz="1500" dirty="0"/>
          </a:p>
        </p:txBody>
      </p:sp>
      <p:sp>
        <p:nvSpPr>
          <p:cNvPr id="18" name="Text 15"/>
          <p:cNvSpPr txBox="1"/>
          <p:nvPr/>
        </p:nvSpPr>
        <p:spPr>
          <a:xfrm>
            <a:off x="2788920" y="4123944"/>
            <a:ext cx="4846320" cy="411480"/>
          </a:xfrm>
          <a:prstGeom prst="rect">
            <a:avLst/>
          </a:prstGeom>
          <a:noFill/>
          <a:ln/>
        </p:spPr>
        <p:txBody>
          <a:bodyPr wrap="square" lIns="0" tIns="0" rIns="0" bIns="0" rtlCol="0" anchor="ctr"/>
          <a:lstStyle/>
          <a:p>
            <a:pPr indent="0" marL="0">
              <a:lnSpc>
                <a:spcPct val="115000"/>
              </a:lnSpc>
              <a:spcAft>
                <a:spcPts val="600"/>
              </a:spcAft>
              <a:buNone/>
            </a:pPr>
            <a:r>
              <a:rPr lang="en-US" sz="1250" dirty="0">
                <a:solidFill>
                  <a:srgbClr val="5E6266"/>
                </a:solidFill>
                <a:latin typeface="Arial" pitchFamily="34" charset="0"/>
                <a:ea typeface="Arial" pitchFamily="34" charset="-122"/>
                <a:cs typeface="Arial" pitchFamily="34" charset="-120"/>
              </a:rPr>
              <a:t>Palazzo haussmanniano o hôtel particulier affittato come location</a:t>
            </a:r>
            <a:endParaRPr lang="en-US" sz="1250" dirty="0"/>
          </a:p>
        </p:txBody>
      </p:sp>
      <p:sp>
        <p:nvSpPr>
          <p:cNvPr id="19" name="Shape 16"/>
          <p:cNvSpPr/>
          <p:nvPr/>
        </p:nvSpPr>
        <p:spPr>
          <a:xfrm>
            <a:off x="685800" y="4617720"/>
            <a:ext cx="6949440" cy="0"/>
          </a:xfrm>
          <a:prstGeom prst="line">
            <a:avLst/>
          </a:prstGeom>
          <a:noFill/>
          <a:ln w="9525">
            <a:solidFill>
              <a:srgbClr val="DCDDDC"/>
            </a:solidFill>
            <a:prstDash val="solid"/>
          </a:ln>
        </p:spPr>
      </p:sp>
      <p:sp>
        <p:nvSpPr>
          <p:cNvPr id="20" name="Text 17"/>
          <p:cNvSpPr txBox="1"/>
          <p:nvPr/>
        </p:nvSpPr>
        <p:spPr>
          <a:xfrm>
            <a:off x="685800" y="4709160"/>
            <a:ext cx="2011680" cy="411480"/>
          </a:xfrm>
          <a:prstGeom prst="rect">
            <a:avLst/>
          </a:prstGeom>
          <a:noFill/>
          <a:ln/>
        </p:spPr>
        <p:txBody>
          <a:bodyPr wrap="square" lIns="0" tIns="0" rIns="0" bIns="0" rtlCol="0" anchor="ctr"/>
          <a:lstStyle/>
          <a:p>
            <a:pPr indent="0" marL="0">
              <a:buNone/>
            </a:pPr>
            <a:r>
              <a:rPr lang="en-US" sz="1500" i="1" dirty="0">
                <a:solidFill>
                  <a:srgbClr val="1E2023"/>
                </a:solidFill>
                <a:latin typeface="Cambria" pitchFamily="34" charset="0"/>
                <a:ea typeface="Cambria" pitchFamily="34" charset="-122"/>
                <a:cs typeface="Cambria" pitchFamily="34" charset="-120"/>
              </a:rPr>
              <a:t>Riparo</a:t>
            </a:r>
            <a:endParaRPr lang="en-US" sz="1500" dirty="0"/>
          </a:p>
        </p:txBody>
      </p:sp>
      <p:sp>
        <p:nvSpPr>
          <p:cNvPr id="21" name="Text 18"/>
          <p:cNvSpPr txBox="1"/>
          <p:nvPr/>
        </p:nvSpPr>
        <p:spPr>
          <a:xfrm>
            <a:off x="2788920" y="4709160"/>
            <a:ext cx="4846320" cy="411480"/>
          </a:xfrm>
          <a:prstGeom prst="rect">
            <a:avLst/>
          </a:prstGeom>
          <a:noFill/>
          <a:ln/>
        </p:spPr>
        <p:txBody>
          <a:bodyPr wrap="square" lIns="0" tIns="0" rIns="0" bIns="0" rtlCol="0" anchor="ctr"/>
          <a:lstStyle/>
          <a:p>
            <a:pPr indent="0" marL="0">
              <a:lnSpc>
                <a:spcPct val="115000"/>
              </a:lnSpc>
              <a:spcAft>
                <a:spcPts val="600"/>
              </a:spcAft>
              <a:buNone/>
            </a:pPr>
            <a:r>
              <a:rPr lang="en-US" sz="1250" dirty="0">
                <a:solidFill>
                  <a:srgbClr val="5E6266"/>
                </a:solidFill>
                <a:latin typeface="Arial" pitchFamily="34" charset="0"/>
                <a:ea typeface="Arial" pitchFamily="34" charset="-122"/>
                <a:cs typeface="Arial" pitchFamily="34" charset="-120"/>
              </a:rPr>
              <a:t>Portici del Palais-Royal, Rue de Rivoli, Place des Vosges</a:t>
            </a:r>
            <a:endParaRPr lang="en-US" sz="1250" dirty="0"/>
          </a:p>
        </p:txBody>
      </p:sp>
      <p:sp>
        <p:nvSpPr>
          <p:cNvPr id="22" name="Shape 19"/>
          <p:cNvSpPr/>
          <p:nvPr/>
        </p:nvSpPr>
        <p:spPr>
          <a:xfrm>
            <a:off x="685800" y="5202936"/>
            <a:ext cx="6949440" cy="0"/>
          </a:xfrm>
          <a:prstGeom prst="line">
            <a:avLst/>
          </a:prstGeom>
          <a:noFill/>
          <a:ln w="9525">
            <a:solidFill>
              <a:srgbClr val="DCDDDC"/>
            </a:solidFill>
            <a:prstDash val="solid"/>
          </a:ln>
        </p:spPr>
      </p:sp>
      <p:sp>
        <p:nvSpPr>
          <p:cNvPr id="23" name="Text 20"/>
          <p:cNvSpPr txBox="1"/>
          <p:nvPr/>
        </p:nvSpPr>
        <p:spPr>
          <a:xfrm>
            <a:off x="685800" y="5294376"/>
            <a:ext cx="2011680" cy="411480"/>
          </a:xfrm>
          <a:prstGeom prst="rect">
            <a:avLst/>
          </a:prstGeom>
          <a:noFill/>
          <a:ln/>
        </p:spPr>
        <p:txBody>
          <a:bodyPr wrap="square" lIns="0" tIns="0" rIns="0" bIns="0" rtlCol="0" anchor="ctr"/>
          <a:lstStyle/>
          <a:p>
            <a:pPr indent="0" marL="0">
              <a:buNone/>
            </a:pPr>
            <a:r>
              <a:rPr lang="en-US" sz="1500" i="1" dirty="0">
                <a:solidFill>
                  <a:srgbClr val="1E2023"/>
                </a:solidFill>
                <a:latin typeface="Cambria" pitchFamily="34" charset="0"/>
                <a:ea typeface="Cambria" pitchFamily="34" charset="-122"/>
                <a:cs typeface="Cambria" pitchFamily="34" charset="-120"/>
              </a:rPr>
              <a:t>Passeggiata</a:t>
            </a:r>
            <a:endParaRPr lang="en-US" sz="1500" dirty="0"/>
          </a:p>
        </p:txBody>
      </p:sp>
      <p:sp>
        <p:nvSpPr>
          <p:cNvPr id="24" name="Text 21"/>
          <p:cNvSpPr txBox="1"/>
          <p:nvPr/>
        </p:nvSpPr>
        <p:spPr>
          <a:xfrm>
            <a:off x="2788920" y="5294376"/>
            <a:ext cx="4846320" cy="411480"/>
          </a:xfrm>
          <a:prstGeom prst="rect">
            <a:avLst/>
          </a:prstGeom>
          <a:noFill/>
          <a:ln/>
        </p:spPr>
        <p:txBody>
          <a:bodyPr wrap="square" lIns="0" tIns="0" rIns="0" bIns="0" rtlCol="0" anchor="ctr"/>
          <a:lstStyle/>
          <a:p>
            <a:pPr indent="0" marL="0">
              <a:lnSpc>
                <a:spcPct val="115000"/>
              </a:lnSpc>
              <a:spcAft>
                <a:spcPts val="600"/>
              </a:spcAft>
              <a:buNone/>
            </a:pPr>
            <a:r>
              <a:rPr lang="en-US" sz="1250" dirty="0">
                <a:solidFill>
                  <a:srgbClr val="5E6266"/>
                </a:solidFill>
                <a:latin typeface="Arial" pitchFamily="34" charset="0"/>
                <a:ea typeface="Arial" pitchFamily="34" charset="-122"/>
                <a:cs typeface="Arial" pitchFamily="34" charset="-120"/>
              </a:rPr>
              <a:t>Jardin du Palais-Royal, Tuileries, Luxembourg, lungosenna</a:t>
            </a:r>
            <a:endParaRPr lang="en-US" sz="1250" dirty="0"/>
          </a:p>
        </p:txBody>
      </p:sp>
      <p:sp>
        <p:nvSpPr>
          <p:cNvPr id="25" name="Text 22"/>
          <p:cNvSpPr txBox="1"/>
          <p:nvPr/>
        </p:nvSpPr>
        <p:spPr>
          <a:xfrm>
            <a:off x="685800" y="6080760"/>
            <a:ext cx="6949440" cy="274320"/>
          </a:xfrm>
          <a:prstGeom prst="rect">
            <a:avLst/>
          </a:prstGeom>
          <a:noFill/>
          <a:ln/>
        </p:spPr>
        <p:txBody>
          <a:bodyPr wrap="square" lIns="0" tIns="0" rIns="0" bIns="0" rtlCol="0" anchor="t"/>
          <a:lstStyle/>
          <a:p>
            <a:pPr indent="0" marL="0">
              <a:lnSpc>
                <a:spcPct val="115000"/>
              </a:lnSpc>
              <a:spcAft>
                <a:spcPts val="600"/>
              </a:spcAft>
              <a:buNone/>
            </a:pPr>
            <a:r>
              <a:rPr lang="en-US" sz="1000" dirty="0">
                <a:solidFill>
                  <a:srgbClr val="8A8D90"/>
                </a:solidFill>
                <a:latin typeface="Arial" pitchFamily="34" charset="0"/>
                <a:ea typeface="Arial" pitchFamily="34" charset="-122"/>
                <a:cs typeface="Arial" pitchFamily="34" charset="-120"/>
              </a:rPr>
              <a:t>Proposte da verificare in sopralluogo. Metro, giardini e interni richiedono autorizzazioni.</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img/column.jpg">    </p:cNvPr>
          <p:cNvPicPr>
            <a:picLocks noChangeAspect="1"/>
          </p:cNvPicPr>
          <p:nvPr/>
        </p:nvPicPr>
        <p:blipFill>
          <a:blip r:embed="rId1"/>
          <a:srcRect l="10519" r="24543" t="0" b="0"/>
          <a:stretch/>
        </p:blipFill>
        <p:spPr>
          <a:xfrm>
            <a:off x="8899855" y="0"/>
            <a:ext cx="3291840" cy="6858000"/>
          </a:xfrm>
          <a:prstGeom prst="rect">
            <a:avLst/>
          </a:prstGeom>
        </p:spPr>
      </p:pic>
      <p:sp>
        <p:nvSpPr>
          <p:cNvPr id="3" name="Text 0"/>
          <p:cNvSpPr txBox="1"/>
          <p:nvPr/>
        </p:nvSpPr>
        <p:spPr>
          <a:xfrm>
            <a:off x="685800" y="548640"/>
            <a:ext cx="5486400" cy="274320"/>
          </a:xfrm>
          <a:prstGeom prst="rect">
            <a:avLst/>
          </a:prstGeom>
          <a:noFill/>
          <a:ln/>
        </p:spPr>
        <p:txBody>
          <a:bodyPr wrap="square" lIns="0" tIns="0" rIns="0" bIns="0" rtlCol="0" anchor="ctr"/>
          <a:lstStyle/>
          <a:p>
            <a:pPr indent="0" marL="0">
              <a:buNone/>
            </a:pPr>
            <a:r>
              <a:rPr lang="en-US" sz="1000" spc="400" kern="0" dirty="0">
                <a:solidFill>
                  <a:srgbClr val="5E6266"/>
                </a:solidFill>
                <a:latin typeface="Arial" pitchFamily="34" charset="0"/>
                <a:ea typeface="Arial" pitchFamily="34" charset="-122"/>
                <a:cs typeface="Arial" pitchFamily="34" charset="-120"/>
              </a:rPr>
              <a:t>08 — ALTERNATIVA A PARIGI</a:t>
            </a:r>
            <a:endParaRPr lang="en-US" sz="1000" dirty="0"/>
          </a:p>
        </p:txBody>
      </p:sp>
      <p:sp>
        <p:nvSpPr>
          <p:cNvPr id="4" name="Text 1"/>
          <p:cNvSpPr txBox="1"/>
          <p:nvPr/>
        </p:nvSpPr>
        <p:spPr>
          <a:xfrm>
            <a:off x="685800" y="868680"/>
            <a:ext cx="7680960" cy="731520"/>
          </a:xfrm>
          <a:prstGeom prst="rect">
            <a:avLst/>
          </a:prstGeom>
          <a:noFill/>
          <a:ln/>
        </p:spPr>
        <p:txBody>
          <a:bodyPr wrap="square" lIns="0" tIns="0" rIns="0" bIns="0" rtlCol="0" anchor="t"/>
          <a:lstStyle/>
          <a:p>
            <a:pPr indent="0" marL="0">
              <a:buNone/>
            </a:pPr>
            <a:r>
              <a:rPr lang="en-US" sz="3200" dirty="0">
                <a:solidFill>
                  <a:srgbClr val="1E2023"/>
                </a:solidFill>
                <a:latin typeface="Cambria" pitchFamily="34" charset="0"/>
                <a:ea typeface="Cambria" pitchFamily="34" charset="-122"/>
                <a:cs typeface="Cambria" pitchFamily="34" charset="-120"/>
              </a:rPr>
              <a:t>Torino, la più parigina d’Italia</a:t>
            </a:r>
            <a:endParaRPr lang="en-US" sz="3200" dirty="0"/>
          </a:p>
        </p:txBody>
      </p:sp>
      <p:sp>
        <p:nvSpPr>
          <p:cNvPr id="5" name="Text 2"/>
          <p:cNvSpPr txBox="1"/>
          <p:nvPr/>
        </p:nvSpPr>
        <p:spPr>
          <a:xfrm>
            <a:off x="685800" y="1600200"/>
            <a:ext cx="7772400" cy="731520"/>
          </a:xfrm>
          <a:prstGeom prst="rect">
            <a:avLst/>
          </a:prstGeom>
          <a:noFill/>
          <a:ln/>
        </p:spPr>
        <p:txBody>
          <a:bodyPr wrap="square" lIns="0" tIns="0" rIns="0" bIns="0" rtlCol="0" anchor="t"/>
          <a:lstStyle/>
          <a:p>
            <a:pPr indent="0" marL="0">
              <a:lnSpc>
                <a:spcPct val="115000"/>
              </a:lnSpc>
              <a:spcAft>
                <a:spcPts val="600"/>
              </a:spcAft>
              <a:buNone/>
            </a:pPr>
            <a:r>
              <a:rPr lang="en-US" sz="1300" dirty="0">
                <a:solidFill>
                  <a:srgbClr val="5E6266"/>
                </a:solidFill>
                <a:latin typeface="Arial" pitchFamily="34" charset="0"/>
                <a:ea typeface="Arial" pitchFamily="34" charset="-122"/>
                <a:cs typeface="Arial" pitchFamily="34" charset="-120"/>
              </a:rPr>
              <a:t>Portici, caffè storici, palazzi barocchi e liberty, e d’inverno la nebbia che sale dal Po. Il racconto resta lo stesso, con costi e logistica italiani: niente trasferte all’estero, troupe e permessi locali.</a:t>
            </a:r>
            <a:endParaRPr lang="en-US" sz="1300" dirty="0"/>
          </a:p>
        </p:txBody>
      </p:sp>
      <p:sp>
        <p:nvSpPr>
          <p:cNvPr id="6" name="Text 3"/>
          <p:cNvSpPr txBox="1"/>
          <p:nvPr/>
        </p:nvSpPr>
        <p:spPr>
          <a:xfrm>
            <a:off x="685800" y="2514600"/>
            <a:ext cx="2103120" cy="384048"/>
          </a:xfrm>
          <a:prstGeom prst="rect">
            <a:avLst/>
          </a:prstGeom>
          <a:noFill/>
          <a:ln/>
        </p:spPr>
        <p:txBody>
          <a:bodyPr wrap="square" lIns="0" tIns="0" rIns="0" bIns="0" rtlCol="0" anchor="ctr"/>
          <a:lstStyle/>
          <a:p>
            <a:pPr indent="0" marL="0">
              <a:buNone/>
            </a:pPr>
            <a:r>
              <a:rPr lang="en-US" sz="1400" i="1" dirty="0">
                <a:solidFill>
                  <a:srgbClr val="1E2023"/>
                </a:solidFill>
                <a:latin typeface="Cambria" pitchFamily="34" charset="0"/>
                <a:ea typeface="Cambria" pitchFamily="34" charset="-122"/>
                <a:cs typeface="Cambria" pitchFamily="34" charset="-120"/>
              </a:rPr>
              <a:t>Uscita e strade</a:t>
            </a:r>
            <a:endParaRPr lang="en-US" sz="1400" dirty="0"/>
          </a:p>
        </p:txBody>
      </p:sp>
      <p:sp>
        <p:nvSpPr>
          <p:cNvPr id="7" name="Text 4"/>
          <p:cNvSpPr txBox="1"/>
          <p:nvPr/>
        </p:nvSpPr>
        <p:spPr>
          <a:xfrm>
            <a:off x="2834640" y="2514600"/>
            <a:ext cx="5623560" cy="384048"/>
          </a:xfrm>
          <a:prstGeom prst="rect">
            <a:avLst/>
          </a:prstGeom>
          <a:noFill/>
          <a:ln/>
        </p:spPr>
        <p:txBody>
          <a:bodyPr wrap="square" lIns="0" tIns="0" rIns="0" bIns="0" rtlCol="0" anchor="ctr"/>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Via Po, Borgo Nuovo, Crocetta</a:t>
            </a:r>
            <a:endParaRPr lang="en-US" sz="1150" dirty="0"/>
          </a:p>
        </p:txBody>
      </p:sp>
      <p:sp>
        <p:nvSpPr>
          <p:cNvPr id="8" name="Shape 5"/>
          <p:cNvSpPr/>
          <p:nvPr/>
        </p:nvSpPr>
        <p:spPr>
          <a:xfrm>
            <a:off x="685800" y="2953512"/>
            <a:ext cx="7772400" cy="0"/>
          </a:xfrm>
          <a:prstGeom prst="line">
            <a:avLst/>
          </a:prstGeom>
          <a:noFill/>
          <a:ln w="9525">
            <a:solidFill>
              <a:srgbClr val="DCDDDC"/>
            </a:solidFill>
            <a:prstDash val="solid"/>
          </a:ln>
        </p:spPr>
      </p:sp>
      <p:sp>
        <p:nvSpPr>
          <p:cNvPr id="9" name="Text 6"/>
          <p:cNvSpPr txBox="1"/>
          <p:nvPr/>
        </p:nvSpPr>
        <p:spPr>
          <a:xfrm>
            <a:off x="685800" y="3026664"/>
            <a:ext cx="2103120" cy="384048"/>
          </a:xfrm>
          <a:prstGeom prst="rect">
            <a:avLst/>
          </a:prstGeom>
          <a:noFill/>
          <a:ln/>
        </p:spPr>
        <p:txBody>
          <a:bodyPr wrap="square" lIns="0" tIns="0" rIns="0" bIns="0" rtlCol="0" anchor="ctr"/>
          <a:lstStyle/>
          <a:p>
            <a:pPr indent="0" marL="0">
              <a:buNone/>
            </a:pPr>
            <a:r>
              <a:rPr lang="en-US" sz="1400" i="1" dirty="0">
                <a:solidFill>
                  <a:srgbClr val="1E2023"/>
                </a:solidFill>
                <a:latin typeface="Cambria" pitchFamily="34" charset="0"/>
                <a:ea typeface="Cambria" pitchFamily="34" charset="-122"/>
                <a:cs typeface="Cambria" pitchFamily="34" charset="-120"/>
              </a:rPr>
              <a:t>Attraversamento</a:t>
            </a:r>
            <a:endParaRPr lang="en-US" sz="1400" dirty="0"/>
          </a:p>
        </p:txBody>
      </p:sp>
      <p:sp>
        <p:nvSpPr>
          <p:cNvPr id="10" name="Text 7"/>
          <p:cNvSpPr txBox="1"/>
          <p:nvPr/>
        </p:nvSpPr>
        <p:spPr>
          <a:xfrm>
            <a:off x="2834640" y="3026664"/>
            <a:ext cx="5623560" cy="384048"/>
          </a:xfrm>
          <a:prstGeom prst="rect">
            <a:avLst/>
          </a:prstGeom>
          <a:noFill/>
          <a:ln/>
        </p:spPr>
        <p:txBody>
          <a:bodyPr wrap="square" lIns="0" tIns="0" rIns="0" bIns="0" rtlCol="0" anchor="ctr"/>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Piazza Castello, Piazza Vittorio Veneto, Corso Vittorio Emanuele II</a:t>
            </a:r>
            <a:endParaRPr lang="en-US" sz="1150" dirty="0"/>
          </a:p>
        </p:txBody>
      </p:sp>
      <p:sp>
        <p:nvSpPr>
          <p:cNvPr id="11" name="Shape 8"/>
          <p:cNvSpPr/>
          <p:nvPr/>
        </p:nvSpPr>
        <p:spPr>
          <a:xfrm>
            <a:off x="685800" y="3465576"/>
            <a:ext cx="7772400" cy="0"/>
          </a:xfrm>
          <a:prstGeom prst="line">
            <a:avLst/>
          </a:prstGeom>
          <a:noFill/>
          <a:ln w="9525">
            <a:solidFill>
              <a:srgbClr val="DCDDDC"/>
            </a:solidFill>
            <a:prstDash val="solid"/>
          </a:ln>
        </p:spPr>
      </p:sp>
      <p:sp>
        <p:nvSpPr>
          <p:cNvPr id="12" name="Text 9"/>
          <p:cNvSpPr txBox="1"/>
          <p:nvPr/>
        </p:nvSpPr>
        <p:spPr>
          <a:xfrm>
            <a:off x="685800" y="3538728"/>
            <a:ext cx="2103120" cy="384048"/>
          </a:xfrm>
          <a:prstGeom prst="rect">
            <a:avLst/>
          </a:prstGeom>
          <a:noFill/>
          <a:ln/>
        </p:spPr>
        <p:txBody>
          <a:bodyPr wrap="square" lIns="0" tIns="0" rIns="0" bIns="0" rtlCol="0" anchor="ctr"/>
          <a:lstStyle/>
          <a:p>
            <a:pPr indent="0" marL="0">
              <a:buNone/>
            </a:pPr>
            <a:r>
              <a:rPr lang="en-US" sz="1400" i="1" dirty="0">
                <a:solidFill>
                  <a:srgbClr val="1E2023"/>
                </a:solidFill>
                <a:latin typeface="Cambria" pitchFamily="34" charset="0"/>
                <a:ea typeface="Cambria" pitchFamily="34" charset="-122"/>
                <a:cs typeface="Cambria" pitchFamily="34" charset="-120"/>
              </a:rPr>
              <a:t>Caffè</a:t>
            </a:r>
            <a:endParaRPr lang="en-US" sz="1400" dirty="0"/>
          </a:p>
        </p:txBody>
      </p:sp>
      <p:sp>
        <p:nvSpPr>
          <p:cNvPr id="13" name="Text 10"/>
          <p:cNvSpPr txBox="1"/>
          <p:nvPr/>
        </p:nvSpPr>
        <p:spPr>
          <a:xfrm>
            <a:off x="2834640" y="3538728"/>
            <a:ext cx="5623560" cy="384048"/>
          </a:xfrm>
          <a:prstGeom prst="rect">
            <a:avLst/>
          </a:prstGeom>
          <a:noFill/>
          <a:ln/>
        </p:spPr>
        <p:txBody>
          <a:bodyPr wrap="square" lIns="0" tIns="0" rIns="0" bIns="0" rtlCol="0" anchor="ctr"/>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Caffè Mulassano, Al Bicerin, Caffè San Carlo, Baratti &amp; Milano</a:t>
            </a:r>
            <a:endParaRPr lang="en-US" sz="1150" dirty="0"/>
          </a:p>
        </p:txBody>
      </p:sp>
      <p:sp>
        <p:nvSpPr>
          <p:cNvPr id="14" name="Shape 11"/>
          <p:cNvSpPr/>
          <p:nvPr/>
        </p:nvSpPr>
        <p:spPr>
          <a:xfrm>
            <a:off x="685800" y="3977640"/>
            <a:ext cx="7772400" cy="0"/>
          </a:xfrm>
          <a:prstGeom prst="line">
            <a:avLst/>
          </a:prstGeom>
          <a:noFill/>
          <a:ln w="9525">
            <a:solidFill>
              <a:srgbClr val="DCDDDC"/>
            </a:solidFill>
            <a:prstDash val="solid"/>
          </a:ln>
        </p:spPr>
      </p:sp>
      <p:sp>
        <p:nvSpPr>
          <p:cNvPr id="15" name="Text 12"/>
          <p:cNvSpPr txBox="1"/>
          <p:nvPr/>
        </p:nvSpPr>
        <p:spPr>
          <a:xfrm>
            <a:off x="685800" y="4050792"/>
            <a:ext cx="2103120" cy="384048"/>
          </a:xfrm>
          <a:prstGeom prst="rect">
            <a:avLst/>
          </a:prstGeom>
          <a:noFill/>
          <a:ln/>
        </p:spPr>
        <p:txBody>
          <a:bodyPr wrap="square" lIns="0" tIns="0" rIns="0" bIns="0" rtlCol="0" anchor="ctr"/>
          <a:lstStyle/>
          <a:p>
            <a:pPr indent="0" marL="0">
              <a:buNone/>
            </a:pPr>
            <a:r>
              <a:rPr lang="en-US" sz="1400" i="1" dirty="0">
                <a:solidFill>
                  <a:srgbClr val="1E2023"/>
                </a:solidFill>
                <a:latin typeface="Cambria" pitchFamily="34" charset="0"/>
                <a:ea typeface="Cambria" pitchFamily="34" charset="-122"/>
                <a:cs typeface="Cambria" pitchFamily="34" charset="-120"/>
              </a:rPr>
              <a:t>Metro → gallerie</a:t>
            </a:r>
            <a:endParaRPr lang="en-US" sz="1400" dirty="0"/>
          </a:p>
        </p:txBody>
      </p:sp>
      <p:sp>
        <p:nvSpPr>
          <p:cNvPr id="16" name="Text 13"/>
          <p:cNvSpPr txBox="1"/>
          <p:nvPr/>
        </p:nvSpPr>
        <p:spPr>
          <a:xfrm>
            <a:off x="2834640" y="4050792"/>
            <a:ext cx="5623560" cy="384048"/>
          </a:xfrm>
          <a:prstGeom prst="rect">
            <a:avLst/>
          </a:prstGeom>
          <a:noFill/>
          <a:ln/>
        </p:spPr>
        <p:txBody>
          <a:bodyPr wrap="square" lIns="0" tIns="0" rIns="0" bIns="0" rtlCol="0" anchor="ctr"/>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La metro è moderna: la scena diventa Galleria Subalpina o San Federico, oppure il tram</a:t>
            </a:r>
            <a:endParaRPr lang="en-US" sz="1150" dirty="0"/>
          </a:p>
        </p:txBody>
      </p:sp>
      <p:sp>
        <p:nvSpPr>
          <p:cNvPr id="17" name="Shape 14"/>
          <p:cNvSpPr/>
          <p:nvPr/>
        </p:nvSpPr>
        <p:spPr>
          <a:xfrm>
            <a:off x="685800" y="4489704"/>
            <a:ext cx="7772400" cy="0"/>
          </a:xfrm>
          <a:prstGeom prst="line">
            <a:avLst/>
          </a:prstGeom>
          <a:noFill/>
          <a:ln w="9525">
            <a:solidFill>
              <a:srgbClr val="DCDDDC"/>
            </a:solidFill>
            <a:prstDash val="solid"/>
          </a:ln>
        </p:spPr>
      </p:sp>
      <p:sp>
        <p:nvSpPr>
          <p:cNvPr id="18" name="Text 15"/>
          <p:cNvSpPr txBox="1"/>
          <p:nvPr/>
        </p:nvSpPr>
        <p:spPr>
          <a:xfrm>
            <a:off x="685800" y="4562856"/>
            <a:ext cx="2103120" cy="384048"/>
          </a:xfrm>
          <a:prstGeom prst="rect">
            <a:avLst/>
          </a:prstGeom>
          <a:noFill/>
          <a:ln/>
        </p:spPr>
        <p:txBody>
          <a:bodyPr wrap="square" lIns="0" tIns="0" rIns="0" bIns="0" rtlCol="0" anchor="ctr"/>
          <a:lstStyle/>
          <a:p>
            <a:pPr indent="0" marL="0">
              <a:buNone/>
            </a:pPr>
            <a:r>
              <a:rPr lang="en-US" sz="1400" i="1" dirty="0">
                <a:solidFill>
                  <a:srgbClr val="1E2023"/>
                </a:solidFill>
                <a:latin typeface="Cambria" pitchFamily="34" charset="0"/>
                <a:ea typeface="Cambria" pitchFamily="34" charset="-122"/>
                <a:cs typeface="Cambria" pitchFamily="34" charset="-120"/>
              </a:rPr>
              <a:t>Ascensore</a:t>
            </a:r>
            <a:endParaRPr lang="en-US" sz="1400" dirty="0"/>
          </a:p>
        </p:txBody>
      </p:sp>
      <p:sp>
        <p:nvSpPr>
          <p:cNvPr id="19" name="Text 16"/>
          <p:cNvSpPr txBox="1"/>
          <p:nvPr/>
        </p:nvSpPr>
        <p:spPr>
          <a:xfrm>
            <a:off x="2834640" y="4562856"/>
            <a:ext cx="5623560" cy="384048"/>
          </a:xfrm>
          <a:prstGeom prst="rect">
            <a:avLst/>
          </a:prstGeom>
          <a:noFill/>
          <a:ln/>
        </p:spPr>
        <p:txBody>
          <a:bodyPr wrap="square" lIns="0" tIns="0" rIns="0" bIns="0" rtlCol="0" anchor="ctr"/>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Palazzi liberty di Cit Turin e Crocetta, androni del centro barocco</a:t>
            </a:r>
            <a:endParaRPr lang="en-US" sz="1150" dirty="0"/>
          </a:p>
        </p:txBody>
      </p:sp>
      <p:sp>
        <p:nvSpPr>
          <p:cNvPr id="20" name="Shape 17"/>
          <p:cNvSpPr/>
          <p:nvPr/>
        </p:nvSpPr>
        <p:spPr>
          <a:xfrm>
            <a:off x="685800" y="5001768"/>
            <a:ext cx="7772400" cy="0"/>
          </a:xfrm>
          <a:prstGeom prst="line">
            <a:avLst/>
          </a:prstGeom>
          <a:noFill/>
          <a:ln w="9525">
            <a:solidFill>
              <a:srgbClr val="DCDDDC"/>
            </a:solidFill>
            <a:prstDash val="solid"/>
          </a:ln>
        </p:spPr>
      </p:sp>
      <p:sp>
        <p:nvSpPr>
          <p:cNvPr id="21" name="Text 18"/>
          <p:cNvSpPr txBox="1"/>
          <p:nvPr/>
        </p:nvSpPr>
        <p:spPr>
          <a:xfrm>
            <a:off x="685800" y="5074920"/>
            <a:ext cx="2103120" cy="384048"/>
          </a:xfrm>
          <a:prstGeom prst="rect">
            <a:avLst/>
          </a:prstGeom>
          <a:noFill/>
          <a:ln/>
        </p:spPr>
        <p:txBody>
          <a:bodyPr wrap="square" lIns="0" tIns="0" rIns="0" bIns="0" rtlCol="0" anchor="ctr"/>
          <a:lstStyle/>
          <a:p>
            <a:pPr indent="0" marL="0">
              <a:buNone/>
            </a:pPr>
            <a:r>
              <a:rPr lang="en-US" sz="1400" i="1" dirty="0">
                <a:solidFill>
                  <a:srgbClr val="1E2023"/>
                </a:solidFill>
                <a:latin typeface="Cambria" pitchFamily="34" charset="0"/>
                <a:ea typeface="Cambria" pitchFamily="34" charset="-122"/>
                <a:cs typeface="Cambria" pitchFamily="34" charset="-120"/>
              </a:rPr>
              <a:t>Riparo</a:t>
            </a:r>
            <a:endParaRPr lang="en-US" sz="1400" dirty="0"/>
          </a:p>
        </p:txBody>
      </p:sp>
      <p:sp>
        <p:nvSpPr>
          <p:cNvPr id="22" name="Text 19"/>
          <p:cNvSpPr txBox="1"/>
          <p:nvPr/>
        </p:nvSpPr>
        <p:spPr>
          <a:xfrm>
            <a:off x="2834640" y="5074920"/>
            <a:ext cx="5623560" cy="384048"/>
          </a:xfrm>
          <a:prstGeom prst="rect">
            <a:avLst/>
          </a:prstGeom>
          <a:noFill/>
          <a:ln/>
        </p:spPr>
        <p:txBody>
          <a:bodyPr wrap="square" lIns="0" tIns="0" rIns="0" bIns="0" rtlCol="0" anchor="ctr"/>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I chilometri di portici: Via Po, Via Roma, Piazza San Carlo</a:t>
            </a:r>
            <a:endParaRPr lang="en-US" sz="1150" dirty="0"/>
          </a:p>
        </p:txBody>
      </p:sp>
      <p:sp>
        <p:nvSpPr>
          <p:cNvPr id="23" name="Shape 20"/>
          <p:cNvSpPr/>
          <p:nvPr/>
        </p:nvSpPr>
        <p:spPr>
          <a:xfrm>
            <a:off x="685800" y="5513832"/>
            <a:ext cx="7772400" cy="0"/>
          </a:xfrm>
          <a:prstGeom prst="line">
            <a:avLst/>
          </a:prstGeom>
          <a:noFill/>
          <a:ln w="9525">
            <a:solidFill>
              <a:srgbClr val="DCDDDC"/>
            </a:solidFill>
            <a:prstDash val="solid"/>
          </a:ln>
        </p:spPr>
      </p:sp>
      <p:sp>
        <p:nvSpPr>
          <p:cNvPr id="24" name="Text 21"/>
          <p:cNvSpPr txBox="1"/>
          <p:nvPr/>
        </p:nvSpPr>
        <p:spPr>
          <a:xfrm>
            <a:off x="685800" y="5586984"/>
            <a:ext cx="2103120" cy="384048"/>
          </a:xfrm>
          <a:prstGeom prst="rect">
            <a:avLst/>
          </a:prstGeom>
          <a:noFill/>
          <a:ln/>
        </p:spPr>
        <p:txBody>
          <a:bodyPr wrap="square" lIns="0" tIns="0" rIns="0" bIns="0" rtlCol="0" anchor="ctr"/>
          <a:lstStyle/>
          <a:p>
            <a:pPr indent="0" marL="0">
              <a:buNone/>
            </a:pPr>
            <a:r>
              <a:rPr lang="en-US" sz="1400" i="1" dirty="0">
                <a:solidFill>
                  <a:srgbClr val="1E2023"/>
                </a:solidFill>
                <a:latin typeface="Cambria" pitchFamily="34" charset="0"/>
                <a:ea typeface="Cambria" pitchFamily="34" charset="-122"/>
                <a:cs typeface="Cambria" pitchFamily="34" charset="-120"/>
              </a:rPr>
              <a:t>Passeggiata</a:t>
            </a:r>
            <a:endParaRPr lang="en-US" sz="1400" dirty="0"/>
          </a:p>
        </p:txBody>
      </p:sp>
      <p:sp>
        <p:nvSpPr>
          <p:cNvPr id="25" name="Text 22"/>
          <p:cNvSpPr txBox="1"/>
          <p:nvPr/>
        </p:nvSpPr>
        <p:spPr>
          <a:xfrm>
            <a:off x="2834640" y="5586984"/>
            <a:ext cx="5623560" cy="384048"/>
          </a:xfrm>
          <a:prstGeom prst="rect">
            <a:avLst/>
          </a:prstGeom>
          <a:noFill/>
          <a:ln/>
        </p:spPr>
        <p:txBody>
          <a:bodyPr wrap="square" lIns="0" tIns="0" rIns="0" bIns="0" rtlCol="0" anchor="ctr"/>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Parco del Valentino e Murazzi del Po nella nebbia</a:t>
            </a:r>
            <a:endParaRPr lang="en-US" sz="1150" dirty="0"/>
          </a:p>
        </p:txBody>
      </p:sp>
      <p:sp>
        <p:nvSpPr>
          <p:cNvPr id="26" name="Text 23"/>
          <p:cNvSpPr txBox="1"/>
          <p:nvPr/>
        </p:nvSpPr>
        <p:spPr>
          <a:xfrm>
            <a:off x="685800" y="6217920"/>
            <a:ext cx="7772400" cy="274320"/>
          </a:xfrm>
          <a:prstGeom prst="rect">
            <a:avLst/>
          </a:prstGeom>
          <a:noFill/>
          <a:ln/>
        </p:spPr>
        <p:txBody>
          <a:bodyPr wrap="square" lIns="0" tIns="0" rIns="0" bIns="0" rtlCol="0" anchor="t"/>
          <a:lstStyle/>
          <a:p>
            <a:pPr indent="0" marL="0">
              <a:lnSpc>
                <a:spcPct val="115000"/>
              </a:lnSpc>
              <a:spcAft>
                <a:spcPts val="600"/>
              </a:spcAft>
              <a:buNone/>
            </a:pPr>
            <a:r>
              <a:rPr lang="en-US" sz="1000" dirty="0">
                <a:solidFill>
                  <a:srgbClr val="8A8D90"/>
                </a:solidFill>
                <a:latin typeface="Arial" pitchFamily="34" charset="0"/>
                <a:ea typeface="Arial" pitchFamily="34" charset="-122"/>
                <a:cs typeface="Arial" pitchFamily="34" charset="-120"/>
              </a:rPr>
              <a:t>Permessi: Comune di Torino, con il supporto di Film Commission Torino Piemonte. Location da verificare in sopralluogo.</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2F0"/>
        </a:solidFill>
      </p:bgPr>
    </p:bg>
    <p:spTree>
      <p:nvGrpSpPr>
        <p:cNvPr id="1" name=""/>
        <p:cNvGrpSpPr/>
        <p:nvPr/>
      </p:nvGrpSpPr>
      <p:grpSpPr>
        <a:xfrm>
          <a:off x="0" y="0"/>
          <a:ext cx="0" cy="0"/>
          <a:chOff x="0" y="0"/>
          <a:chExt cx="0" cy="0"/>
        </a:xfrm>
      </p:grpSpPr>
      <p:sp>
        <p:nvSpPr>
          <p:cNvPr id="2" name="Text 0"/>
          <p:cNvSpPr txBox="1"/>
          <p:nvPr/>
        </p:nvSpPr>
        <p:spPr>
          <a:xfrm>
            <a:off x="685800" y="548640"/>
            <a:ext cx="5486400" cy="274320"/>
          </a:xfrm>
          <a:prstGeom prst="rect">
            <a:avLst/>
          </a:prstGeom>
          <a:noFill/>
          <a:ln/>
        </p:spPr>
        <p:txBody>
          <a:bodyPr wrap="square" lIns="0" tIns="0" rIns="0" bIns="0" rtlCol="0" anchor="ctr"/>
          <a:lstStyle/>
          <a:p>
            <a:pPr indent="0" marL="0">
              <a:buNone/>
            </a:pPr>
            <a:r>
              <a:rPr lang="en-US" sz="1000" spc="400" kern="0" dirty="0">
                <a:solidFill>
                  <a:srgbClr val="5E6266"/>
                </a:solidFill>
                <a:latin typeface="Arial" pitchFamily="34" charset="0"/>
                <a:ea typeface="Arial" pitchFamily="34" charset="-122"/>
                <a:cs typeface="Arial" pitchFamily="34" charset="-120"/>
              </a:rPr>
              <a:t>08 — ALTRE ALTERNATIVE</a:t>
            </a:r>
            <a:endParaRPr lang="en-US" sz="1000" dirty="0"/>
          </a:p>
        </p:txBody>
      </p:sp>
      <p:sp>
        <p:nvSpPr>
          <p:cNvPr id="3" name="Text 1"/>
          <p:cNvSpPr txBox="1"/>
          <p:nvPr/>
        </p:nvSpPr>
        <p:spPr>
          <a:xfrm>
            <a:off x="685800" y="868680"/>
            <a:ext cx="10058400" cy="731520"/>
          </a:xfrm>
          <a:prstGeom prst="rect">
            <a:avLst/>
          </a:prstGeom>
          <a:noFill/>
          <a:ln/>
        </p:spPr>
        <p:txBody>
          <a:bodyPr wrap="square" lIns="0" tIns="0" rIns="0" bIns="0" rtlCol="0" anchor="t"/>
          <a:lstStyle/>
          <a:p>
            <a:pPr indent="0" marL="0">
              <a:buNone/>
            </a:pPr>
            <a:r>
              <a:rPr lang="en-US" sz="3400" dirty="0">
                <a:solidFill>
                  <a:srgbClr val="1E2023"/>
                </a:solidFill>
                <a:latin typeface="Cambria" pitchFamily="34" charset="0"/>
                <a:ea typeface="Cambria" pitchFamily="34" charset="-122"/>
                <a:cs typeface="Cambria" pitchFamily="34" charset="-120"/>
              </a:rPr>
              <a:t>Se non Parigi, dove</a:t>
            </a:r>
            <a:endParaRPr lang="en-US" sz="3400" dirty="0"/>
          </a:p>
        </p:txBody>
      </p:sp>
      <p:sp>
        <p:nvSpPr>
          <p:cNvPr id="4" name="Shape 2"/>
          <p:cNvSpPr/>
          <p:nvPr/>
        </p:nvSpPr>
        <p:spPr>
          <a:xfrm>
            <a:off x="685800" y="1828800"/>
            <a:ext cx="2560320" cy="4206240"/>
          </a:xfrm>
          <a:prstGeom prst="rect">
            <a:avLst/>
          </a:prstGeom>
          <a:solidFill>
            <a:srgbClr val="1E2023"/>
          </a:solidFill>
          <a:ln w="9525">
            <a:solidFill>
              <a:srgbClr val="1E2023"/>
            </a:solidFill>
            <a:prstDash val="solid"/>
          </a:ln>
        </p:spPr>
      </p:sp>
      <p:sp>
        <p:nvSpPr>
          <p:cNvPr id="5" name="Text 3"/>
          <p:cNvSpPr txBox="1"/>
          <p:nvPr/>
        </p:nvSpPr>
        <p:spPr>
          <a:xfrm>
            <a:off x="914400" y="2103120"/>
            <a:ext cx="2103120" cy="502920"/>
          </a:xfrm>
          <a:prstGeom prst="rect">
            <a:avLst/>
          </a:prstGeom>
          <a:noFill/>
          <a:ln/>
        </p:spPr>
        <p:txBody>
          <a:bodyPr wrap="square" lIns="0" tIns="0" rIns="0" bIns="0" rtlCol="0" anchor="ctr"/>
          <a:lstStyle/>
          <a:p>
            <a:pPr indent="0" marL="0">
              <a:buNone/>
            </a:pPr>
            <a:r>
              <a:rPr lang="en-US" sz="2600" i="1" dirty="0">
                <a:solidFill>
                  <a:srgbClr val="FFFFFF"/>
                </a:solidFill>
                <a:latin typeface="Cambria" pitchFamily="34" charset="0"/>
                <a:ea typeface="Cambria" pitchFamily="34" charset="-122"/>
                <a:cs typeface="Cambria" pitchFamily="34" charset="-120"/>
              </a:rPr>
              <a:t>Torino</a:t>
            </a:r>
            <a:endParaRPr lang="en-US" sz="2600" dirty="0"/>
          </a:p>
        </p:txBody>
      </p:sp>
      <p:sp>
        <p:nvSpPr>
          <p:cNvPr id="6" name="Text 4"/>
          <p:cNvSpPr txBox="1"/>
          <p:nvPr/>
        </p:nvSpPr>
        <p:spPr>
          <a:xfrm>
            <a:off x="914400" y="2651760"/>
            <a:ext cx="2103120" cy="274320"/>
          </a:xfrm>
          <a:prstGeom prst="rect">
            <a:avLst/>
          </a:prstGeom>
          <a:noFill/>
          <a:ln/>
        </p:spPr>
        <p:txBody>
          <a:bodyPr wrap="square" lIns="0" tIns="0" rIns="0" bIns="0" rtlCol="0" anchor="ctr"/>
          <a:lstStyle/>
          <a:p>
            <a:pPr indent="0" marL="0">
              <a:buNone/>
            </a:pPr>
            <a:r>
              <a:rPr lang="en-US" sz="900" spc="300" kern="0" dirty="0">
                <a:solidFill>
                  <a:srgbClr val="A8875A"/>
                </a:solidFill>
                <a:latin typeface="Arial" pitchFamily="34" charset="0"/>
                <a:ea typeface="Arial" pitchFamily="34" charset="-122"/>
                <a:cs typeface="Arial" pitchFamily="34" charset="-120"/>
              </a:rPr>
              <a:t>CONSIGLIATA</a:t>
            </a:r>
            <a:endParaRPr lang="en-US" sz="900" dirty="0"/>
          </a:p>
        </p:txBody>
      </p:sp>
      <p:sp>
        <p:nvSpPr>
          <p:cNvPr id="7" name="Text 5"/>
          <p:cNvSpPr txBox="1"/>
          <p:nvPr/>
        </p:nvSpPr>
        <p:spPr>
          <a:xfrm>
            <a:off x="914400" y="3063240"/>
            <a:ext cx="2103120" cy="192024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DCDDDC"/>
                </a:solidFill>
                <a:latin typeface="Arial" pitchFamily="34" charset="0"/>
                <a:ea typeface="Arial" pitchFamily="34" charset="-122"/>
                <a:cs typeface="Arial" pitchFamily="34" charset="-120"/>
              </a:rPr>
              <a:t>Portici, caffè storici, nebbia sul Po, palazzi liberty. È la più vicina all’immaginario di Parigi con costi italiani.</a:t>
            </a:r>
            <a:endParaRPr lang="en-US" sz="1200" dirty="0"/>
          </a:p>
        </p:txBody>
      </p:sp>
      <p:sp>
        <p:nvSpPr>
          <p:cNvPr id="8" name="Text 6"/>
          <p:cNvSpPr txBox="1"/>
          <p:nvPr/>
        </p:nvSpPr>
        <p:spPr>
          <a:xfrm>
            <a:off x="914400" y="5029200"/>
            <a:ext cx="2103120" cy="274320"/>
          </a:xfrm>
          <a:prstGeom prst="rect">
            <a:avLst/>
          </a:prstGeom>
          <a:noFill/>
          <a:ln/>
        </p:spPr>
        <p:txBody>
          <a:bodyPr wrap="square" lIns="0" tIns="0" rIns="0" bIns="0" rtlCol="0" anchor="ctr"/>
          <a:lstStyle/>
          <a:p>
            <a:pPr indent="0" marL="0">
              <a:buNone/>
            </a:pPr>
            <a:r>
              <a:rPr lang="en-US" sz="1000" spc="400" kern="0" dirty="0">
                <a:solidFill>
                  <a:srgbClr val="A9ACAE"/>
                </a:solidFill>
                <a:latin typeface="Arial" pitchFamily="34" charset="0"/>
                <a:ea typeface="Arial" pitchFamily="34" charset="-122"/>
                <a:cs typeface="Arial" pitchFamily="34" charset="-120"/>
              </a:rPr>
              <a:t>CONTRO</a:t>
            </a:r>
            <a:endParaRPr lang="en-US" sz="1000" dirty="0"/>
          </a:p>
        </p:txBody>
      </p:sp>
      <p:sp>
        <p:nvSpPr>
          <p:cNvPr id="9" name="Text 7"/>
          <p:cNvSpPr txBox="1"/>
          <p:nvPr/>
        </p:nvSpPr>
        <p:spPr>
          <a:xfrm>
            <a:off x="914400" y="5303520"/>
            <a:ext cx="2103120" cy="64008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DCDDDC"/>
                </a:solidFill>
                <a:latin typeface="Arial" pitchFamily="34" charset="0"/>
                <a:ea typeface="Arial" pitchFamily="34" charset="-122"/>
                <a:cs typeface="Arial" pitchFamily="34" charset="-120"/>
              </a:rPr>
              <a:t>La metro non ha fascino: la scena va sostituita.</a:t>
            </a:r>
            <a:endParaRPr lang="en-US" sz="1150" dirty="0"/>
          </a:p>
        </p:txBody>
      </p:sp>
      <p:sp>
        <p:nvSpPr>
          <p:cNvPr id="10" name="Shape 8"/>
          <p:cNvSpPr/>
          <p:nvPr/>
        </p:nvSpPr>
        <p:spPr>
          <a:xfrm>
            <a:off x="3429000" y="1828800"/>
            <a:ext cx="2560320" cy="4206240"/>
          </a:xfrm>
          <a:prstGeom prst="rect">
            <a:avLst/>
          </a:prstGeom>
          <a:solidFill>
            <a:srgbClr val="FFFFFF"/>
          </a:solidFill>
          <a:ln w="9525">
            <a:solidFill>
              <a:srgbClr val="DCDDDC"/>
            </a:solidFill>
            <a:prstDash val="solid"/>
          </a:ln>
        </p:spPr>
      </p:sp>
      <p:sp>
        <p:nvSpPr>
          <p:cNvPr id="11" name="Text 9"/>
          <p:cNvSpPr txBox="1"/>
          <p:nvPr/>
        </p:nvSpPr>
        <p:spPr>
          <a:xfrm>
            <a:off x="3657600" y="2103120"/>
            <a:ext cx="2103120" cy="502920"/>
          </a:xfrm>
          <a:prstGeom prst="rect">
            <a:avLst/>
          </a:prstGeom>
          <a:noFill/>
          <a:ln/>
        </p:spPr>
        <p:txBody>
          <a:bodyPr wrap="square" lIns="0" tIns="0" rIns="0" bIns="0" rtlCol="0" anchor="ctr"/>
          <a:lstStyle/>
          <a:p>
            <a:pPr indent="0" marL="0">
              <a:buNone/>
            </a:pPr>
            <a:r>
              <a:rPr lang="en-US" sz="2600" i="1" dirty="0">
                <a:solidFill>
                  <a:srgbClr val="1E2023"/>
                </a:solidFill>
                <a:latin typeface="Cambria" pitchFamily="34" charset="0"/>
                <a:ea typeface="Cambria" pitchFamily="34" charset="-122"/>
                <a:cs typeface="Cambria" pitchFamily="34" charset="-120"/>
              </a:rPr>
              <a:t>Lione</a:t>
            </a:r>
            <a:endParaRPr lang="en-US" sz="2600" dirty="0"/>
          </a:p>
        </p:txBody>
      </p:sp>
      <p:sp>
        <p:nvSpPr>
          <p:cNvPr id="12" name="Text 10"/>
          <p:cNvSpPr txBox="1"/>
          <p:nvPr/>
        </p:nvSpPr>
        <p:spPr>
          <a:xfrm>
            <a:off x="3657600" y="2651760"/>
            <a:ext cx="2103120" cy="274320"/>
          </a:xfrm>
          <a:prstGeom prst="rect">
            <a:avLst/>
          </a:prstGeom>
          <a:noFill/>
          <a:ln/>
        </p:spPr>
        <p:txBody>
          <a:bodyPr wrap="square" lIns="0" tIns="0" rIns="0" bIns="0" rtlCol="0" anchor="ctr"/>
          <a:lstStyle/>
          <a:p>
            <a:pPr indent="0" marL="0">
              <a:buNone/>
            </a:pPr>
            <a:r>
              <a:rPr lang="en-US" sz="900" spc="300" kern="0" dirty="0">
                <a:solidFill>
                  <a:srgbClr val="A8875A"/>
                </a:solidFill>
                <a:latin typeface="Arial" pitchFamily="34" charset="0"/>
                <a:ea typeface="Arial" pitchFamily="34" charset="-122"/>
                <a:cs typeface="Arial" pitchFamily="34" charset="-120"/>
              </a:rPr>
              <a:t>RESTA IN FRANCIA</a:t>
            </a:r>
            <a:endParaRPr lang="en-US" sz="900" dirty="0"/>
          </a:p>
        </p:txBody>
      </p:sp>
      <p:sp>
        <p:nvSpPr>
          <p:cNvPr id="13" name="Text 11"/>
          <p:cNvSpPr txBox="1"/>
          <p:nvPr/>
        </p:nvSpPr>
        <p:spPr>
          <a:xfrm>
            <a:off x="3657600" y="3063240"/>
            <a:ext cx="2103120" cy="192024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Presqu’île ottocentesca, traboules, nebbia sulla Saona, funicolare e metro. Atmosfera francese, costi inferiori a Parigi.</a:t>
            </a:r>
            <a:endParaRPr lang="en-US" sz="1200" dirty="0"/>
          </a:p>
        </p:txBody>
      </p:sp>
      <p:sp>
        <p:nvSpPr>
          <p:cNvPr id="14" name="Text 12"/>
          <p:cNvSpPr txBox="1"/>
          <p:nvPr/>
        </p:nvSpPr>
        <p:spPr>
          <a:xfrm>
            <a:off x="3657600" y="5029200"/>
            <a:ext cx="2103120" cy="274320"/>
          </a:xfrm>
          <a:prstGeom prst="rect">
            <a:avLst/>
          </a:prstGeom>
          <a:noFill/>
          <a:ln/>
        </p:spPr>
        <p:txBody>
          <a:bodyPr wrap="square" lIns="0" tIns="0" rIns="0" bIns="0" rtlCol="0" anchor="ctr"/>
          <a:lstStyle/>
          <a:p>
            <a:pPr indent="0" marL="0">
              <a:buNone/>
            </a:pPr>
            <a:r>
              <a:rPr lang="en-US" sz="1000" spc="400" kern="0" dirty="0">
                <a:solidFill>
                  <a:srgbClr val="8A8D90"/>
                </a:solidFill>
                <a:latin typeface="Arial" pitchFamily="34" charset="0"/>
                <a:ea typeface="Arial" pitchFamily="34" charset="-122"/>
                <a:cs typeface="Arial" pitchFamily="34" charset="-120"/>
              </a:rPr>
              <a:t>CONTRO</a:t>
            </a:r>
            <a:endParaRPr lang="en-US" sz="1000" dirty="0"/>
          </a:p>
        </p:txBody>
      </p:sp>
      <p:sp>
        <p:nvSpPr>
          <p:cNvPr id="15" name="Text 13"/>
          <p:cNvSpPr txBox="1"/>
          <p:nvPr/>
        </p:nvSpPr>
        <p:spPr>
          <a:xfrm>
            <a:off x="3657600" y="5303520"/>
            <a:ext cx="2103120" cy="64008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È comunque una produzione all’estero.</a:t>
            </a:r>
            <a:endParaRPr lang="en-US" sz="1150" dirty="0"/>
          </a:p>
        </p:txBody>
      </p:sp>
      <p:sp>
        <p:nvSpPr>
          <p:cNvPr id="16" name="Shape 14"/>
          <p:cNvSpPr/>
          <p:nvPr/>
        </p:nvSpPr>
        <p:spPr>
          <a:xfrm>
            <a:off x="6172200" y="1828800"/>
            <a:ext cx="2560320" cy="4206240"/>
          </a:xfrm>
          <a:prstGeom prst="rect">
            <a:avLst/>
          </a:prstGeom>
          <a:solidFill>
            <a:srgbClr val="FFFFFF"/>
          </a:solidFill>
          <a:ln w="9525">
            <a:solidFill>
              <a:srgbClr val="DCDDDC"/>
            </a:solidFill>
            <a:prstDash val="solid"/>
          </a:ln>
        </p:spPr>
      </p:sp>
      <p:sp>
        <p:nvSpPr>
          <p:cNvPr id="17" name="Text 15"/>
          <p:cNvSpPr txBox="1"/>
          <p:nvPr/>
        </p:nvSpPr>
        <p:spPr>
          <a:xfrm>
            <a:off x="6400800" y="2103120"/>
            <a:ext cx="2103120" cy="502920"/>
          </a:xfrm>
          <a:prstGeom prst="rect">
            <a:avLst/>
          </a:prstGeom>
          <a:noFill/>
          <a:ln/>
        </p:spPr>
        <p:txBody>
          <a:bodyPr wrap="square" lIns="0" tIns="0" rIns="0" bIns="0" rtlCol="0" anchor="ctr"/>
          <a:lstStyle/>
          <a:p>
            <a:pPr indent="0" marL="0">
              <a:buNone/>
            </a:pPr>
            <a:r>
              <a:rPr lang="en-US" sz="2600" i="1" dirty="0">
                <a:solidFill>
                  <a:srgbClr val="1E2023"/>
                </a:solidFill>
                <a:latin typeface="Cambria" pitchFamily="34" charset="0"/>
                <a:ea typeface="Cambria" pitchFamily="34" charset="-122"/>
                <a:cs typeface="Cambria" pitchFamily="34" charset="-120"/>
              </a:rPr>
              <a:t>Trieste</a:t>
            </a:r>
            <a:endParaRPr lang="en-US" sz="2600" dirty="0"/>
          </a:p>
        </p:txBody>
      </p:sp>
      <p:sp>
        <p:nvSpPr>
          <p:cNvPr id="18" name="Text 16"/>
          <p:cNvSpPr txBox="1"/>
          <p:nvPr/>
        </p:nvSpPr>
        <p:spPr>
          <a:xfrm>
            <a:off x="6400800" y="2651760"/>
            <a:ext cx="2103120" cy="274320"/>
          </a:xfrm>
          <a:prstGeom prst="rect">
            <a:avLst/>
          </a:prstGeom>
          <a:noFill/>
          <a:ln/>
        </p:spPr>
        <p:txBody>
          <a:bodyPr wrap="square" lIns="0" tIns="0" rIns="0" bIns="0" rtlCol="0" anchor="ctr"/>
          <a:lstStyle/>
          <a:p>
            <a:pPr indent="0" marL="0">
              <a:buNone/>
            </a:pPr>
            <a:r>
              <a:rPr lang="en-US" sz="900" spc="300" kern="0" dirty="0">
                <a:solidFill>
                  <a:srgbClr val="A8875A"/>
                </a:solidFill>
                <a:latin typeface="Arial" pitchFamily="34" charset="0"/>
                <a:ea typeface="Arial" pitchFamily="34" charset="-122"/>
                <a:cs typeface="Arial" pitchFamily="34" charset="-120"/>
              </a:rPr>
              <a:t>PIÙ LETTERARIA</a:t>
            </a:r>
            <a:endParaRPr lang="en-US" sz="900" dirty="0"/>
          </a:p>
        </p:txBody>
      </p:sp>
      <p:sp>
        <p:nvSpPr>
          <p:cNvPr id="19" name="Text 17"/>
          <p:cNvSpPr txBox="1"/>
          <p:nvPr/>
        </p:nvSpPr>
        <p:spPr>
          <a:xfrm>
            <a:off x="6400800" y="3063240"/>
            <a:ext cx="2103120" cy="192024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Caffè storici, palazzi neoclassici e asburgici, luce grigia d’inverno. Città raccolta, facile da girare.</a:t>
            </a:r>
            <a:endParaRPr lang="en-US" sz="1200" dirty="0"/>
          </a:p>
        </p:txBody>
      </p:sp>
      <p:sp>
        <p:nvSpPr>
          <p:cNvPr id="20" name="Text 18"/>
          <p:cNvSpPr txBox="1"/>
          <p:nvPr/>
        </p:nvSpPr>
        <p:spPr>
          <a:xfrm>
            <a:off x="6400800" y="5029200"/>
            <a:ext cx="2103120" cy="274320"/>
          </a:xfrm>
          <a:prstGeom prst="rect">
            <a:avLst/>
          </a:prstGeom>
          <a:noFill/>
          <a:ln/>
        </p:spPr>
        <p:txBody>
          <a:bodyPr wrap="square" lIns="0" tIns="0" rIns="0" bIns="0" rtlCol="0" anchor="ctr"/>
          <a:lstStyle/>
          <a:p>
            <a:pPr indent="0" marL="0">
              <a:buNone/>
            </a:pPr>
            <a:r>
              <a:rPr lang="en-US" sz="1000" spc="400" kern="0" dirty="0">
                <a:solidFill>
                  <a:srgbClr val="8A8D90"/>
                </a:solidFill>
                <a:latin typeface="Arial" pitchFamily="34" charset="0"/>
                <a:ea typeface="Arial" pitchFamily="34" charset="-122"/>
                <a:cs typeface="Arial" pitchFamily="34" charset="-120"/>
              </a:rPr>
              <a:t>CONTRO</a:t>
            </a:r>
            <a:endParaRPr lang="en-US" sz="1000" dirty="0"/>
          </a:p>
        </p:txBody>
      </p:sp>
      <p:sp>
        <p:nvSpPr>
          <p:cNvPr id="21" name="Text 19"/>
          <p:cNvSpPr txBox="1"/>
          <p:nvPr/>
        </p:nvSpPr>
        <p:spPr>
          <a:xfrm>
            <a:off x="6400800" y="5303520"/>
            <a:ext cx="2103120" cy="64008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Più mare e bora che nebbia e foglie.</a:t>
            </a:r>
            <a:endParaRPr lang="en-US" sz="1150" dirty="0"/>
          </a:p>
        </p:txBody>
      </p:sp>
      <p:sp>
        <p:nvSpPr>
          <p:cNvPr id="22" name="Shape 20"/>
          <p:cNvSpPr/>
          <p:nvPr/>
        </p:nvSpPr>
        <p:spPr>
          <a:xfrm>
            <a:off x="8915400" y="1828800"/>
            <a:ext cx="2560320" cy="4206240"/>
          </a:xfrm>
          <a:prstGeom prst="rect">
            <a:avLst/>
          </a:prstGeom>
          <a:solidFill>
            <a:srgbClr val="FFFFFF"/>
          </a:solidFill>
          <a:ln w="9525">
            <a:solidFill>
              <a:srgbClr val="DCDDDC"/>
            </a:solidFill>
            <a:prstDash val="solid"/>
          </a:ln>
        </p:spPr>
      </p:sp>
      <p:sp>
        <p:nvSpPr>
          <p:cNvPr id="23" name="Text 21"/>
          <p:cNvSpPr txBox="1"/>
          <p:nvPr/>
        </p:nvSpPr>
        <p:spPr>
          <a:xfrm>
            <a:off x="9144000" y="2103120"/>
            <a:ext cx="2103120" cy="502920"/>
          </a:xfrm>
          <a:prstGeom prst="rect">
            <a:avLst/>
          </a:prstGeom>
          <a:noFill/>
          <a:ln/>
        </p:spPr>
        <p:txBody>
          <a:bodyPr wrap="square" lIns="0" tIns="0" rIns="0" bIns="0" rtlCol="0" anchor="ctr"/>
          <a:lstStyle/>
          <a:p>
            <a:pPr indent="0" marL="0">
              <a:buNone/>
            </a:pPr>
            <a:r>
              <a:rPr lang="en-US" sz="2600" i="1" dirty="0">
                <a:solidFill>
                  <a:srgbClr val="1E2023"/>
                </a:solidFill>
                <a:latin typeface="Cambria" pitchFamily="34" charset="0"/>
                <a:ea typeface="Cambria" pitchFamily="34" charset="-122"/>
                <a:cs typeface="Cambria" pitchFamily="34" charset="-120"/>
              </a:rPr>
              <a:t>Milano</a:t>
            </a:r>
            <a:endParaRPr lang="en-US" sz="2600" dirty="0"/>
          </a:p>
        </p:txBody>
      </p:sp>
      <p:sp>
        <p:nvSpPr>
          <p:cNvPr id="24" name="Text 22"/>
          <p:cNvSpPr txBox="1"/>
          <p:nvPr/>
        </p:nvSpPr>
        <p:spPr>
          <a:xfrm>
            <a:off x="9144000" y="2651760"/>
            <a:ext cx="2103120" cy="274320"/>
          </a:xfrm>
          <a:prstGeom prst="rect">
            <a:avLst/>
          </a:prstGeom>
          <a:noFill/>
          <a:ln/>
        </p:spPr>
        <p:txBody>
          <a:bodyPr wrap="square" lIns="0" tIns="0" rIns="0" bIns="0" rtlCol="0" anchor="ctr"/>
          <a:lstStyle/>
          <a:p>
            <a:pPr indent="0" marL="0">
              <a:buNone/>
            </a:pPr>
            <a:r>
              <a:rPr lang="en-US" sz="900" spc="300" kern="0" dirty="0">
                <a:solidFill>
                  <a:srgbClr val="A8875A"/>
                </a:solidFill>
                <a:latin typeface="Arial" pitchFamily="34" charset="0"/>
                <a:ea typeface="Arial" pitchFamily="34" charset="-122"/>
                <a:cs typeface="Arial" pitchFamily="34" charset="-120"/>
              </a:rPr>
              <a:t>PIÙ URBANA</a:t>
            </a:r>
            <a:endParaRPr lang="en-US" sz="900" dirty="0"/>
          </a:p>
        </p:txBody>
      </p:sp>
      <p:sp>
        <p:nvSpPr>
          <p:cNvPr id="25" name="Text 23"/>
          <p:cNvSpPr txBox="1"/>
          <p:nvPr/>
        </p:nvSpPr>
        <p:spPr>
          <a:xfrm>
            <a:off x="9144000" y="3063240"/>
            <a:ext cx="2103120" cy="192024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5E6266"/>
                </a:solidFill>
                <a:latin typeface="Arial" pitchFamily="34" charset="0"/>
                <a:ea typeface="Arial" pitchFamily="34" charset="-122"/>
                <a:cs typeface="Arial" pitchFamily="34" charset="-120"/>
              </a:rPr>
              <a:t>Brera, Quadrilatero, tram storici, gallerie, nebbia. Logistica semplice per la troupe.</a:t>
            </a:r>
            <a:endParaRPr lang="en-US" sz="1200" dirty="0"/>
          </a:p>
        </p:txBody>
      </p:sp>
      <p:sp>
        <p:nvSpPr>
          <p:cNvPr id="26" name="Text 24"/>
          <p:cNvSpPr txBox="1"/>
          <p:nvPr/>
        </p:nvSpPr>
        <p:spPr>
          <a:xfrm>
            <a:off x="9144000" y="5029200"/>
            <a:ext cx="2103120" cy="274320"/>
          </a:xfrm>
          <a:prstGeom prst="rect">
            <a:avLst/>
          </a:prstGeom>
          <a:noFill/>
          <a:ln/>
        </p:spPr>
        <p:txBody>
          <a:bodyPr wrap="square" lIns="0" tIns="0" rIns="0" bIns="0" rtlCol="0" anchor="ctr"/>
          <a:lstStyle/>
          <a:p>
            <a:pPr indent="0" marL="0">
              <a:buNone/>
            </a:pPr>
            <a:r>
              <a:rPr lang="en-US" sz="1000" spc="400" kern="0" dirty="0">
                <a:solidFill>
                  <a:srgbClr val="8A8D90"/>
                </a:solidFill>
                <a:latin typeface="Arial" pitchFamily="34" charset="0"/>
                <a:ea typeface="Arial" pitchFamily="34" charset="-122"/>
                <a:cs typeface="Arial" pitchFamily="34" charset="-120"/>
              </a:rPr>
              <a:t>CONTRO</a:t>
            </a:r>
            <a:endParaRPr lang="en-US" sz="1000" dirty="0"/>
          </a:p>
        </p:txBody>
      </p:sp>
      <p:sp>
        <p:nvSpPr>
          <p:cNvPr id="27" name="Text 25"/>
          <p:cNvSpPr txBox="1"/>
          <p:nvPr/>
        </p:nvSpPr>
        <p:spPr>
          <a:xfrm>
            <a:off x="9144000" y="5303520"/>
            <a:ext cx="2103120" cy="640080"/>
          </a:xfrm>
          <a:prstGeom prst="rect">
            <a:avLst/>
          </a:prstGeom>
          <a:noFill/>
          <a:ln/>
        </p:spPr>
        <p:txBody>
          <a:bodyPr wrap="square" lIns="0" tIns="0" rIns="0" bIns="0" rtlCol="0" anchor="t"/>
          <a:lstStyle/>
          <a:p>
            <a:pPr indent="0" marL="0">
              <a:lnSpc>
                <a:spcPct val="115000"/>
              </a:lnSpc>
              <a:spcAft>
                <a:spcPts val="600"/>
              </a:spcAft>
              <a:buNone/>
            </a:pPr>
            <a:r>
              <a:rPr lang="en-US" sz="1150" dirty="0">
                <a:solidFill>
                  <a:srgbClr val="5E6266"/>
                </a:solidFill>
                <a:latin typeface="Arial" pitchFamily="34" charset="0"/>
                <a:ea typeface="Arial" pitchFamily="34" charset="-122"/>
                <a:cs typeface="Arial" pitchFamily="34" charset="-120"/>
              </a:rPr>
              <a:t>Meno romantica e molto riconoscibile.</a:t>
            </a:r>
            <a:endParaRPr lang="en-US" sz="1150" dirty="0"/>
          </a:p>
        </p:txBody>
      </p:sp>
      <p:sp>
        <p:nvSpPr>
          <p:cNvPr id="28" name="Text 26"/>
          <p:cNvSpPr txBox="1"/>
          <p:nvPr/>
        </p:nvSpPr>
        <p:spPr>
          <a:xfrm>
            <a:off x="685800" y="6263640"/>
            <a:ext cx="10058400" cy="274320"/>
          </a:xfrm>
          <a:prstGeom prst="rect">
            <a:avLst/>
          </a:prstGeom>
          <a:noFill/>
          <a:ln/>
        </p:spPr>
        <p:txBody>
          <a:bodyPr wrap="square" lIns="0" tIns="0" rIns="0" bIns="0" rtlCol="0" anchor="t"/>
          <a:lstStyle/>
          <a:p>
            <a:pPr indent="0" marL="0">
              <a:lnSpc>
                <a:spcPct val="115000"/>
              </a:lnSpc>
              <a:spcAft>
                <a:spcPts val="600"/>
              </a:spcAft>
              <a:buNone/>
            </a:pPr>
            <a:r>
              <a:rPr lang="en-US" sz="1000" dirty="0">
                <a:solidFill>
                  <a:srgbClr val="8A8D90"/>
                </a:solidFill>
                <a:latin typeface="Arial" pitchFamily="34" charset="0"/>
                <a:ea typeface="Arial" pitchFamily="34" charset="-122"/>
                <a:cs typeface="Arial" pitchFamily="34" charset="-120"/>
              </a:rPr>
              <a:t>Valutazione qualitativa: costi e permessi da confrontare con preventivi reali.</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2F0"/>
        </a:solidFill>
      </p:bgPr>
    </p:bg>
    <p:spTree>
      <p:nvGrpSpPr>
        <p:cNvPr id="1" name=""/>
        <p:cNvGrpSpPr/>
        <p:nvPr/>
      </p:nvGrpSpPr>
      <p:grpSpPr>
        <a:xfrm>
          <a:off x="0" y="0"/>
          <a:ext cx="0" cy="0"/>
          <a:chOff x="0" y="0"/>
          <a:chExt cx="0" cy="0"/>
        </a:xfrm>
      </p:grpSpPr>
      <p:sp>
        <p:nvSpPr>
          <p:cNvPr id="2" name="Text 0"/>
          <p:cNvSpPr txBox="1"/>
          <p:nvPr/>
        </p:nvSpPr>
        <p:spPr>
          <a:xfrm>
            <a:off x="685800" y="548640"/>
            <a:ext cx="5486400" cy="274320"/>
          </a:xfrm>
          <a:prstGeom prst="rect">
            <a:avLst/>
          </a:prstGeom>
          <a:noFill/>
          <a:ln/>
        </p:spPr>
        <p:txBody>
          <a:bodyPr wrap="square" lIns="0" tIns="0" rIns="0" bIns="0" rtlCol="0" anchor="ctr"/>
          <a:lstStyle/>
          <a:p>
            <a:pPr indent="0" marL="0">
              <a:buNone/>
            </a:pPr>
            <a:r>
              <a:rPr lang="en-US" sz="1000" spc="400" kern="0" dirty="0">
                <a:solidFill>
                  <a:srgbClr val="5E6266"/>
                </a:solidFill>
                <a:latin typeface="Arial" pitchFamily="34" charset="0"/>
                <a:ea typeface="Arial" pitchFamily="34" charset="-122"/>
                <a:cs typeface="Arial" pitchFamily="34" charset="-120"/>
              </a:rPr>
              <a:t>09 — PRODUZIONE</a:t>
            </a:r>
            <a:endParaRPr lang="en-US" sz="1000" dirty="0"/>
          </a:p>
        </p:txBody>
      </p:sp>
      <p:sp>
        <p:nvSpPr>
          <p:cNvPr id="3" name="Text 1"/>
          <p:cNvSpPr txBox="1"/>
          <p:nvPr/>
        </p:nvSpPr>
        <p:spPr>
          <a:xfrm>
            <a:off x="685800" y="868680"/>
            <a:ext cx="7315200" cy="731520"/>
          </a:xfrm>
          <a:prstGeom prst="rect">
            <a:avLst/>
          </a:prstGeom>
          <a:noFill/>
          <a:ln/>
        </p:spPr>
        <p:txBody>
          <a:bodyPr wrap="square" lIns="0" tIns="0" rIns="0" bIns="0" rtlCol="0" anchor="t"/>
          <a:lstStyle/>
          <a:p>
            <a:pPr indent="0" marL="0">
              <a:buNone/>
            </a:pPr>
            <a:r>
              <a:rPr lang="en-US" sz="3400" dirty="0">
                <a:solidFill>
                  <a:srgbClr val="1E2023"/>
                </a:solidFill>
                <a:latin typeface="Cambria" pitchFamily="34" charset="0"/>
                <a:ea typeface="Cambria" pitchFamily="34" charset="-122"/>
                <a:cs typeface="Cambria" pitchFamily="34" charset="-120"/>
              </a:rPr>
              <a:t>Come la realizziamo</a:t>
            </a:r>
            <a:endParaRPr lang="en-US" sz="3400" dirty="0"/>
          </a:p>
        </p:txBody>
      </p:sp>
      <p:sp>
        <p:nvSpPr>
          <p:cNvPr id="4" name="Shape 2"/>
          <p:cNvSpPr/>
          <p:nvPr/>
        </p:nvSpPr>
        <p:spPr>
          <a:xfrm>
            <a:off x="685800" y="1783080"/>
            <a:ext cx="5257800" cy="1783080"/>
          </a:xfrm>
          <a:prstGeom prst="rect">
            <a:avLst/>
          </a:prstGeom>
          <a:solidFill>
            <a:srgbClr val="FFFFFF"/>
          </a:solidFill>
          <a:ln w="9525">
            <a:solidFill>
              <a:srgbClr val="DCDDDC"/>
            </a:solidFill>
            <a:prstDash val="solid"/>
          </a:ln>
        </p:spPr>
      </p:sp>
      <p:sp>
        <p:nvSpPr>
          <p:cNvPr id="5" name="Text 3"/>
          <p:cNvSpPr txBox="1"/>
          <p:nvPr/>
        </p:nvSpPr>
        <p:spPr>
          <a:xfrm>
            <a:off x="960120" y="2011680"/>
            <a:ext cx="4709160" cy="365760"/>
          </a:xfrm>
          <a:prstGeom prst="rect">
            <a:avLst/>
          </a:prstGeom>
          <a:noFill/>
          <a:ln/>
        </p:spPr>
        <p:txBody>
          <a:bodyPr wrap="square" lIns="0" tIns="0" rIns="0" bIns="0" rtlCol="0" anchor="ctr"/>
          <a:lstStyle/>
          <a:p>
            <a:pPr indent="0" marL="0">
              <a:buNone/>
            </a:pPr>
            <a:r>
              <a:rPr lang="en-US" sz="1800" i="1" dirty="0">
                <a:solidFill>
                  <a:srgbClr val="1E2023"/>
                </a:solidFill>
                <a:latin typeface="Cambria" pitchFamily="34" charset="0"/>
                <a:ea typeface="Cambria" pitchFamily="34" charset="-122"/>
                <a:cs typeface="Cambria" pitchFamily="34" charset="-120"/>
              </a:rPr>
              <a:t>Quando</a:t>
            </a:r>
            <a:endParaRPr lang="en-US" sz="1800" dirty="0"/>
          </a:p>
        </p:txBody>
      </p:sp>
      <p:sp>
        <p:nvSpPr>
          <p:cNvPr id="6" name="Text 4"/>
          <p:cNvSpPr txBox="1"/>
          <p:nvPr/>
        </p:nvSpPr>
        <p:spPr>
          <a:xfrm>
            <a:off x="960120" y="2468880"/>
            <a:ext cx="4709160" cy="1005840"/>
          </a:xfrm>
          <a:prstGeom prst="rect">
            <a:avLst/>
          </a:prstGeom>
          <a:noFill/>
          <a:ln/>
        </p:spPr>
        <p:txBody>
          <a:bodyPr wrap="square" lIns="0" tIns="0" rIns="0" bIns="0" rtlCol="0" anchor="t"/>
          <a:lstStyle/>
          <a:p>
            <a:pPr indent="0" marL="0">
              <a:lnSpc>
                <a:spcPct val="115000"/>
              </a:lnSpc>
              <a:spcAft>
                <a:spcPts val="600"/>
              </a:spcAft>
              <a:buNone/>
            </a:pPr>
            <a:r>
              <a:rPr lang="en-US" sz="1250" dirty="0">
                <a:solidFill>
                  <a:srgbClr val="5E6266"/>
                </a:solidFill>
                <a:latin typeface="Arial" pitchFamily="34" charset="0"/>
                <a:ea typeface="Arial" pitchFamily="34" charset="-122"/>
                <a:cs typeface="Arial" pitchFamily="34" charset="-120"/>
              </a:rPr>
              <a:t>Da metà novembre a inizio dicembre: foglie ancora a terra, luce bassa, pioggia e nebbia al mattino. 2 giorni di scatto più 1 di riserva meteo.</a:t>
            </a:r>
            <a:endParaRPr lang="en-US" sz="1250" dirty="0"/>
          </a:p>
        </p:txBody>
      </p:sp>
      <p:sp>
        <p:nvSpPr>
          <p:cNvPr id="7" name="Shape 5"/>
          <p:cNvSpPr/>
          <p:nvPr/>
        </p:nvSpPr>
        <p:spPr>
          <a:xfrm>
            <a:off x="6217920" y="1783080"/>
            <a:ext cx="5257800" cy="1783080"/>
          </a:xfrm>
          <a:prstGeom prst="rect">
            <a:avLst/>
          </a:prstGeom>
          <a:solidFill>
            <a:srgbClr val="FFFFFF"/>
          </a:solidFill>
          <a:ln w="9525">
            <a:solidFill>
              <a:srgbClr val="DCDDDC"/>
            </a:solidFill>
            <a:prstDash val="solid"/>
          </a:ln>
        </p:spPr>
      </p:sp>
      <p:sp>
        <p:nvSpPr>
          <p:cNvPr id="8" name="Text 6"/>
          <p:cNvSpPr txBox="1"/>
          <p:nvPr/>
        </p:nvSpPr>
        <p:spPr>
          <a:xfrm>
            <a:off x="6492240" y="2011680"/>
            <a:ext cx="4709160" cy="365760"/>
          </a:xfrm>
          <a:prstGeom prst="rect">
            <a:avLst/>
          </a:prstGeom>
          <a:noFill/>
          <a:ln/>
        </p:spPr>
        <p:txBody>
          <a:bodyPr wrap="square" lIns="0" tIns="0" rIns="0" bIns="0" rtlCol="0" anchor="ctr"/>
          <a:lstStyle/>
          <a:p>
            <a:pPr indent="0" marL="0">
              <a:buNone/>
            </a:pPr>
            <a:r>
              <a:rPr lang="en-US" sz="1800" i="1" dirty="0">
                <a:solidFill>
                  <a:srgbClr val="1E2023"/>
                </a:solidFill>
                <a:latin typeface="Cambria" pitchFamily="34" charset="0"/>
                <a:ea typeface="Cambria" pitchFamily="34" charset="-122"/>
                <a:cs typeface="Cambria" pitchFamily="34" charset="-120"/>
              </a:rPr>
              <a:t>Troupe leggera</a:t>
            </a:r>
            <a:endParaRPr lang="en-US" sz="1800" dirty="0"/>
          </a:p>
        </p:txBody>
      </p:sp>
      <p:sp>
        <p:nvSpPr>
          <p:cNvPr id="9" name="Text 7"/>
          <p:cNvSpPr txBox="1"/>
          <p:nvPr/>
        </p:nvSpPr>
        <p:spPr>
          <a:xfrm>
            <a:off x="6492240" y="2468880"/>
            <a:ext cx="4709160" cy="1005840"/>
          </a:xfrm>
          <a:prstGeom prst="rect">
            <a:avLst/>
          </a:prstGeom>
          <a:noFill/>
          <a:ln/>
        </p:spPr>
        <p:txBody>
          <a:bodyPr wrap="square" lIns="0" tIns="0" rIns="0" bIns="0" rtlCol="0" anchor="t"/>
          <a:lstStyle/>
          <a:p>
            <a:pPr indent="0" marL="0">
              <a:lnSpc>
                <a:spcPct val="115000"/>
              </a:lnSpc>
              <a:spcAft>
                <a:spcPts val="600"/>
              </a:spcAft>
              <a:buNone/>
            </a:pPr>
            <a:r>
              <a:rPr lang="en-US" sz="1250" dirty="0">
                <a:solidFill>
                  <a:srgbClr val="5E6266"/>
                </a:solidFill>
                <a:latin typeface="Arial" pitchFamily="34" charset="0"/>
                <a:ea typeface="Arial" pitchFamily="34" charset="-122"/>
                <a:cs typeface="Arial" pitchFamily="34" charset="-120"/>
              </a:rPr>
              <a:t>Fotografo con teleobiettivo, videomaker, stylist, hair &amp; make-up, producer locale. Una modella, qualche comparsa per strada e in metro.</a:t>
            </a:r>
            <a:endParaRPr lang="en-US" sz="1250" dirty="0"/>
          </a:p>
        </p:txBody>
      </p:sp>
      <p:sp>
        <p:nvSpPr>
          <p:cNvPr id="10" name="Shape 8"/>
          <p:cNvSpPr/>
          <p:nvPr/>
        </p:nvSpPr>
        <p:spPr>
          <a:xfrm>
            <a:off x="685800" y="3794760"/>
            <a:ext cx="5257800" cy="1783080"/>
          </a:xfrm>
          <a:prstGeom prst="rect">
            <a:avLst/>
          </a:prstGeom>
          <a:solidFill>
            <a:srgbClr val="FFFFFF"/>
          </a:solidFill>
          <a:ln w="9525">
            <a:solidFill>
              <a:srgbClr val="DCDDDC"/>
            </a:solidFill>
            <a:prstDash val="solid"/>
          </a:ln>
        </p:spPr>
      </p:sp>
      <p:sp>
        <p:nvSpPr>
          <p:cNvPr id="11" name="Text 9"/>
          <p:cNvSpPr txBox="1"/>
          <p:nvPr/>
        </p:nvSpPr>
        <p:spPr>
          <a:xfrm>
            <a:off x="960120" y="4023360"/>
            <a:ext cx="4709160" cy="365760"/>
          </a:xfrm>
          <a:prstGeom prst="rect">
            <a:avLst/>
          </a:prstGeom>
          <a:noFill/>
          <a:ln/>
        </p:spPr>
        <p:txBody>
          <a:bodyPr wrap="square" lIns="0" tIns="0" rIns="0" bIns="0" rtlCol="0" anchor="ctr"/>
          <a:lstStyle/>
          <a:p>
            <a:pPr indent="0" marL="0">
              <a:buNone/>
            </a:pPr>
            <a:r>
              <a:rPr lang="en-US" sz="1800" i="1" dirty="0">
                <a:solidFill>
                  <a:srgbClr val="1E2023"/>
                </a:solidFill>
                <a:latin typeface="Cambria" pitchFamily="34" charset="0"/>
                <a:ea typeface="Cambria" pitchFamily="34" charset="-122"/>
                <a:cs typeface="Cambria" pitchFamily="34" charset="-120"/>
              </a:rPr>
              <a:t>Permessi</a:t>
            </a:r>
            <a:endParaRPr lang="en-US" sz="1800" dirty="0"/>
          </a:p>
        </p:txBody>
      </p:sp>
      <p:sp>
        <p:nvSpPr>
          <p:cNvPr id="12" name="Text 10"/>
          <p:cNvSpPr txBox="1"/>
          <p:nvPr/>
        </p:nvSpPr>
        <p:spPr>
          <a:xfrm>
            <a:off x="960120" y="4480560"/>
            <a:ext cx="4709160" cy="1005840"/>
          </a:xfrm>
          <a:prstGeom prst="rect">
            <a:avLst/>
          </a:prstGeom>
          <a:noFill/>
          <a:ln/>
        </p:spPr>
        <p:txBody>
          <a:bodyPr wrap="square" lIns="0" tIns="0" rIns="0" bIns="0" rtlCol="0" anchor="t"/>
          <a:lstStyle/>
          <a:p>
            <a:pPr indent="0" marL="0">
              <a:lnSpc>
                <a:spcPct val="115000"/>
              </a:lnSpc>
              <a:spcAft>
                <a:spcPts val="600"/>
              </a:spcAft>
              <a:buNone/>
            </a:pPr>
            <a:r>
              <a:rPr lang="en-US" sz="1250" dirty="0">
                <a:solidFill>
                  <a:srgbClr val="5E6266"/>
                </a:solidFill>
                <a:latin typeface="Arial" pitchFamily="34" charset="0"/>
                <a:ea typeface="Arial" pitchFamily="34" charset="-122"/>
                <a:cs typeface="Arial" pitchFamily="34" charset="-120"/>
              </a:rPr>
              <a:t>Riprese in strada da verificare con la Mission Cinéma della Ville de Paris. Metro con autorizzazione RATP. Giardini e interni con i gestori.</a:t>
            </a:r>
            <a:endParaRPr lang="en-US" sz="1250" dirty="0"/>
          </a:p>
        </p:txBody>
      </p:sp>
      <p:sp>
        <p:nvSpPr>
          <p:cNvPr id="13" name="Shape 11"/>
          <p:cNvSpPr/>
          <p:nvPr/>
        </p:nvSpPr>
        <p:spPr>
          <a:xfrm>
            <a:off x="6217920" y="3794760"/>
            <a:ext cx="5257800" cy="1783080"/>
          </a:xfrm>
          <a:prstGeom prst="rect">
            <a:avLst/>
          </a:prstGeom>
          <a:solidFill>
            <a:srgbClr val="FFFFFF"/>
          </a:solidFill>
          <a:ln w="9525">
            <a:solidFill>
              <a:srgbClr val="DCDDDC"/>
            </a:solidFill>
            <a:prstDash val="solid"/>
          </a:ln>
        </p:spPr>
      </p:sp>
      <p:sp>
        <p:nvSpPr>
          <p:cNvPr id="14" name="Text 12"/>
          <p:cNvSpPr txBox="1"/>
          <p:nvPr/>
        </p:nvSpPr>
        <p:spPr>
          <a:xfrm>
            <a:off x="6492240" y="4023360"/>
            <a:ext cx="4709160" cy="365760"/>
          </a:xfrm>
          <a:prstGeom prst="rect">
            <a:avLst/>
          </a:prstGeom>
          <a:noFill/>
          <a:ln/>
        </p:spPr>
        <p:txBody>
          <a:bodyPr wrap="square" lIns="0" tIns="0" rIns="0" bIns="0" rtlCol="0" anchor="ctr"/>
          <a:lstStyle/>
          <a:p>
            <a:pPr indent="0" marL="0">
              <a:buNone/>
            </a:pPr>
            <a:r>
              <a:rPr lang="en-US" sz="1800" i="1" dirty="0">
                <a:solidFill>
                  <a:srgbClr val="1E2023"/>
                </a:solidFill>
                <a:latin typeface="Cambria" pitchFamily="34" charset="0"/>
                <a:ea typeface="Cambria" pitchFamily="34" charset="-122"/>
                <a:cs typeface="Cambria" pitchFamily="34" charset="-120"/>
              </a:rPr>
              <a:t>Meteo e cappelli</a:t>
            </a:r>
            <a:endParaRPr lang="en-US" sz="1800" dirty="0"/>
          </a:p>
        </p:txBody>
      </p:sp>
      <p:sp>
        <p:nvSpPr>
          <p:cNvPr id="15" name="Text 13"/>
          <p:cNvSpPr txBox="1"/>
          <p:nvPr/>
        </p:nvSpPr>
        <p:spPr>
          <a:xfrm>
            <a:off x="6492240" y="4480560"/>
            <a:ext cx="4709160" cy="1005840"/>
          </a:xfrm>
          <a:prstGeom prst="rect">
            <a:avLst/>
          </a:prstGeom>
          <a:noFill/>
          <a:ln/>
        </p:spPr>
        <p:txBody>
          <a:bodyPr wrap="square" lIns="0" tIns="0" rIns="0" bIns="0" rtlCol="0" anchor="t"/>
          <a:lstStyle/>
          <a:p>
            <a:pPr indent="0" marL="0">
              <a:lnSpc>
                <a:spcPct val="115000"/>
              </a:lnSpc>
              <a:spcAft>
                <a:spcPts val="600"/>
              </a:spcAft>
              <a:buNone/>
            </a:pPr>
            <a:r>
              <a:rPr lang="en-US" sz="1250" dirty="0">
                <a:solidFill>
                  <a:srgbClr val="5E6266"/>
                </a:solidFill>
                <a:latin typeface="Arial" pitchFamily="34" charset="0"/>
                <a:ea typeface="Arial" pitchFamily="34" charset="-122"/>
                <a:cs typeface="Arial" pitchFamily="34" charset="-120"/>
              </a:rPr>
              <a:t>Pioggia vera quando c’è, artificiale se serve. Piano B al coperto (caffè, ascensore, portici). Trattamento idrorepellente e doppioni dei cappelli in feltro.</a:t>
            </a:r>
            <a:endParaRPr lang="en-US" sz="1250" dirty="0"/>
          </a:p>
        </p:txBody>
      </p:sp>
      <p:sp>
        <p:nvSpPr>
          <p:cNvPr id="16" name="Text 14"/>
          <p:cNvSpPr txBox="1"/>
          <p:nvPr/>
        </p:nvSpPr>
        <p:spPr>
          <a:xfrm>
            <a:off x="685800" y="5852160"/>
            <a:ext cx="1828800" cy="274320"/>
          </a:xfrm>
          <a:prstGeom prst="rect">
            <a:avLst/>
          </a:prstGeom>
          <a:noFill/>
          <a:ln/>
        </p:spPr>
        <p:txBody>
          <a:bodyPr wrap="square" lIns="0" tIns="0" rIns="0" bIns="0" rtlCol="0" anchor="ctr"/>
          <a:lstStyle/>
          <a:p>
            <a:pPr indent="0" marL="0">
              <a:buNone/>
            </a:pPr>
            <a:r>
              <a:rPr lang="en-US" sz="1000" spc="400" kern="0" dirty="0">
                <a:solidFill>
                  <a:srgbClr val="A8875A"/>
                </a:solidFill>
                <a:latin typeface="Arial" pitchFamily="34" charset="0"/>
                <a:ea typeface="Arial" pitchFamily="34" charset="-122"/>
                <a:cs typeface="Arial" pitchFamily="34" charset="-120"/>
              </a:rPr>
              <a:t>CONSEGNE</a:t>
            </a:r>
            <a:endParaRPr lang="en-US" sz="1000" dirty="0"/>
          </a:p>
        </p:txBody>
      </p:sp>
      <p:sp>
        <p:nvSpPr>
          <p:cNvPr id="17" name="Text 15"/>
          <p:cNvSpPr txBox="1"/>
          <p:nvPr/>
        </p:nvSpPr>
        <p:spPr>
          <a:xfrm>
            <a:off x="1920240" y="5788152"/>
            <a:ext cx="9601200" cy="365760"/>
          </a:xfrm>
          <a:prstGeom prst="rect">
            <a:avLst/>
          </a:prstGeom>
          <a:noFill/>
          <a:ln/>
        </p:spPr>
        <p:txBody>
          <a:bodyPr wrap="square" lIns="0" tIns="0" rIns="0" bIns="0" rtlCol="0" anchor="t"/>
          <a:lstStyle/>
          <a:p>
            <a:pPr indent="0" marL="0">
              <a:lnSpc>
                <a:spcPct val="115000"/>
              </a:lnSpc>
              <a:spcAft>
                <a:spcPts val="600"/>
              </a:spcAft>
              <a:buNone/>
            </a:pPr>
            <a:r>
              <a:rPr lang="en-US" sz="1300" dirty="0">
                <a:solidFill>
                  <a:srgbClr val="1E2023"/>
                </a:solidFill>
                <a:latin typeface="Arial" pitchFamily="34" charset="0"/>
                <a:ea typeface="Arial" pitchFamily="34" charset="-122"/>
                <a:cs typeface="Arial" pitchFamily="34" charset="-120"/>
              </a:rPr>
              <a:t>12–15 immagini di campagna · 1 film da 45–60" · 3–4 reel verticali · dettagli per e-commerce e social</a:t>
            </a:r>
            <a:endParaRPr lang="en-US" sz="1300" dirty="0"/>
          </a:p>
        </p:txBody>
      </p:sp>
      <p:sp>
        <p:nvSpPr>
          <p:cNvPr id="18" name="Text 16"/>
          <p:cNvSpPr txBox="1"/>
          <p:nvPr/>
        </p:nvSpPr>
        <p:spPr>
          <a:xfrm>
            <a:off x="11185855" y="6355080"/>
            <a:ext cx="548640" cy="274320"/>
          </a:xfrm>
          <a:prstGeom prst="rect">
            <a:avLst/>
          </a:prstGeom>
          <a:noFill/>
          <a:ln/>
        </p:spPr>
        <p:txBody>
          <a:bodyPr wrap="square" lIns="0" tIns="0" rIns="0" bIns="0" rtlCol="0" anchor="ctr"/>
          <a:lstStyle/>
          <a:p>
            <a:pPr algn="r" indent="0" marL="0">
              <a:buNone/>
            </a:pPr>
            <a:r>
              <a:rPr lang="en-US" sz="900" dirty="0">
                <a:solidFill>
                  <a:srgbClr val="5E6266"/>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023"/>
        </a:solidFill>
      </p:bgPr>
    </p:bg>
    <p:spTree>
      <p:nvGrpSpPr>
        <p:cNvPr id="1" name=""/>
        <p:cNvGrpSpPr/>
        <p:nvPr/>
      </p:nvGrpSpPr>
      <p:grpSpPr>
        <a:xfrm>
          <a:off x="0" y="0"/>
          <a:ext cx="0" cy="0"/>
          <a:chOff x="0" y="0"/>
          <a:chExt cx="0" cy="0"/>
        </a:xfrm>
      </p:grpSpPr>
      <p:pic>
        <p:nvPicPr>
          <p:cNvPr id="2" name="Image 0" descr="img/crossing.jpg">    </p:cNvPr>
          <p:cNvPicPr>
            <a:picLocks noChangeAspect="1"/>
          </p:cNvPicPr>
          <p:nvPr/>
        </p:nvPicPr>
        <p:blipFill>
          <a:blip r:embed="rId1"/>
          <a:srcRect l="0" r="0" t="3704" b="3704"/>
          <a:stretch/>
        </p:blipFill>
        <p:spPr>
          <a:xfrm>
            <a:off x="0" y="0"/>
            <a:ext cx="4937760" cy="6858000"/>
          </a:xfrm>
          <a:prstGeom prst="rect">
            <a:avLst/>
          </a:prstGeom>
        </p:spPr>
      </p:pic>
      <p:sp>
        <p:nvSpPr>
          <p:cNvPr id="3" name="Text 0"/>
          <p:cNvSpPr txBox="1"/>
          <p:nvPr/>
        </p:nvSpPr>
        <p:spPr>
          <a:xfrm>
            <a:off x="5669280" y="2011680"/>
            <a:ext cx="6035040" cy="2194560"/>
          </a:xfrm>
          <a:prstGeom prst="rect">
            <a:avLst/>
          </a:prstGeom>
          <a:noFill/>
          <a:ln/>
        </p:spPr>
        <p:txBody>
          <a:bodyPr wrap="square" lIns="0" tIns="0" rIns="0" bIns="0" rtlCol="0" anchor="t"/>
          <a:lstStyle/>
          <a:p>
            <a:pPr indent="0" marL="0">
              <a:buNone/>
            </a:pPr>
            <a:r>
              <a:rPr lang="en-US" sz="2800" i="1" dirty="0">
                <a:solidFill>
                  <a:srgbClr val="FFFFFF"/>
                </a:solidFill>
                <a:latin typeface="Cambria" pitchFamily="34" charset="0"/>
                <a:ea typeface="Cambria" pitchFamily="34" charset="-122"/>
                <a:cs typeface="Cambria" pitchFamily="34" charset="-120"/>
              </a:rPr>
              <a:t>Parigi, l’inverno,</a:t>
            </a:r>
            <a:endParaRPr lang="en-US" sz="2800" dirty="0"/>
          </a:p>
          <a:p>
            <a:pPr indent="0" marL="0">
              <a:buNone/>
            </a:pPr>
            <a:r>
              <a:rPr lang="en-US" sz="2800" i="1" dirty="0">
                <a:solidFill>
                  <a:srgbClr val="FFFFFF"/>
                </a:solidFill>
                <a:latin typeface="Cambria" pitchFamily="34" charset="0"/>
                <a:ea typeface="Cambria" pitchFamily="34" charset="-122"/>
                <a:cs typeface="Cambria" pitchFamily="34" charset="-120"/>
              </a:rPr>
              <a:t>e una donna che li attraversa</a:t>
            </a:r>
            <a:endParaRPr lang="en-US" sz="2800" dirty="0"/>
          </a:p>
          <a:p>
            <a:pPr indent="0" marL="0">
              <a:buNone/>
            </a:pPr>
            <a:r>
              <a:rPr lang="en-US" sz="2800" i="1" dirty="0">
                <a:solidFill>
                  <a:srgbClr val="FFFFFF"/>
                </a:solidFill>
                <a:latin typeface="Cambria" pitchFamily="34" charset="0"/>
                <a:ea typeface="Cambria" pitchFamily="34" charset="-122"/>
                <a:cs typeface="Cambria" pitchFamily="34" charset="-120"/>
              </a:rPr>
              <a:t>con il suo cappello.</a:t>
            </a:r>
            <a:endParaRPr lang="en-US" sz="2800" dirty="0"/>
          </a:p>
        </p:txBody>
      </p:sp>
      <p:pic>
        <p:nvPicPr>
          <p:cNvPr id="4" name="Image 1" descr="img/logo-light.png">    </p:cNvPr>
          <p:cNvPicPr>
            <a:picLocks noChangeAspect="1"/>
          </p:cNvPicPr>
          <p:nvPr/>
        </p:nvPicPr>
        <p:blipFill>
          <a:blip r:embed="rId2"/>
          <a:stretch>
            <a:fillRect/>
          </a:stretch>
        </p:blipFill>
        <p:spPr>
          <a:xfrm>
            <a:off x="5669280" y="4846320"/>
            <a:ext cx="1097280" cy="980333"/>
          </a:xfrm>
          <a:prstGeom prst="rect">
            <a:avLst/>
          </a:prstGeom>
        </p:spPr>
      </p:pic>
      <p:sp>
        <p:nvSpPr>
          <p:cNvPr id="5" name="Text 1"/>
          <p:cNvSpPr txBox="1"/>
          <p:nvPr/>
        </p:nvSpPr>
        <p:spPr>
          <a:xfrm>
            <a:off x="6995160" y="5257800"/>
            <a:ext cx="4572000" cy="320040"/>
          </a:xfrm>
          <a:prstGeom prst="rect">
            <a:avLst/>
          </a:prstGeom>
          <a:noFill/>
          <a:ln/>
        </p:spPr>
        <p:txBody>
          <a:bodyPr wrap="square" lIns="0" tIns="0" rIns="0" bIns="0" rtlCol="0" anchor="t"/>
          <a:lstStyle/>
          <a:p>
            <a:pPr indent="0" marL="0">
              <a:lnSpc>
                <a:spcPct val="115000"/>
              </a:lnSpc>
              <a:spcAft>
                <a:spcPts val="600"/>
              </a:spcAft>
              <a:buNone/>
            </a:pPr>
            <a:r>
              <a:rPr lang="en-US" sz="1200" dirty="0">
                <a:solidFill>
                  <a:srgbClr val="A9ACAE"/>
                </a:solidFill>
                <a:latin typeface="Arial" pitchFamily="34" charset="0"/>
                <a:ea typeface="Arial" pitchFamily="34" charset="-122"/>
                <a:cs typeface="Arial" pitchFamily="34" charset="-120"/>
              </a:rPr>
              <a:t>Tirabasso · Autunno / Inverno 2026–27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Tirabasso — Un hiver à Paris</dc:title>
  <dc:subject>PptxGenJS Presentation</dc:subject>
  <dc:creator>PptxGenJS</dc:creator>
  <cp:lastModifiedBy>PptxGenJS</cp:lastModifiedBy>
  <cp:revision>1</cp:revision>
  <dcterms:created xsi:type="dcterms:W3CDTF">2026-09-29T09:17:34Z</dcterms:created>
  <dcterms:modified xsi:type="dcterms:W3CDTF">2026-09-29T09:17:34Z</dcterms:modified>
</cp:coreProperties>
</file>