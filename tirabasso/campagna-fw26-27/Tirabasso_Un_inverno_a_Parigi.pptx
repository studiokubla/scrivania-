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Immagine: fotogramma dal film Borsalino Fluid Line (riferimento). Palette indicativa, da accordare ai colori reali della collezione.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dalla cartella di ricerca. Il logo Celine sovrapposto fa parte del post originale.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del post Instagram @brunellocucinelli_brand del 24 agosto.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Fotogrammi dal video @borsalino_world (Fluid Line) scaricato nella cartella. Instagram segnala il post come "Contenuti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Miniatura e fotogrammi dal video @natalibolgar scaricato nella cartella (SaveClip). Il video si apre a parte durante la presentazione.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Sequenza proposta, non ancora un piano di produzione. Nuova rispetto alla v1: la scena dell’ascensore (riferimento Cucinelli).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Immagini d’ispirazione dalla cartella Drive "immagini moodboard": riferimenti per il fotografo, non scatti Tirabasso.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Immagini d’ispirazione dalla cartella Drive "immagini moodboard": riferimenti per il fotografo, non scatti Tirabasso.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Immagine: Galleria Subalpina, Torino (settembre 2015). Autore Isiwal, Wikimedia Commons, licenza CC BY-SA 4.0: il credito va mantenuto.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Tempi, troupe e consegne sono una proposta di partenza, da definire con il cliente e il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image" Target="../media/image-14-6.jpg"/><Relationship Id="rId7" Type="http://schemas.openxmlformats.org/officeDocument/2006/relationships/image" Target="../media/image-14-7.jp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733E"/>
        </a:solidFill>
      </p:bgPr>
    </p:bg>
    <p:spTree>
      <p:nvGrpSpPr>
        <p:cNvPr id="1" name=""/>
        <p:cNvGrpSpPr/>
        <p:nvPr/>
      </p:nvGrpSpPr>
      <p:grpSpPr>
        <a:xfrm>
          <a:off x="0" y="0"/>
          <a:ext cx="0" cy="0"/>
          <a:chOff x="0" y="0"/>
          <a:chExt cx="0" cy="0"/>
        </a:xfrm>
      </p:grpSpPr>
      <p:pic>
        <p:nvPicPr>
          <p:cNvPr id="2" name="Image 0" descr="img/sym_white.png">    </p:cNvPr>
          <p:cNvPicPr>
            <a:picLocks noChangeAspect="1"/>
          </p:cNvPicPr>
          <p:nvPr/>
        </p:nvPicPr>
        <p:blipFill>
          <a:blip r:embed="rId1"/>
          <a:stretch>
            <a:fillRect/>
          </a:stretch>
        </p:blipFill>
        <p:spPr>
          <a:xfrm>
            <a:off x="685800" y="640080"/>
            <a:ext cx="914400" cy="922401"/>
          </a:xfrm>
          <a:prstGeom prst="rect">
            <a:avLst/>
          </a:prstGeom>
        </p:spPr>
      </p:pic>
      <p:sp>
        <p:nvSpPr>
          <p:cNvPr id="3" name="Text 0"/>
          <p:cNvSpPr txBox="1"/>
          <p:nvPr/>
        </p:nvSpPr>
        <p:spPr>
          <a:xfrm>
            <a:off x="6933895" y="1417320"/>
            <a:ext cx="4572000" cy="548640"/>
          </a:xfrm>
          <a:prstGeom prst="rect">
            <a:avLst/>
          </a:prstGeom>
          <a:noFill/>
          <a:ln/>
        </p:spPr>
        <p:txBody>
          <a:bodyPr wrap="square" lIns="0" tIns="0" rIns="0" bIns="0" rtlCol="0" anchor="t"/>
          <a:lstStyle/>
          <a:p>
            <a:pPr algn="r" indent="0" marL="0">
              <a:buNone/>
            </a:pPr>
            <a:r>
              <a:rPr lang="en-US" sz="1400" b="1" dirty="0">
                <a:solidFill>
                  <a:srgbClr val="FFFFFF"/>
                </a:solidFill>
                <a:latin typeface="Titillium Web" pitchFamily="34" charset="0"/>
                <a:ea typeface="Titillium Web" pitchFamily="34" charset="-122"/>
                <a:cs typeface="Titillium Web" pitchFamily="34" charset="-120"/>
              </a:rPr>
              <a:t>Client </a:t>
            </a:r>
            <a:pPr algn="r" indent="0" marL="0">
              <a:buNone/>
            </a:pPr>
            <a:r>
              <a:rPr lang="en-US" sz="1400" dirty="0">
                <a:solidFill>
                  <a:srgbClr val="FFFFFF"/>
                </a:solidFill>
                <a:latin typeface="Titillium Web Light" pitchFamily="34" charset="0"/>
                <a:ea typeface="Titillium Web Light" pitchFamily="34" charset="-122"/>
                <a:cs typeface="Titillium Web Light" pitchFamily="34" charset="-120"/>
              </a:rPr>
              <a:t>/</a:t>
            </a:r>
            <a:endParaRPr lang="en-US" sz="1400" dirty="0"/>
          </a:p>
          <a:p>
            <a:pPr algn="r" indent="0" marL="0">
              <a:buNone/>
            </a:pPr>
            <a:r>
              <a:rPr lang="en-US" sz="1400" dirty="0">
                <a:solidFill>
                  <a:srgbClr val="FFFFFF"/>
                </a:solidFill>
                <a:latin typeface="Titillium Web Light" pitchFamily="34" charset="0"/>
                <a:ea typeface="Titillium Web Light" pitchFamily="34" charset="-122"/>
                <a:cs typeface="Titillium Web Light" pitchFamily="34" charset="-120"/>
              </a:rPr>
              <a:t>Tirabasso</a:t>
            </a:r>
            <a:endParaRPr lang="en-US" sz="1400" dirty="0"/>
          </a:p>
        </p:txBody>
      </p:sp>
      <p:sp>
        <p:nvSpPr>
          <p:cNvPr id="4" name="Text 1"/>
          <p:cNvSpPr txBox="1"/>
          <p:nvPr/>
        </p:nvSpPr>
        <p:spPr>
          <a:xfrm>
            <a:off x="6933895" y="2103120"/>
            <a:ext cx="4572000" cy="548640"/>
          </a:xfrm>
          <a:prstGeom prst="rect">
            <a:avLst/>
          </a:prstGeom>
          <a:noFill/>
          <a:ln/>
        </p:spPr>
        <p:txBody>
          <a:bodyPr wrap="square" lIns="0" tIns="0" rIns="0" bIns="0" rtlCol="0" anchor="t"/>
          <a:lstStyle/>
          <a:p>
            <a:pPr algn="r" indent="0" marL="0">
              <a:buNone/>
            </a:pPr>
            <a:r>
              <a:rPr lang="en-US" sz="1400" b="1" dirty="0">
                <a:solidFill>
                  <a:srgbClr val="FFFFFF"/>
                </a:solidFill>
                <a:latin typeface="Titillium Web" pitchFamily="34" charset="0"/>
                <a:ea typeface="Titillium Web" pitchFamily="34" charset="-122"/>
                <a:cs typeface="Titillium Web" pitchFamily="34" charset="-120"/>
              </a:rPr>
              <a:t>Object </a:t>
            </a:r>
            <a:pPr algn="r" indent="0" marL="0">
              <a:buNone/>
            </a:pPr>
            <a:r>
              <a:rPr lang="en-US" sz="1400" dirty="0">
                <a:solidFill>
                  <a:srgbClr val="FFFFFF"/>
                </a:solidFill>
                <a:latin typeface="Titillium Web Light" pitchFamily="34" charset="0"/>
                <a:ea typeface="Titillium Web Light" pitchFamily="34" charset="-122"/>
                <a:cs typeface="Titillium Web Light" pitchFamily="34" charset="-120"/>
              </a:rPr>
              <a:t>/</a:t>
            </a:r>
            <a:endParaRPr lang="en-US" sz="1400" dirty="0"/>
          </a:p>
          <a:p>
            <a:pPr algn="r" indent="0" marL="0">
              <a:buNone/>
            </a:pPr>
            <a:r>
              <a:rPr lang="en-US" sz="1400" dirty="0">
                <a:solidFill>
                  <a:srgbClr val="FFFFFF"/>
                </a:solidFill>
                <a:latin typeface="Titillium Web Light" pitchFamily="34" charset="0"/>
                <a:ea typeface="Titillium Web Light" pitchFamily="34" charset="-122"/>
                <a:cs typeface="Titillium Web Light" pitchFamily="34" charset="-120"/>
              </a:rPr>
              <a:t>Campagna Autunno / Inverno 2026–27</a:t>
            </a:r>
            <a:endParaRPr lang="en-US" sz="1400" dirty="0"/>
          </a:p>
        </p:txBody>
      </p:sp>
      <p:sp>
        <p:nvSpPr>
          <p:cNvPr id="5" name="Text 2"/>
          <p:cNvSpPr txBox="1"/>
          <p:nvPr/>
        </p:nvSpPr>
        <p:spPr>
          <a:xfrm>
            <a:off x="6933895" y="2788920"/>
            <a:ext cx="4572000" cy="548640"/>
          </a:xfrm>
          <a:prstGeom prst="rect">
            <a:avLst/>
          </a:prstGeom>
          <a:noFill/>
          <a:ln/>
        </p:spPr>
        <p:txBody>
          <a:bodyPr wrap="square" lIns="0" tIns="0" rIns="0" bIns="0" rtlCol="0" anchor="t"/>
          <a:lstStyle/>
          <a:p>
            <a:pPr algn="r" indent="0" marL="0">
              <a:buNone/>
            </a:pPr>
            <a:r>
              <a:rPr lang="en-US" sz="1400" b="1" dirty="0">
                <a:solidFill>
                  <a:srgbClr val="FFFFFF"/>
                </a:solidFill>
                <a:latin typeface="Titillium Web" pitchFamily="34" charset="0"/>
                <a:ea typeface="Titillium Web" pitchFamily="34" charset="-122"/>
                <a:cs typeface="Titillium Web" pitchFamily="34" charset="-120"/>
              </a:rPr>
              <a:t>Data </a:t>
            </a:r>
            <a:pPr algn="r" indent="0" marL="0">
              <a:buNone/>
            </a:pPr>
            <a:r>
              <a:rPr lang="en-US" sz="1400" dirty="0">
                <a:solidFill>
                  <a:srgbClr val="FFFFFF"/>
                </a:solidFill>
                <a:latin typeface="Titillium Web Light" pitchFamily="34" charset="0"/>
                <a:ea typeface="Titillium Web Light" pitchFamily="34" charset="-122"/>
                <a:cs typeface="Titillium Web Light" pitchFamily="34" charset="-120"/>
              </a:rPr>
              <a:t>/</a:t>
            </a:r>
            <a:endParaRPr lang="en-US" sz="1400" dirty="0"/>
          </a:p>
          <a:p>
            <a:pPr algn="r" indent="0" marL="0">
              <a:buNone/>
            </a:pPr>
            <a:r>
              <a:rPr lang="en-US" sz="1400" dirty="0">
                <a:solidFill>
                  <a:srgbClr val="FFFFFF"/>
                </a:solidFill>
                <a:latin typeface="Titillium Web Light" pitchFamily="34" charset="0"/>
                <a:ea typeface="Titillium Web Light" pitchFamily="34" charset="-122"/>
                <a:cs typeface="Titillium Web Light" pitchFamily="34" charset="-120"/>
              </a:rPr>
              <a:t>29 settembre 2026</a:t>
            </a:r>
            <a:endParaRPr lang="en-US" sz="1400" dirty="0"/>
          </a:p>
        </p:txBody>
      </p:sp>
      <p:sp>
        <p:nvSpPr>
          <p:cNvPr id="6" name="Text 3"/>
          <p:cNvSpPr txBox="1"/>
          <p:nvPr/>
        </p:nvSpPr>
        <p:spPr>
          <a:xfrm>
            <a:off x="685800" y="3429000"/>
            <a:ext cx="7315200" cy="1828800"/>
          </a:xfrm>
          <a:prstGeom prst="rect">
            <a:avLst/>
          </a:prstGeom>
          <a:noFill/>
          <a:ln/>
        </p:spPr>
        <p:txBody>
          <a:bodyPr wrap="square" lIns="0" tIns="0" rIns="0" bIns="0" rtlCol="0" anchor="t"/>
          <a:lstStyle/>
          <a:p>
            <a:pPr indent="0" marL="0">
              <a:lnSpc>
                <a:spcPct val="90000"/>
              </a:lnSpc>
              <a:buNone/>
            </a:pPr>
            <a:r>
              <a:rPr lang="en-US" sz="6000" b="1" dirty="0">
                <a:solidFill>
                  <a:srgbClr val="FFFFFF"/>
                </a:solidFill>
                <a:latin typeface="Titillium Web" pitchFamily="34" charset="0"/>
                <a:ea typeface="Titillium Web" pitchFamily="34" charset="-122"/>
                <a:cs typeface="Titillium Web" pitchFamily="34" charset="-120"/>
              </a:rPr>
              <a:t>Un inverno</a:t>
            </a:r>
            <a:endParaRPr lang="en-US" sz="6000" dirty="0"/>
          </a:p>
          <a:p>
            <a:pPr indent="0" marL="0">
              <a:lnSpc>
                <a:spcPct val="90000"/>
              </a:lnSpc>
              <a:buNone/>
            </a:pPr>
            <a:r>
              <a:rPr lang="en-US" sz="6000" b="1" dirty="0">
                <a:solidFill>
                  <a:srgbClr val="FFFFFF"/>
                </a:solidFill>
                <a:latin typeface="Titillium Web" pitchFamily="34" charset="0"/>
                <a:ea typeface="Titillium Web" pitchFamily="34" charset="-122"/>
                <a:cs typeface="Titillium Web" pitchFamily="34" charset="-120"/>
              </a:rPr>
              <a:t>a Parigi</a:t>
            </a:r>
            <a:endParaRPr lang="en-US" sz="6000" dirty="0"/>
          </a:p>
        </p:txBody>
      </p:sp>
      <p:sp>
        <p:nvSpPr>
          <p:cNvPr id="7" name="Text 4"/>
          <p:cNvSpPr txBox="1"/>
          <p:nvPr/>
        </p:nvSpPr>
        <p:spPr>
          <a:xfrm>
            <a:off x="685800" y="5257800"/>
            <a:ext cx="7315200" cy="365760"/>
          </a:xfrm>
          <a:prstGeom prst="rect">
            <a:avLst/>
          </a:prstGeom>
          <a:noFill/>
          <a:ln/>
        </p:spPr>
        <p:txBody>
          <a:bodyPr wrap="square" lIns="0" tIns="0" rIns="0" bIns="0" rtlCol="0" anchor="t"/>
          <a:lstStyle/>
          <a:p>
            <a:pPr indent="0" marL="0">
              <a:buNone/>
            </a:pPr>
            <a:r>
              <a:rPr lang="en-US" sz="1700" dirty="0">
                <a:solidFill>
                  <a:srgbClr val="FFFFFF"/>
                </a:solidFill>
                <a:latin typeface="Titillium Web Light" pitchFamily="34" charset="0"/>
                <a:ea typeface="Titillium Web Light" pitchFamily="34" charset="-122"/>
                <a:cs typeface="Titillium Web Light" pitchFamily="34" charset="-120"/>
              </a:rPr>
              <a:t>Proposta creativa per i cappelli donna Tirabasso</a:t>
            </a:r>
            <a:endParaRPr lang="en-US" sz="1700" dirty="0"/>
          </a:p>
        </p:txBody>
      </p:sp>
      <p:sp>
        <p:nvSpPr>
          <p:cNvPr id="8" name="Text 5"/>
          <p:cNvSpPr txBox="1"/>
          <p:nvPr/>
        </p:nvSpPr>
        <p:spPr>
          <a:xfrm>
            <a:off x="685800" y="6080760"/>
            <a:ext cx="4572000" cy="320040"/>
          </a:xfrm>
          <a:prstGeom prst="rect">
            <a:avLst/>
          </a:prstGeom>
          <a:noFill/>
          <a:ln/>
        </p:spPr>
        <p:txBody>
          <a:bodyPr wrap="square" lIns="0" tIns="0" rIns="0" bIns="0" rtlCol="0" anchor="t"/>
          <a:lstStyle/>
          <a:p>
            <a:pPr indent="0" marL="0">
              <a:buNone/>
            </a:pPr>
            <a:r>
              <a:rPr lang="en-US" sz="1500" b="1" dirty="0">
                <a:solidFill>
                  <a:srgbClr val="FFFFFF"/>
                </a:solidFill>
                <a:latin typeface="Titillium Web" pitchFamily="34" charset="0"/>
                <a:ea typeface="Titillium Web" pitchFamily="34" charset="-122"/>
                <a:cs typeface="Titillium Web" pitchFamily="34" charset="-120"/>
              </a:rPr>
              <a:t>www.studiokubla.com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7E3D3"/>
        </a:solidFill>
      </p:bgPr>
    </p:bg>
    <p:spTree>
      <p:nvGrpSpPr>
        <p:cNvPr id="1" name=""/>
        <p:cNvGrpSpPr/>
        <p:nvPr/>
      </p:nvGrpSpPr>
      <p:grpSpPr>
        <a:xfrm>
          <a:off x="0" y="0"/>
          <a:ext cx="0" cy="0"/>
          <a:chOff x="0" y="0"/>
          <a:chExt cx="0" cy="0"/>
        </a:xfrm>
      </p:grpSpPr>
      <p:sp>
        <p:nvSpPr>
          <p:cNvPr id="2" name="Text 0"/>
          <p:cNvSpPr txBox="1"/>
          <p:nvPr/>
        </p:nvSpPr>
        <p:spPr>
          <a:xfrm>
            <a:off x="685800" y="566928"/>
            <a:ext cx="731520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Creative strategy</a:t>
            </a:r>
            <a:endParaRPr lang="en-US" sz="1300" dirty="0"/>
          </a:p>
        </p:txBody>
      </p:sp>
      <p:sp>
        <p:nvSpPr>
          <p:cNvPr id="3" name="Text 1"/>
          <p:cNvSpPr txBox="1"/>
          <p:nvPr/>
        </p:nvSpPr>
        <p:spPr>
          <a:xfrm>
            <a:off x="685800" y="822960"/>
            <a:ext cx="731520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Il concept</a:t>
            </a:r>
            <a:endParaRPr lang="en-US" sz="1300" dirty="0"/>
          </a:p>
        </p:txBody>
      </p:sp>
      <p:sp>
        <p:nvSpPr>
          <p:cNvPr id="4" name="Text 2"/>
          <p:cNvSpPr txBox="1"/>
          <p:nvPr/>
        </p:nvSpPr>
        <p:spPr>
          <a:xfrm>
            <a:off x="685800" y="1325880"/>
            <a:ext cx="6035040" cy="2926080"/>
          </a:xfrm>
          <a:prstGeom prst="rect">
            <a:avLst/>
          </a:prstGeom>
          <a:noFill/>
          <a:ln/>
        </p:spPr>
        <p:txBody>
          <a:bodyPr wrap="square" lIns="0" tIns="0" rIns="0" bIns="0" rtlCol="0" anchor="t"/>
          <a:lstStyle/>
          <a:p>
            <a:pPr indent="0" marL="0">
              <a:lnSpc>
                <a:spcPct val="100000"/>
              </a:lnSpc>
              <a:buNone/>
            </a:pPr>
            <a:r>
              <a:rPr lang="en-US" sz="3000" b="1" dirty="0">
                <a:solidFill>
                  <a:srgbClr val="C75033"/>
                </a:solidFill>
                <a:latin typeface="Titillium Web" pitchFamily="34" charset="0"/>
                <a:ea typeface="Titillium Web" pitchFamily="34" charset="-122"/>
                <a:cs typeface="Titillium Web" pitchFamily="34" charset="-120"/>
              </a:rPr>
              <a:t>“Una donna attraversa Parigi in una giornata d’inverno. Non posa mai: la incontriamo di passaggio, e il suo cappello resta l’unica cosa che non cambia.”</a:t>
            </a:r>
            <a:endParaRPr lang="en-US" sz="3000" dirty="0"/>
          </a:p>
        </p:txBody>
      </p:sp>
      <p:pic>
        <p:nvPicPr>
          <p:cNvPr id="5" name="Image 0" descr="img/palais.jpg">    </p:cNvPr>
          <p:cNvPicPr>
            <a:picLocks noChangeAspect="1"/>
          </p:cNvPicPr>
          <p:nvPr/>
        </p:nvPicPr>
        <p:blipFill>
          <a:blip r:embed="rId1"/>
          <a:srcRect l="7959" r="7959" t="0" b="0"/>
          <a:stretch/>
        </p:blipFill>
        <p:spPr>
          <a:xfrm>
            <a:off x="7406640" y="566928"/>
            <a:ext cx="4096512" cy="5394960"/>
          </a:xfrm>
          <a:prstGeom prst="rect">
            <a:avLst/>
          </a:prstGeom>
        </p:spPr>
      </p:pic>
      <p:sp>
        <p:nvSpPr>
          <p:cNvPr id="6" name="Text 3"/>
          <p:cNvSpPr txBox="1"/>
          <p:nvPr/>
        </p:nvSpPr>
        <p:spPr>
          <a:xfrm>
            <a:off x="7406640" y="6053328"/>
            <a:ext cx="4096512" cy="228600"/>
          </a:xfrm>
          <a:prstGeom prst="rect">
            <a:avLst/>
          </a:prstGeom>
          <a:noFill/>
          <a:ln/>
        </p:spPr>
        <p:txBody>
          <a:bodyPr wrap="square" lIns="0" tIns="0" rIns="0" bIns="0" rtlCol="0" anchor="t"/>
          <a:lstStyle/>
          <a:p>
            <a:pPr indent="0" marL="0">
              <a:buNone/>
            </a:pPr>
            <a:r>
              <a:rPr lang="en-US" sz="900" spc="100" kern="0" dirty="0">
                <a:solidFill>
                  <a:srgbClr val="8A8474"/>
                </a:solidFill>
                <a:latin typeface="Titillium Web" pitchFamily="34" charset="0"/>
                <a:ea typeface="Titillium Web" pitchFamily="34" charset="-122"/>
                <a:cs typeface="Titillium Web" pitchFamily="34" charset="-120"/>
              </a:rPr>
              <a:t>RIFERIMENTO DALLA RICERCA</a:t>
            </a:r>
            <a:endParaRPr lang="en-US" sz="900" dirty="0"/>
          </a:p>
        </p:txBody>
      </p:sp>
      <p:pic>
        <p:nvPicPr>
          <p:cNvPr id="7" name="Image 1" descr="img/badge_white.png">    </p:cNvPr>
          <p:cNvPicPr>
            <a:picLocks noChangeAspect="1"/>
          </p:cNvPicPr>
          <p:nvPr/>
        </p:nvPicPr>
        <p:blipFill>
          <a:blip r:embed="rId2"/>
          <a:stretch>
            <a:fillRect/>
          </a:stretch>
        </p:blipFill>
        <p:spPr>
          <a:xfrm>
            <a:off x="11533327" y="6199632"/>
            <a:ext cx="274320" cy="274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7E3D3"/>
        </a:solidFill>
      </p:bgPr>
    </p:bg>
    <p:spTree>
      <p:nvGrpSpPr>
        <p:cNvPr id="1" name=""/>
        <p:cNvGrpSpPr/>
        <p:nvPr/>
      </p:nvGrpSpPr>
      <p:grpSpPr>
        <a:xfrm>
          <a:off x="0" y="0"/>
          <a:ext cx="0" cy="0"/>
          <a:chOff x="0" y="0"/>
          <a:chExt cx="0" cy="0"/>
        </a:xfrm>
      </p:grpSpPr>
      <p:pic>
        <p:nvPicPr>
          <p:cNvPr id="2" name="Image 0" descr="img/crossing.jpg">    </p:cNvPr>
          <p:cNvPicPr>
            <a:picLocks noChangeAspect="1"/>
          </p:cNvPicPr>
          <p:nvPr/>
        </p:nvPicPr>
        <p:blipFill>
          <a:blip r:embed="rId1"/>
          <a:srcRect l="1000" r="1000" t="0" b="0"/>
          <a:stretch/>
        </p:blipFill>
        <p:spPr>
          <a:xfrm>
            <a:off x="7711135" y="0"/>
            <a:ext cx="4480560" cy="6858000"/>
          </a:xfrm>
          <a:prstGeom prst="rect">
            <a:avLst/>
          </a:prstGeom>
        </p:spPr>
      </p:pic>
      <p:sp>
        <p:nvSpPr>
          <p:cNvPr id="3" name="Text 0"/>
          <p:cNvSpPr txBox="1"/>
          <p:nvPr/>
        </p:nvSpPr>
        <p:spPr>
          <a:xfrm>
            <a:off x="685800" y="566928"/>
            <a:ext cx="676656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1. L’idea</a:t>
            </a:r>
            <a:endParaRPr lang="en-US" sz="1300" dirty="0"/>
          </a:p>
        </p:txBody>
      </p:sp>
      <p:sp>
        <p:nvSpPr>
          <p:cNvPr id="4" name="Text 1"/>
          <p:cNvSpPr txBox="1"/>
          <p:nvPr/>
        </p:nvSpPr>
        <p:spPr>
          <a:xfrm>
            <a:off x="685800" y="822960"/>
            <a:ext cx="676656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Una giornata tutta sua</a:t>
            </a:r>
            <a:endParaRPr lang="en-US" sz="1300" dirty="0"/>
          </a:p>
        </p:txBody>
      </p:sp>
      <p:sp>
        <p:nvSpPr>
          <p:cNvPr id="5" name="Text 2"/>
          <p:cNvSpPr txBox="1"/>
          <p:nvPr/>
        </p:nvSpPr>
        <p:spPr>
          <a:xfrm>
            <a:off x="685800" y="1234440"/>
            <a:ext cx="6766560" cy="10972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Una giornata d’inverno,</a:t>
            </a:r>
            <a:endParaRPr lang="en-US" sz="3200" dirty="0"/>
          </a:p>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vista di passaggio</a:t>
            </a:r>
            <a:endParaRPr lang="en-US" sz="3200" dirty="0"/>
          </a:p>
        </p:txBody>
      </p:sp>
      <p:sp>
        <p:nvSpPr>
          <p:cNvPr id="6" name="Text 3"/>
          <p:cNvSpPr txBox="1"/>
          <p:nvPr/>
        </p:nvSpPr>
        <p:spPr>
          <a:xfrm>
            <a:off x="685800" y="2514600"/>
            <a:ext cx="6309360" cy="2103120"/>
          </a:xfrm>
          <a:prstGeom prst="rect">
            <a:avLst/>
          </a:prstGeom>
          <a:noFill/>
          <a:ln/>
        </p:spPr>
        <p:txBody>
          <a:bodyPr wrap="square" lIns="0" tIns="0" rIns="0" bIns="0" rtlCol="0" anchor="t"/>
          <a:lstStyle/>
          <a:p>
            <a:pPr indent="0" marL="0">
              <a:lnSpc>
                <a:spcPct val="110000"/>
              </a:lnSpc>
              <a:spcAft>
                <a:spcPts val="1000"/>
              </a:spcAft>
              <a:buNone/>
            </a:pPr>
            <a:r>
              <a:rPr lang="en-US" sz="1500" dirty="0">
                <a:solidFill>
                  <a:srgbClr val="2B2C20"/>
                </a:solidFill>
                <a:latin typeface="Titillium Web Light" pitchFamily="34" charset="0"/>
                <a:ea typeface="Titillium Web Light" pitchFamily="34" charset="-122"/>
                <a:cs typeface="Titillium Web Light" pitchFamily="34" charset="-120"/>
              </a:rPr>
              <a:t>Una donna attraversa Parigi in una giornata di pioggia e nebbia. Esce di casa, attraversa la strada, prende un caffè, scende nella metro, sale in un ascensore d’epoca. Non si ferma mai per l’obiettivo: la fotografiamo come la vedrebbe un passante.</a:t>
            </a:r>
            <a:endParaRPr lang="en-US" sz="1500" dirty="0"/>
          </a:p>
          <a:p>
            <a:pPr indent="0" marL="0">
              <a:lnSpc>
                <a:spcPct val="110000"/>
              </a:lnSpc>
              <a:spcAft>
                <a:spcPts val="1000"/>
              </a:spcAft>
              <a:buNone/>
            </a:pPr>
            <a:r>
              <a:rPr lang="en-US" sz="1500" dirty="0">
                <a:solidFill>
                  <a:srgbClr val="2B2C20"/>
                </a:solidFill>
                <a:latin typeface="Titillium Web Light" pitchFamily="34" charset="0"/>
                <a:ea typeface="Titillium Web Light" pitchFamily="34" charset="-122"/>
                <a:cs typeface="Titillium Web Light" pitchFamily="34" charset="-120"/>
              </a:rPr>
              <a:t>Il cappello Tirabasso è l’unica cosa che non cambia. La accompagna in ogni momento e rende riconoscibile la sua figura tra la gente.</a:t>
            </a:r>
            <a:endParaRPr lang="en-US" sz="1500" dirty="0"/>
          </a:p>
        </p:txBody>
      </p:sp>
      <p:sp>
        <p:nvSpPr>
          <p:cNvPr id="7" name="Shape 4"/>
          <p:cNvSpPr/>
          <p:nvPr/>
        </p:nvSpPr>
        <p:spPr>
          <a:xfrm>
            <a:off x="685800" y="4983480"/>
            <a:ext cx="1920240" cy="0"/>
          </a:xfrm>
          <a:prstGeom prst="line">
            <a:avLst/>
          </a:prstGeom>
          <a:noFill/>
          <a:ln w="12700">
            <a:solidFill>
              <a:srgbClr val="C75033">
                <a:alpha val="50000"/>
              </a:srgbClr>
            </a:solidFill>
            <a:prstDash val="solid"/>
          </a:ln>
        </p:spPr>
      </p:sp>
      <p:sp>
        <p:nvSpPr>
          <p:cNvPr id="8" name="Text 5"/>
          <p:cNvSpPr txBox="1"/>
          <p:nvPr/>
        </p:nvSpPr>
        <p:spPr>
          <a:xfrm>
            <a:off x="685800" y="5120640"/>
            <a:ext cx="196596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Sempre in movimento</a:t>
            </a:r>
            <a:endParaRPr lang="en-US" sz="1400" dirty="0"/>
          </a:p>
        </p:txBody>
      </p:sp>
      <p:sp>
        <p:nvSpPr>
          <p:cNvPr id="9" name="Text 6"/>
          <p:cNvSpPr txBox="1"/>
          <p:nvPr/>
        </p:nvSpPr>
        <p:spPr>
          <a:xfrm>
            <a:off x="685800" y="5440680"/>
            <a:ext cx="1920240" cy="54864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Cammina, attraversa, sale, scende.</a:t>
            </a:r>
            <a:endParaRPr lang="en-US" sz="1250" dirty="0"/>
          </a:p>
        </p:txBody>
      </p:sp>
      <p:sp>
        <p:nvSpPr>
          <p:cNvPr id="10" name="Shape 7"/>
          <p:cNvSpPr/>
          <p:nvPr/>
        </p:nvSpPr>
        <p:spPr>
          <a:xfrm>
            <a:off x="2834640" y="4983480"/>
            <a:ext cx="1920240" cy="0"/>
          </a:xfrm>
          <a:prstGeom prst="line">
            <a:avLst/>
          </a:prstGeom>
          <a:noFill/>
          <a:ln w="12700">
            <a:solidFill>
              <a:srgbClr val="C75033">
                <a:alpha val="50000"/>
              </a:srgbClr>
            </a:solidFill>
            <a:prstDash val="solid"/>
          </a:ln>
        </p:spPr>
      </p:sp>
      <p:sp>
        <p:nvSpPr>
          <p:cNvPr id="11" name="Text 8"/>
          <p:cNvSpPr txBox="1"/>
          <p:nvPr/>
        </p:nvSpPr>
        <p:spPr>
          <a:xfrm>
            <a:off x="2834640" y="5120640"/>
            <a:ext cx="196596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Mai in posa</a:t>
            </a:r>
            <a:endParaRPr lang="en-US" sz="1400" dirty="0"/>
          </a:p>
        </p:txBody>
      </p:sp>
      <p:sp>
        <p:nvSpPr>
          <p:cNvPr id="12" name="Text 9"/>
          <p:cNvSpPr txBox="1"/>
          <p:nvPr/>
        </p:nvSpPr>
        <p:spPr>
          <a:xfrm>
            <a:off x="2834640" y="5440680"/>
            <a:ext cx="1920240" cy="54864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Immagini rubate, mai costruite.</a:t>
            </a:r>
            <a:endParaRPr lang="en-US" sz="1250" dirty="0"/>
          </a:p>
        </p:txBody>
      </p:sp>
      <p:sp>
        <p:nvSpPr>
          <p:cNvPr id="13" name="Shape 10"/>
          <p:cNvSpPr/>
          <p:nvPr/>
        </p:nvSpPr>
        <p:spPr>
          <a:xfrm>
            <a:off x="4983480" y="4983480"/>
            <a:ext cx="1920240" cy="0"/>
          </a:xfrm>
          <a:prstGeom prst="line">
            <a:avLst/>
          </a:prstGeom>
          <a:noFill/>
          <a:ln w="12700">
            <a:solidFill>
              <a:srgbClr val="C75033">
                <a:alpha val="50000"/>
              </a:srgbClr>
            </a:solidFill>
            <a:prstDash val="solid"/>
          </a:ln>
        </p:spPr>
      </p:sp>
      <p:sp>
        <p:nvSpPr>
          <p:cNvPr id="14" name="Text 11"/>
          <p:cNvSpPr txBox="1"/>
          <p:nvPr/>
        </p:nvSpPr>
        <p:spPr>
          <a:xfrm>
            <a:off x="4983480" y="5120640"/>
            <a:ext cx="196596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La città come scena</a:t>
            </a:r>
            <a:endParaRPr lang="en-US" sz="1400" dirty="0"/>
          </a:p>
        </p:txBody>
      </p:sp>
      <p:sp>
        <p:nvSpPr>
          <p:cNvPr id="15" name="Text 12"/>
          <p:cNvSpPr txBox="1"/>
          <p:nvPr/>
        </p:nvSpPr>
        <p:spPr>
          <a:xfrm>
            <a:off x="4983480" y="5440680"/>
            <a:ext cx="1920240" cy="54864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L’architettura racconta il suo mondo.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0221A"/>
        </a:solidFill>
      </p:bgPr>
    </p:bg>
    <p:spTree>
      <p:nvGrpSpPr>
        <p:cNvPr id="1" name=""/>
        <p:cNvGrpSpPr/>
        <p:nvPr/>
      </p:nvGrpSpPr>
      <p:grpSpPr>
        <a:xfrm>
          <a:off x="0" y="0"/>
          <a:ext cx="0" cy="0"/>
          <a:chOff x="0" y="0"/>
          <a:chExt cx="0" cy="0"/>
        </a:xfrm>
      </p:grpSpPr>
      <p:pic>
        <p:nvPicPr>
          <p:cNvPr id="2" name="Image 0" descr="img/bors_5.jpg">    </p:cNvPr>
          <p:cNvPicPr>
            <a:picLocks noChangeAspect="1"/>
          </p:cNvPicPr>
          <p:nvPr/>
        </p:nvPicPr>
        <p:blipFill>
          <a:blip r:embed="rId1"/>
          <a:srcRect l="0" r="0" t="4144" b="4144"/>
          <a:stretch/>
        </p:blipFill>
        <p:spPr>
          <a:xfrm>
            <a:off x="0" y="0"/>
            <a:ext cx="4206240" cy="6858000"/>
          </a:xfrm>
          <a:prstGeom prst="rect">
            <a:avLst/>
          </a:prstGeom>
        </p:spPr>
      </p:pic>
      <p:sp>
        <p:nvSpPr>
          <p:cNvPr id="3" name="Text 0"/>
          <p:cNvSpPr txBox="1"/>
          <p:nvPr/>
        </p:nvSpPr>
        <p:spPr>
          <a:xfrm>
            <a:off x="4892040" y="566928"/>
            <a:ext cx="6583680" cy="274320"/>
          </a:xfrm>
          <a:prstGeom prst="rect">
            <a:avLst/>
          </a:prstGeom>
          <a:noFill/>
          <a:ln/>
        </p:spPr>
        <p:txBody>
          <a:bodyPr wrap="square" lIns="0" tIns="0" rIns="0" bIns="0" rtlCol="0" anchor="t"/>
          <a:lstStyle/>
          <a:p>
            <a:pPr indent="0" marL="0">
              <a:buNone/>
            </a:pPr>
            <a:r>
              <a:rPr lang="en-US" sz="1300" b="1" dirty="0">
                <a:solidFill>
                  <a:srgbClr val="E0A08E"/>
                </a:solidFill>
                <a:latin typeface="Titillium Web" pitchFamily="34" charset="0"/>
                <a:ea typeface="Titillium Web" pitchFamily="34" charset="-122"/>
                <a:cs typeface="Titillium Web" pitchFamily="34" charset="-120"/>
              </a:rPr>
              <a:t>2. Atmosfera</a:t>
            </a:r>
            <a:endParaRPr lang="en-US" sz="1300" dirty="0"/>
          </a:p>
        </p:txBody>
      </p:sp>
      <p:sp>
        <p:nvSpPr>
          <p:cNvPr id="4" name="Text 1"/>
          <p:cNvSpPr txBox="1"/>
          <p:nvPr/>
        </p:nvSpPr>
        <p:spPr>
          <a:xfrm>
            <a:off x="4892040" y="822960"/>
            <a:ext cx="6583680" cy="274320"/>
          </a:xfrm>
          <a:prstGeom prst="rect">
            <a:avLst/>
          </a:prstGeom>
          <a:noFill/>
          <a:ln/>
        </p:spPr>
        <p:txBody>
          <a:bodyPr wrap="square" lIns="0" tIns="0" rIns="0" bIns="0" rtlCol="0" anchor="t"/>
          <a:lstStyle/>
          <a:p>
            <a:pPr indent="0" marL="0">
              <a:buNone/>
            </a:pPr>
            <a:r>
              <a:rPr lang="en-US" sz="1300" i="1" dirty="0">
                <a:solidFill>
                  <a:srgbClr val="E0A08E"/>
                </a:solidFill>
                <a:latin typeface="Titillium Web" pitchFamily="34" charset="0"/>
                <a:ea typeface="Titillium Web" pitchFamily="34" charset="-122"/>
                <a:cs typeface="Titillium Web" pitchFamily="34" charset="-120"/>
              </a:rPr>
              <a:t>Pioggia, nebbia e foglie secche</a:t>
            </a:r>
            <a:endParaRPr lang="en-US" sz="1300" dirty="0"/>
          </a:p>
        </p:txBody>
      </p:sp>
      <p:sp>
        <p:nvSpPr>
          <p:cNvPr id="5" name="Text 2"/>
          <p:cNvSpPr txBox="1"/>
          <p:nvPr/>
        </p:nvSpPr>
        <p:spPr>
          <a:xfrm>
            <a:off x="4892040" y="1234440"/>
            <a:ext cx="6583680" cy="731520"/>
          </a:xfrm>
          <a:prstGeom prst="rect">
            <a:avLst/>
          </a:prstGeom>
          <a:noFill/>
          <a:ln/>
        </p:spPr>
        <p:txBody>
          <a:bodyPr wrap="square" lIns="0" tIns="0" rIns="0" bIns="0" rtlCol="0" anchor="t"/>
          <a:lstStyle/>
          <a:p>
            <a:pPr indent="0" marL="0">
              <a:lnSpc>
                <a:spcPct val="95000"/>
              </a:lnSpc>
              <a:buNone/>
            </a:pPr>
            <a:r>
              <a:rPr lang="en-US" sz="3200" b="1" dirty="0">
                <a:solidFill>
                  <a:srgbClr val="E0A08E"/>
                </a:solidFill>
                <a:latin typeface="Titillium Web" pitchFamily="34" charset="0"/>
                <a:ea typeface="Titillium Web" pitchFamily="34" charset="-122"/>
                <a:cs typeface="Titillium Web" pitchFamily="34" charset="-120"/>
              </a:rPr>
              <a:t>Il grigio di Parigi</a:t>
            </a:r>
            <a:endParaRPr lang="en-US" sz="3200" dirty="0"/>
          </a:p>
        </p:txBody>
      </p:sp>
      <p:sp>
        <p:nvSpPr>
          <p:cNvPr id="6" name="Text 3"/>
          <p:cNvSpPr txBox="1"/>
          <p:nvPr/>
        </p:nvSpPr>
        <p:spPr>
          <a:xfrm>
            <a:off x="4892040" y="2148840"/>
            <a:ext cx="3108960" cy="365760"/>
          </a:xfrm>
          <a:prstGeom prst="rect">
            <a:avLst/>
          </a:prstGeom>
          <a:noFill/>
          <a:ln/>
        </p:spPr>
        <p:txBody>
          <a:bodyPr wrap="square" lIns="0" tIns="0" rIns="0" bIns="0" rtlCol="0" anchor="t"/>
          <a:lstStyle/>
          <a:p>
            <a:pPr indent="0" marL="0">
              <a:buNone/>
            </a:pPr>
            <a:r>
              <a:rPr lang="en-US" sz="1700" b="1" dirty="0">
                <a:solidFill>
                  <a:srgbClr val="E7E3D3"/>
                </a:solidFill>
                <a:latin typeface="Titillium Web" pitchFamily="34" charset="0"/>
                <a:ea typeface="Titillium Web" pitchFamily="34" charset="-122"/>
                <a:cs typeface="Titillium Web" pitchFamily="34" charset="-120"/>
              </a:rPr>
              <a:t>Pioggia</a:t>
            </a:r>
            <a:endParaRPr lang="en-US" sz="1700" dirty="0"/>
          </a:p>
        </p:txBody>
      </p:sp>
      <p:sp>
        <p:nvSpPr>
          <p:cNvPr id="7" name="Text 4"/>
          <p:cNvSpPr txBox="1"/>
          <p:nvPr/>
        </p:nvSpPr>
        <p:spPr>
          <a:xfrm>
            <a:off x="4892040" y="2532888"/>
            <a:ext cx="3017520" cy="640080"/>
          </a:xfrm>
          <a:prstGeom prst="rect">
            <a:avLst/>
          </a:prstGeom>
          <a:noFill/>
          <a:ln/>
        </p:spPr>
        <p:txBody>
          <a:bodyPr wrap="square" lIns="0" tIns="0" rIns="0" bIns="0" rtlCol="0" anchor="t"/>
          <a:lstStyle/>
          <a:p>
            <a:pPr indent="0" marL="0">
              <a:buNone/>
            </a:pPr>
            <a:r>
              <a:rPr lang="en-US" sz="1250" dirty="0">
                <a:solidFill>
                  <a:srgbClr val="E7E3D3"/>
                </a:solidFill>
                <a:latin typeface="Titillium Web Light" pitchFamily="34" charset="0"/>
                <a:ea typeface="Titillium Web Light" pitchFamily="34" charset="-122"/>
                <a:cs typeface="Titillium Web Light" pitchFamily="34" charset="-120"/>
              </a:rPr>
              <a:t>Asfalto bagnato, riflessi, ombrelli, vetri appannati.</a:t>
            </a:r>
            <a:endParaRPr lang="en-US" sz="1250" dirty="0"/>
          </a:p>
        </p:txBody>
      </p:sp>
      <p:sp>
        <p:nvSpPr>
          <p:cNvPr id="8" name="Text 5"/>
          <p:cNvSpPr txBox="1"/>
          <p:nvPr/>
        </p:nvSpPr>
        <p:spPr>
          <a:xfrm>
            <a:off x="8275320" y="2148840"/>
            <a:ext cx="3108960" cy="365760"/>
          </a:xfrm>
          <a:prstGeom prst="rect">
            <a:avLst/>
          </a:prstGeom>
          <a:noFill/>
          <a:ln/>
        </p:spPr>
        <p:txBody>
          <a:bodyPr wrap="square" lIns="0" tIns="0" rIns="0" bIns="0" rtlCol="0" anchor="t"/>
          <a:lstStyle/>
          <a:p>
            <a:pPr indent="0" marL="0">
              <a:buNone/>
            </a:pPr>
            <a:r>
              <a:rPr lang="en-US" sz="1700" b="1" dirty="0">
                <a:solidFill>
                  <a:srgbClr val="E7E3D3"/>
                </a:solidFill>
                <a:latin typeface="Titillium Web" pitchFamily="34" charset="0"/>
                <a:ea typeface="Titillium Web" pitchFamily="34" charset="-122"/>
                <a:cs typeface="Titillium Web" pitchFamily="34" charset="-120"/>
              </a:rPr>
              <a:t>Nebbia</a:t>
            </a:r>
            <a:endParaRPr lang="en-US" sz="1700" dirty="0"/>
          </a:p>
        </p:txBody>
      </p:sp>
      <p:sp>
        <p:nvSpPr>
          <p:cNvPr id="9" name="Text 6"/>
          <p:cNvSpPr txBox="1"/>
          <p:nvPr/>
        </p:nvSpPr>
        <p:spPr>
          <a:xfrm>
            <a:off x="8275320" y="2532888"/>
            <a:ext cx="3017520" cy="640080"/>
          </a:xfrm>
          <a:prstGeom prst="rect">
            <a:avLst/>
          </a:prstGeom>
          <a:noFill/>
          <a:ln/>
        </p:spPr>
        <p:txBody>
          <a:bodyPr wrap="square" lIns="0" tIns="0" rIns="0" bIns="0" rtlCol="0" anchor="t"/>
          <a:lstStyle/>
          <a:p>
            <a:pPr indent="0" marL="0">
              <a:buNone/>
            </a:pPr>
            <a:r>
              <a:rPr lang="en-US" sz="1250" dirty="0">
                <a:solidFill>
                  <a:srgbClr val="E7E3D3"/>
                </a:solidFill>
                <a:latin typeface="Titillium Web Light" pitchFamily="34" charset="0"/>
                <a:ea typeface="Titillium Web Light" pitchFamily="34" charset="-122"/>
                <a:cs typeface="Titillium Web Light" pitchFamily="34" charset="-120"/>
              </a:rPr>
              <a:t>Mattine velate, profondità che si perde, figure che emergono.</a:t>
            </a:r>
            <a:endParaRPr lang="en-US" sz="1250" dirty="0"/>
          </a:p>
        </p:txBody>
      </p:sp>
      <p:sp>
        <p:nvSpPr>
          <p:cNvPr id="10" name="Text 7"/>
          <p:cNvSpPr txBox="1"/>
          <p:nvPr/>
        </p:nvSpPr>
        <p:spPr>
          <a:xfrm>
            <a:off x="4892040" y="3246120"/>
            <a:ext cx="3108960" cy="365760"/>
          </a:xfrm>
          <a:prstGeom prst="rect">
            <a:avLst/>
          </a:prstGeom>
          <a:noFill/>
          <a:ln/>
        </p:spPr>
        <p:txBody>
          <a:bodyPr wrap="square" lIns="0" tIns="0" rIns="0" bIns="0" rtlCol="0" anchor="t"/>
          <a:lstStyle/>
          <a:p>
            <a:pPr indent="0" marL="0">
              <a:buNone/>
            </a:pPr>
            <a:r>
              <a:rPr lang="en-US" sz="1700" b="1" dirty="0">
                <a:solidFill>
                  <a:srgbClr val="E7E3D3"/>
                </a:solidFill>
                <a:latin typeface="Titillium Web" pitchFamily="34" charset="0"/>
                <a:ea typeface="Titillium Web" pitchFamily="34" charset="-122"/>
                <a:cs typeface="Titillium Web" pitchFamily="34" charset="-120"/>
              </a:rPr>
              <a:t>Foglie secche</a:t>
            </a:r>
            <a:endParaRPr lang="en-US" sz="1700" dirty="0"/>
          </a:p>
        </p:txBody>
      </p:sp>
      <p:sp>
        <p:nvSpPr>
          <p:cNvPr id="11" name="Text 8"/>
          <p:cNvSpPr txBox="1"/>
          <p:nvPr/>
        </p:nvSpPr>
        <p:spPr>
          <a:xfrm>
            <a:off x="4892040" y="3630168"/>
            <a:ext cx="3017520" cy="640080"/>
          </a:xfrm>
          <a:prstGeom prst="rect">
            <a:avLst/>
          </a:prstGeom>
          <a:noFill/>
          <a:ln/>
        </p:spPr>
        <p:txBody>
          <a:bodyPr wrap="square" lIns="0" tIns="0" rIns="0" bIns="0" rtlCol="0" anchor="t"/>
          <a:lstStyle/>
          <a:p>
            <a:pPr indent="0" marL="0">
              <a:buNone/>
            </a:pPr>
            <a:r>
              <a:rPr lang="en-US" sz="1250" dirty="0">
                <a:solidFill>
                  <a:srgbClr val="E7E3D3"/>
                </a:solidFill>
                <a:latin typeface="Titillium Web Light" pitchFamily="34" charset="0"/>
                <a:ea typeface="Titillium Web Light" pitchFamily="34" charset="-122"/>
                <a:cs typeface="Titillium Web Light" pitchFamily="34" charset="-120"/>
              </a:rPr>
              <a:t>Viali spogli, foglie a terra nei giardini e sui marciapiedi.</a:t>
            </a:r>
            <a:endParaRPr lang="en-US" sz="1250" dirty="0"/>
          </a:p>
        </p:txBody>
      </p:sp>
      <p:sp>
        <p:nvSpPr>
          <p:cNvPr id="12" name="Text 9"/>
          <p:cNvSpPr txBox="1"/>
          <p:nvPr/>
        </p:nvSpPr>
        <p:spPr>
          <a:xfrm>
            <a:off x="8275320" y="3246120"/>
            <a:ext cx="3108960" cy="365760"/>
          </a:xfrm>
          <a:prstGeom prst="rect">
            <a:avLst/>
          </a:prstGeom>
          <a:noFill/>
          <a:ln/>
        </p:spPr>
        <p:txBody>
          <a:bodyPr wrap="square" lIns="0" tIns="0" rIns="0" bIns="0" rtlCol="0" anchor="t"/>
          <a:lstStyle/>
          <a:p>
            <a:pPr indent="0" marL="0">
              <a:buNone/>
            </a:pPr>
            <a:r>
              <a:rPr lang="en-US" sz="1700" b="1" dirty="0">
                <a:solidFill>
                  <a:srgbClr val="E7E3D3"/>
                </a:solidFill>
                <a:latin typeface="Titillium Web" pitchFamily="34" charset="0"/>
                <a:ea typeface="Titillium Web" pitchFamily="34" charset="-122"/>
                <a:cs typeface="Titillium Web" pitchFamily="34" charset="-120"/>
              </a:rPr>
              <a:t>Pietra</a:t>
            </a:r>
            <a:endParaRPr lang="en-US" sz="1700" dirty="0"/>
          </a:p>
        </p:txBody>
      </p:sp>
      <p:sp>
        <p:nvSpPr>
          <p:cNvPr id="13" name="Text 10"/>
          <p:cNvSpPr txBox="1"/>
          <p:nvPr/>
        </p:nvSpPr>
        <p:spPr>
          <a:xfrm>
            <a:off x="8275320" y="3630168"/>
            <a:ext cx="3017520" cy="640080"/>
          </a:xfrm>
          <a:prstGeom prst="rect">
            <a:avLst/>
          </a:prstGeom>
          <a:noFill/>
          <a:ln/>
        </p:spPr>
        <p:txBody>
          <a:bodyPr wrap="square" lIns="0" tIns="0" rIns="0" bIns="0" rtlCol="0" anchor="t"/>
          <a:lstStyle/>
          <a:p>
            <a:pPr indent="0" marL="0">
              <a:buNone/>
            </a:pPr>
            <a:r>
              <a:rPr lang="en-US" sz="1250" dirty="0">
                <a:solidFill>
                  <a:srgbClr val="E7E3D3"/>
                </a:solidFill>
                <a:latin typeface="Titillium Web Light" pitchFamily="34" charset="0"/>
                <a:ea typeface="Titillium Web Light" pitchFamily="34" charset="-122"/>
                <a:cs typeface="Titillium Web Light" pitchFamily="34" charset="-120"/>
              </a:rPr>
              <a:t>Facciate haussmanniane, portici, pavé, ferro battuto.</a:t>
            </a:r>
            <a:endParaRPr lang="en-US" sz="1250" dirty="0"/>
          </a:p>
        </p:txBody>
      </p:sp>
      <p:sp>
        <p:nvSpPr>
          <p:cNvPr id="14" name="Text 11"/>
          <p:cNvSpPr txBox="1"/>
          <p:nvPr/>
        </p:nvSpPr>
        <p:spPr>
          <a:xfrm>
            <a:off x="4892040" y="4526280"/>
            <a:ext cx="2743200" cy="274320"/>
          </a:xfrm>
          <a:prstGeom prst="rect">
            <a:avLst/>
          </a:prstGeom>
          <a:noFill/>
          <a:ln/>
        </p:spPr>
        <p:txBody>
          <a:bodyPr wrap="square" lIns="0" tIns="0" rIns="0" bIns="0" rtlCol="0" anchor="t"/>
          <a:lstStyle/>
          <a:p>
            <a:pPr indent="0" marL="0">
              <a:buNone/>
            </a:pPr>
            <a:r>
              <a:rPr lang="en-US" sz="1300" b="1" dirty="0">
                <a:solidFill>
                  <a:srgbClr val="E0A08E"/>
                </a:solidFill>
                <a:latin typeface="Titillium Web" pitchFamily="34" charset="0"/>
                <a:ea typeface="Titillium Web" pitchFamily="34" charset="-122"/>
                <a:cs typeface="Titillium Web" pitchFamily="34" charset="-120"/>
              </a:rPr>
              <a:t>Palette</a:t>
            </a:r>
            <a:endParaRPr lang="en-US" sz="1300" dirty="0"/>
          </a:p>
        </p:txBody>
      </p:sp>
      <p:sp>
        <p:nvSpPr>
          <p:cNvPr id="15" name="Shape 12"/>
          <p:cNvSpPr/>
          <p:nvPr/>
        </p:nvSpPr>
        <p:spPr>
          <a:xfrm>
            <a:off x="4892040" y="4892040"/>
            <a:ext cx="1188720" cy="822960"/>
          </a:xfrm>
          <a:prstGeom prst="rect">
            <a:avLst/>
          </a:prstGeom>
          <a:solidFill>
            <a:srgbClr val="2B2D30"/>
          </a:solidFill>
          <a:ln w="9525">
            <a:solidFill>
              <a:srgbClr val="3A3C30"/>
            </a:solidFill>
            <a:prstDash val="solid"/>
          </a:ln>
        </p:spPr>
      </p:sp>
      <p:sp>
        <p:nvSpPr>
          <p:cNvPr id="16" name="Text 13"/>
          <p:cNvSpPr txBox="1"/>
          <p:nvPr/>
        </p:nvSpPr>
        <p:spPr>
          <a:xfrm>
            <a:off x="4892040" y="5806440"/>
            <a:ext cx="1280160" cy="320040"/>
          </a:xfrm>
          <a:prstGeom prst="rect">
            <a:avLst/>
          </a:prstGeom>
          <a:noFill/>
          <a:ln/>
        </p:spPr>
        <p:txBody>
          <a:bodyPr wrap="square" lIns="0" tIns="0" rIns="0" bIns="0" rtlCol="0" anchor="t"/>
          <a:lstStyle/>
          <a:p>
            <a:pPr indent="0" marL="0">
              <a:buNone/>
            </a:pPr>
            <a:r>
              <a:rPr lang="en-US" sz="1000" dirty="0">
                <a:solidFill>
                  <a:srgbClr val="E7E3D3"/>
                </a:solidFill>
                <a:latin typeface="Titillium Web Light" pitchFamily="34" charset="0"/>
                <a:ea typeface="Titillium Web Light" pitchFamily="34" charset="-122"/>
                <a:cs typeface="Titillium Web Light" pitchFamily="34" charset="-120"/>
              </a:rPr>
              <a:t>Antracite</a:t>
            </a:r>
            <a:endParaRPr lang="en-US" sz="1000" dirty="0"/>
          </a:p>
        </p:txBody>
      </p:sp>
      <p:sp>
        <p:nvSpPr>
          <p:cNvPr id="17" name="Shape 14"/>
          <p:cNvSpPr/>
          <p:nvPr/>
        </p:nvSpPr>
        <p:spPr>
          <a:xfrm>
            <a:off x="6217920" y="4892040"/>
            <a:ext cx="1188720" cy="822960"/>
          </a:xfrm>
          <a:prstGeom prst="rect">
            <a:avLst/>
          </a:prstGeom>
          <a:solidFill>
            <a:srgbClr val="5E6266"/>
          </a:solidFill>
          <a:ln w="9525">
            <a:solidFill>
              <a:srgbClr val="3A3C30"/>
            </a:solidFill>
            <a:prstDash val="solid"/>
          </a:ln>
        </p:spPr>
      </p:sp>
      <p:sp>
        <p:nvSpPr>
          <p:cNvPr id="18" name="Text 15"/>
          <p:cNvSpPr txBox="1"/>
          <p:nvPr/>
        </p:nvSpPr>
        <p:spPr>
          <a:xfrm>
            <a:off x="6217920" y="5806440"/>
            <a:ext cx="1280160" cy="320040"/>
          </a:xfrm>
          <a:prstGeom prst="rect">
            <a:avLst/>
          </a:prstGeom>
          <a:noFill/>
          <a:ln/>
        </p:spPr>
        <p:txBody>
          <a:bodyPr wrap="square" lIns="0" tIns="0" rIns="0" bIns="0" rtlCol="0" anchor="t"/>
          <a:lstStyle/>
          <a:p>
            <a:pPr indent="0" marL="0">
              <a:buNone/>
            </a:pPr>
            <a:r>
              <a:rPr lang="en-US" sz="1000" dirty="0">
                <a:solidFill>
                  <a:srgbClr val="E7E3D3"/>
                </a:solidFill>
                <a:latin typeface="Titillium Web Light" pitchFamily="34" charset="0"/>
                <a:ea typeface="Titillium Web Light" pitchFamily="34" charset="-122"/>
                <a:cs typeface="Titillium Web Light" pitchFamily="34" charset="-120"/>
              </a:rPr>
              <a:t>Ardesia</a:t>
            </a:r>
            <a:endParaRPr lang="en-US" sz="1000" dirty="0"/>
          </a:p>
        </p:txBody>
      </p:sp>
      <p:sp>
        <p:nvSpPr>
          <p:cNvPr id="19" name="Shape 16"/>
          <p:cNvSpPr/>
          <p:nvPr/>
        </p:nvSpPr>
        <p:spPr>
          <a:xfrm>
            <a:off x="7543800" y="4892040"/>
            <a:ext cx="1188720" cy="822960"/>
          </a:xfrm>
          <a:prstGeom prst="rect">
            <a:avLst/>
          </a:prstGeom>
          <a:solidFill>
            <a:srgbClr val="8E9092"/>
          </a:solidFill>
          <a:ln w="9525">
            <a:solidFill>
              <a:srgbClr val="3A3C30"/>
            </a:solidFill>
            <a:prstDash val="solid"/>
          </a:ln>
        </p:spPr>
      </p:sp>
      <p:sp>
        <p:nvSpPr>
          <p:cNvPr id="20" name="Text 17"/>
          <p:cNvSpPr txBox="1"/>
          <p:nvPr/>
        </p:nvSpPr>
        <p:spPr>
          <a:xfrm>
            <a:off x="7543800" y="5806440"/>
            <a:ext cx="1280160" cy="320040"/>
          </a:xfrm>
          <a:prstGeom prst="rect">
            <a:avLst/>
          </a:prstGeom>
          <a:noFill/>
          <a:ln/>
        </p:spPr>
        <p:txBody>
          <a:bodyPr wrap="square" lIns="0" tIns="0" rIns="0" bIns="0" rtlCol="0" anchor="t"/>
          <a:lstStyle/>
          <a:p>
            <a:pPr indent="0" marL="0">
              <a:buNone/>
            </a:pPr>
            <a:r>
              <a:rPr lang="en-US" sz="1000" dirty="0">
                <a:solidFill>
                  <a:srgbClr val="E7E3D3"/>
                </a:solidFill>
                <a:latin typeface="Titillium Web Light" pitchFamily="34" charset="0"/>
                <a:ea typeface="Titillium Web Light" pitchFamily="34" charset="-122"/>
                <a:cs typeface="Titillium Web Light" pitchFamily="34" charset="-120"/>
              </a:rPr>
              <a:t>Pietra bagnata</a:t>
            </a:r>
            <a:endParaRPr lang="en-US" sz="1000" dirty="0"/>
          </a:p>
        </p:txBody>
      </p:sp>
      <p:sp>
        <p:nvSpPr>
          <p:cNvPr id="21" name="Shape 18"/>
          <p:cNvSpPr/>
          <p:nvPr/>
        </p:nvSpPr>
        <p:spPr>
          <a:xfrm>
            <a:off x="8869680" y="4892040"/>
            <a:ext cx="1188720" cy="822960"/>
          </a:xfrm>
          <a:prstGeom prst="rect">
            <a:avLst/>
          </a:prstGeom>
          <a:solidFill>
            <a:srgbClr val="C9CACB"/>
          </a:solidFill>
          <a:ln w="9525">
            <a:solidFill>
              <a:srgbClr val="3A3C30"/>
            </a:solidFill>
            <a:prstDash val="solid"/>
          </a:ln>
        </p:spPr>
      </p:sp>
      <p:sp>
        <p:nvSpPr>
          <p:cNvPr id="22" name="Text 19"/>
          <p:cNvSpPr txBox="1"/>
          <p:nvPr/>
        </p:nvSpPr>
        <p:spPr>
          <a:xfrm>
            <a:off x="8869680" y="5806440"/>
            <a:ext cx="1280160" cy="320040"/>
          </a:xfrm>
          <a:prstGeom prst="rect">
            <a:avLst/>
          </a:prstGeom>
          <a:noFill/>
          <a:ln/>
        </p:spPr>
        <p:txBody>
          <a:bodyPr wrap="square" lIns="0" tIns="0" rIns="0" bIns="0" rtlCol="0" anchor="t"/>
          <a:lstStyle/>
          <a:p>
            <a:pPr indent="0" marL="0">
              <a:buNone/>
            </a:pPr>
            <a:r>
              <a:rPr lang="en-US" sz="1000" dirty="0">
                <a:solidFill>
                  <a:srgbClr val="E7E3D3"/>
                </a:solidFill>
                <a:latin typeface="Titillium Web Light" pitchFamily="34" charset="0"/>
                <a:ea typeface="Titillium Web Light" pitchFamily="34" charset="-122"/>
                <a:cs typeface="Titillium Web Light" pitchFamily="34" charset="-120"/>
              </a:rPr>
              <a:t>Nebbia</a:t>
            </a:r>
            <a:endParaRPr lang="en-US" sz="1000" dirty="0"/>
          </a:p>
        </p:txBody>
      </p:sp>
      <p:sp>
        <p:nvSpPr>
          <p:cNvPr id="23" name="Shape 20"/>
          <p:cNvSpPr/>
          <p:nvPr/>
        </p:nvSpPr>
        <p:spPr>
          <a:xfrm>
            <a:off x="10195560" y="4892040"/>
            <a:ext cx="1188720" cy="822960"/>
          </a:xfrm>
          <a:prstGeom prst="rect">
            <a:avLst/>
          </a:prstGeom>
          <a:solidFill>
            <a:srgbClr val="A8875A"/>
          </a:solidFill>
          <a:ln w="9525">
            <a:solidFill>
              <a:srgbClr val="3A3C30"/>
            </a:solidFill>
            <a:prstDash val="solid"/>
          </a:ln>
        </p:spPr>
      </p:sp>
      <p:sp>
        <p:nvSpPr>
          <p:cNvPr id="24" name="Text 21"/>
          <p:cNvSpPr txBox="1"/>
          <p:nvPr/>
        </p:nvSpPr>
        <p:spPr>
          <a:xfrm>
            <a:off x="10195560" y="5806440"/>
            <a:ext cx="1280160" cy="320040"/>
          </a:xfrm>
          <a:prstGeom prst="rect">
            <a:avLst/>
          </a:prstGeom>
          <a:noFill/>
          <a:ln/>
        </p:spPr>
        <p:txBody>
          <a:bodyPr wrap="square" lIns="0" tIns="0" rIns="0" bIns="0" rtlCol="0" anchor="t"/>
          <a:lstStyle/>
          <a:p>
            <a:pPr indent="0" marL="0">
              <a:buNone/>
            </a:pPr>
            <a:r>
              <a:rPr lang="en-US" sz="1000" dirty="0">
                <a:solidFill>
                  <a:srgbClr val="E7E3D3"/>
                </a:solidFill>
                <a:latin typeface="Titillium Web Light" pitchFamily="34" charset="0"/>
                <a:ea typeface="Titillium Web Light" pitchFamily="34" charset="-122"/>
                <a:cs typeface="Titillium Web Light" pitchFamily="34" charset="-120"/>
              </a:rPr>
              <a:t>Cammello · accento</a:t>
            </a:r>
            <a:endParaRPr lang="en-US" sz="1000" dirty="0"/>
          </a:p>
        </p:txBody>
      </p:sp>
      <p:pic>
        <p:nvPicPr>
          <p:cNvPr id="26" name="Image 1" descr="img/badge_white.png">    </p:cNvPr>
          <p:cNvPicPr>
            <a:picLocks noChangeAspect="1"/>
          </p:cNvPicPr>
          <p:nvPr/>
        </p:nvPicPr>
        <p:blipFill>
          <a:blip r:embed="rId2"/>
          <a:stretch>
            <a:fillRect/>
          </a:stretch>
        </p:blipFill>
        <p:spPr>
          <a:xfrm>
            <a:off x="11533327" y="6199632"/>
            <a:ext cx="274320" cy="274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7E3D3"/>
        </a:solidFill>
      </p:bgPr>
    </p:bg>
    <p:spTree>
      <p:nvGrpSpPr>
        <p:cNvPr id="1" name=""/>
        <p:cNvGrpSpPr/>
        <p:nvPr/>
      </p:nvGrpSpPr>
      <p:grpSpPr>
        <a:xfrm>
          <a:off x="0" y="0"/>
          <a:ext cx="0" cy="0"/>
          <a:chOff x="0" y="0"/>
          <a:chExt cx="0" cy="0"/>
        </a:xfrm>
      </p:grpSpPr>
      <p:pic>
        <p:nvPicPr>
          <p:cNvPr id="2" name="Image 0" descr="img/column.jpg">    </p:cNvPr>
          <p:cNvPicPr>
            <a:picLocks noChangeAspect="1"/>
          </p:cNvPicPr>
          <p:nvPr/>
        </p:nvPicPr>
        <p:blipFill>
          <a:blip r:embed="rId1"/>
          <a:srcRect l="5119" r="9506" t="0" b="0"/>
          <a:stretch/>
        </p:blipFill>
        <p:spPr>
          <a:xfrm>
            <a:off x="7863840" y="0"/>
            <a:ext cx="4327855" cy="6858000"/>
          </a:xfrm>
          <a:prstGeom prst="rect">
            <a:avLst/>
          </a:prstGeom>
        </p:spPr>
      </p:pic>
      <p:sp>
        <p:nvSpPr>
          <p:cNvPr id="3" name="Text 0"/>
          <p:cNvSpPr txBox="1"/>
          <p:nvPr/>
        </p:nvSpPr>
        <p:spPr>
          <a:xfrm>
            <a:off x="685800" y="566928"/>
            <a:ext cx="676656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3. Fotografia</a:t>
            </a:r>
            <a:endParaRPr lang="en-US" sz="1300" dirty="0"/>
          </a:p>
        </p:txBody>
      </p:sp>
      <p:sp>
        <p:nvSpPr>
          <p:cNvPr id="4" name="Text 1"/>
          <p:cNvSpPr txBox="1"/>
          <p:nvPr/>
        </p:nvSpPr>
        <p:spPr>
          <a:xfrm>
            <a:off x="685800" y="822960"/>
            <a:ext cx="676656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Il linguaggio visivo</a:t>
            </a:r>
            <a:endParaRPr lang="en-US" sz="1300" dirty="0"/>
          </a:p>
        </p:txBody>
      </p:sp>
      <p:sp>
        <p:nvSpPr>
          <p:cNvPr id="5" name="Text 2"/>
          <p:cNvSpPr txBox="1"/>
          <p:nvPr/>
        </p:nvSpPr>
        <p:spPr>
          <a:xfrm>
            <a:off x="685800" y="1234440"/>
            <a:ext cx="6766560" cy="73152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Mai in posa</a:t>
            </a:r>
            <a:endParaRPr lang="en-US" sz="3200" dirty="0"/>
          </a:p>
        </p:txBody>
      </p:sp>
      <p:sp>
        <p:nvSpPr>
          <p:cNvPr id="6" name="Text 3"/>
          <p:cNvSpPr txBox="1"/>
          <p:nvPr/>
        </p:nvSpPr>
        <p:spPr>
          <a:xfrm>
            <a:off x="685800" y="2011680"/>
            <a:ext cx="45720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1.</a:t>
            </a:r>
            <a:endParaRPr lang="en-US" sz="1400" dirty="0"/>
          </a:p>
        </p:txBody>
      </p:sp>
      <p:sp>
        <p:nvSpPr>
          <p:cNvPr id="7" name="Text 4"/>
          <p:cNvSpPr txBox="1"/>
          <p:nvPr/>
        </p:nvSpPr>
        <p:spPr>
          <a:xfrm>
            <a:off x="1097280" y="2011680"/>
            <a:ext cx="640080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Il gesto prima della posa</a:t>
            </a:r>
            <a:endParaRPr lang="en-US" sz="1400" dirty="0"/>
          </a:p>
        </p:txBody>
      </p:sp>
      <p:sp>
        <p:nvSpPr>
          <p:cNvPr id="8" name="Text 5"/>
          <p:cNvSpPr txBox="1"/>
          <p:nvPr/>
        </p:nvSpPr>
        <p:spPr>
          <a:xfrm>
            <a:off x="1097280" y="2313432"/>
            <a:ext cx="6400800" cy="36576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Diamo alla modella una destinazione e un’azione. Lo scatto arriva a metà del gesto.</a:t>
            </a:r>
            <a:endParaRPr lang="en-US" sz="1250" dirty="0"/>
          </a:p>
        </p:txBody>
      </p:sp>
      <p:sp>
        <p:nvSpPr>
          <p:cNvPr id="9" name="Text 6"/>
          <p:cNvSpPr txBox="1"/>
          <p:nvPr/>
        </p:nvSpPr>
        <p:spPr>
          <a:xfrm>
            <a:off x="685800" y="2743200"/>
            <a:ext cx="45720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2.</a:t>
            </a:r>
            <a:endParaRPr lang="en-US" sz="1400" dirty="0"/>
          </a:p>
        </p:txBody>
      </p:sp>
      <p:sp>
        <p:nvSpPr>
          <p:cNvPr id="10" name="Text 7"/>
          <p:cNvSpPr txBox="1"/>
          <p:nvPr/>
        </p:nvSpPr>
        <p:spPr>
          <a:xfrm>
            <a:off x="1097280" y="2743200"/>
            <a:ext cx="640080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Lo sguardo di un passante</a:t>
            </a:r>
            <a:endParaRPr lang="en-US" sz="1400" dirty="0"/>
          </a:p>
        </p:txBody>
      </p:sp>
      <p:sp>
        <p:nvSpPr>
          <p:cNvPr id="11" name="Text 8"/>
          <p:cNvSpPr txBox="1"/>
          <p:nvPr/>
        </p:nvSpPr>
        <p:spPr>
          <a:xfrm>
            <a:off x="1097280" y="3044952"/>
            <a:ext cx="6400800" cy="36576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Teleobiettivo dal marciapiede opposto, attraverso vetrine, tra la gente.</a:t>
            </a:r>
            <a:endParaRPr lang="en-US" sz="1250" dirty="0"/>
          </a:p>
        </p:txBody>
      </p:sp>
      <p:sp>
        <p:nvSpPr>
          <p:cNvPr id="12" name="Text 9"/>
          <p:cNvSpPr txBox="1"/>
          <p:nvPr/>
        </p:nvSpPr>
        <p:spPr>
          <a:xfrm>
            <a:off x="685800" y="3474720"/>
            <a:ext cx="45720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3.</a:t>
            </a:r>
            <a:endParaRPr lang="en-US" sz="1400" dirty="0"/>
          </a:p>
        </p:txBody>
      </p:sp>
      <p:sp>
        <p:nvSpPr>
          <p:cNvPr id="13" name="Text 10"/>
          <p:cNvSpPr txBox="1"/>
          <p:nvPr/>
        </p:nvSpPr>
        <p:spPr>
          <a:xfrm>
            <a:off x="1097280" y="3474720"/>
            <a:ext cx="640080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Movimento visibile</a:t>
            </a:r>
            <a:endParaRPr lang="en-US" sz="1400" dirty="0"/>
          </a:p>
        </p:txBody>
      </p:sp>
      <p:sp>
        <p:nvSpPr>
          <p:cNvPr id="14" name="Text 11"/>
          <p:cNvSpPr txBox="1"/>
          <p:nvPr/>
        </p:nvSpPr>
        <p:spPr>
          <a:xfrm>
            <a:off x="1097280" y="3776472"/>
            <a:ext cx="6400800" cy="36576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Il cappotto che si apre, il passo lungo, un leggero mosso. Il cappello resta leggibile.</a:t>
            </a:r>
            <a:endParaRPr lang="en-US" sz="1250" dirty="0"/>
          </a:p>
        </p:txBody>
      </p:sp>
      <p:sp>
        <p:nvSpPr>
          <p:cNvPr id="15" name="Text 12"/>
          <p:cNvSpPr txBox="1"/>
          <p:nvPr/>
        </p:nvSpPr>
        <p:spPr>
          <a:xfrm>
            <a:off x="685800" y="4206240"/>
            <a:ext cx="45720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4.</a:t>
            </a:r>
            <a:endParaRPr lang="en-US" sz="1400" dirty="0"/>
          </a:p>
        </p:txBody>
      </p:sp>
      <p:sp>
        <p:nvSpPr>
          <p:cNvPr id="16" name="Text 13"/>
          <p:cNvSpPr txBox="1"/>
          <p:nvPr/>
        </p:nvSpPr>
        <p:spPr>
          <a:xfrm>
            <a:off x="1097280" y="4206240"/>
            <a:ext cx="640080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Solo luce vera</a:t>
            </a:r>
            <a:endParaRPr lang="en-US" sz="1400" dirty="0"/>
          </a:p>
        </p:txBody>
      </p:sp>
      <p:sp>
        <p:nvSpPr>
          <p:cNvPr id="17" name="Text 14"/>
          <p:cNvSpPr txBox="1"/>
          <p:nvPr/>
        </p:nvSpPr>
        <p:spPr>
          <a:xfrm>
            <a:off x="1097280" y="4507992"/>
            <a:ext cx="6400800" cy="36576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Luce diffusa del cielo coperto. Interni appena più caldi della strada.</a:t>
            </a:r>
            <a:endParaRPr lang="en-US" sz="1250" dirty="0"/>
          </a:p>
        </p:txBody>
      </p:sp>
      <p:sp>
        <p:nvSpPr>
          <p:cNvPr id="18" name="Text 15"/>
          <p:cNvSpPr txBox="1"/>
          <p:nvPr/>
        </p:nvSpPr>
        <p:spPr>
          <a:xfrm>
            <a:off x="685800" y="4937760"/>
            <a:ext cx="45720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5.</a:t>
            </a:r>
            <a:endParaRPr lang="en-US" sz="1400" dirty="0"/>
          </a:p>
        </p:txBody>
      </p:sp>
      <p:sp>
        <p:nvSpPr>
          <p:cNvPr id="19" name="Text 16"/>
          <p:cNvSpPr txBox="1"/>
          <p:nvPr/>
        </p:nvSpPr>
        <p:spPr>
          <a:xfrm>
            <a:off x="1097280" y="4937760"/>
            <a:ext cx="640080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Toni grigi, grana di pellicola</a:t>
            </a:r>
            <a:endParaRPr lang="en-US" sz="1400" dirty="0"/>
          </a:p>
        </p:txBody>
      </p:sp>
      <p:sp>
        <p:nvSpPr>
          <p:cNvPr id="20" name="Text 17"/>
          <p:cNvSpPr txBox="1"/>
          <p:nvPr/>
        </p:nvSpPr>
        <p:spPr>
          <a:xfrm>
            <a:off x="1097280" y="5239512"/>
            <a:ext cx="6400800" cy="36576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Colore freddo e desaturato; una parte della serie in bianco e nero.</a:t>
            </a:r>
            <a:endParaRPr lang="en-US" sz="1250" dirty="0"/>
          </a:p>
        </p:txBody>
      </p:sp>
      <p:sp>
        <p:nvSpPr>
          <p:cNvPr id="21" name="Text 18"/>
          <p:cNvSpPr txBox="1"/>
          <p:nvPr/>
        </p:nvSpPr>
        <p:spPr>
          <a:xfrm>
            <a:off x="685800" y="5669280"/>
            <a:ext cx="457200" cy="320040"/>
          </a:xfrm>
          <a:prstGeom prst="rect">
            <a:avLst/>
          </a:prstGeom>
          <a:noFill/>
          <a:ln/>
        </p:spPr>
        <p:txBody>
          <a:bodyPr wrap="square" lIns="0" tIns="0" rIns="0" bIns="0" rtlCol="0" anchor="t"/>
          <a:lstStyle/>
          <a:p>
            <a:pPr indent="0" marL="0">
              <a:buNone/>
            </a:pPr>
            <a:r>
              <a:rPr lang="en-US" sz="1400" b="1" dirty="0">
                <a:solidFill>
                  <a:srgbClr val="C75033"/>
                </a:solidFill>
                <a:latin typeface="Titillium Web" pitchFamily="34" charset="0"/>
                <a:ea typeface="Titillium Web" pitchFamily="34" charset="-122"/>
                <a:cs typeface="Titillium Web" pitchFamily="34" charset="-120"/>
              </a:rPr>
              <a:t>6.</a:t>
            </a:r>
            <a:endParaRPr lang="en-US" sz="1400" dirty="0"/>
          </a:p>
        </p:txBody>
      </p:sp>
      <p:sp>
        <p:nvSpPr>
          <p:cNvPr id="22" name="Text 19"/>
          <p:cNvSpPr txBox="1"/>
          <p:nvPr/>
        </p:nvSpPr>
        <p:spPr>
          <a:xfrm>
            <a:off x="1097280" y="5669280"/>
            <a:ext cx="640080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Niente primi piani al volto</a:t>
            </a:r>
            <a:endParaRPr lang="en-US" sz="1400" dirty="0"/>
          </a:p>
        </p:txBody>
      </p:sp>
      <p:sp>
        <p:nvSpPr>
          <p:cNvPr id="23" name="Text 20"/>
          <p:cNvSpPr txBox="1"/>
          <p:nvPr/>
        </p:nvSpPr>
        <p:spPr>
          <a:xfrm>
            <a:off x="1097280" y="5971032"/>
            <a:ext cx="6400800" cy="36576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Lo spazio è per la figura intera. Da vicino riprendiamo solo il cappello.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7E3D3"/>
        </a:solidFill>
      </p:bgPr>
    </p:bg>
    <p:spTree>
      <p:nvGrpSpPr>
        <p:cNvPr id="1" name=""/>
        <p:cNvGrpSpPr/>
        <p:nvPr/>
      </p:nvGrpSpPr>
      <p:grpSpPr>
        <a:xfrm>
          <a:off x="0" y="0"/>
          <a:ext cx="0" cy="0"/>
          <a:chOff x="0" y="0"/>
          <a:chExt cx="0" cy="0"/>
        </a:xfrm>
      </p:grpSpPr>
      <p:pic>
        <p:nvPicPr>
          <p:cNvPr id="2" name="Image 0" descr="img/beret.jpg">    </p:cNvPr>
          <p:cNvPicPr>
            <a:picLocks noChangeAspect="1"/>
          </p:cNvPicPr>
          <p:nvPr/>
        </p:nvPicPr>
        <p:blipFill>
          <a:blip r:embed="rId1"/>
          <a:srcRect l="8222" r="8222" t="0" b="0"/>
          <a:stretch/>
        </p:blipFill>
        <p:spPr>
          <a:xfrm>
            <a:off x="0" y="0"/>
            <a:ext cx="4297680" cy="6858000"/>
          </a:xfrm>
          <a:prstGeom prst="rect">
            <a:avLst/>
          </a:prstGeom>
        </p:spPr>
      </p:pic>
      <p:sp>
        <p:nvSpPr>
          <p:cNvPr id="3" name="Text 0"/>
          <p:cNvSpPr txBox="1"/>
          <p:nvPr/>
        </p:nvSpPr>
        <p:spPr>
          <a:xfrm>
            <a:off x="4937760" y="566928"/>
            <a:ext cx="658368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4. Styling</a:t>
            </a:r>
            <a:endParaRPr lang="en-US" sz="1300" dirty="0"/>
          </a:p>
        </p:txBody>
      </p:sp>
      <p:sp>
        <p:nvSpPr>
          <p:cNvPr id="4" name="Text 1"/>
          <p:cNvSpPr txBox="1"/>
          <p:nvPr/>
        </p:nvSpPr>
        <p:spPr>
          <a:xfrm>
            <a:off x="4937760" y="822960"/>
            <a:ext cx="658368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Un’eleganza da città</a:t>
            </a:r>
            <a:endParaRPr lang="en-US" sz="1300" dirty="0"/>
          </a:p>
        </p:txBody>
      </p:sp>
      <p:sp>
        <p:nvSpPr>
          <p:cNvPr id="5" name="Text 2"/>
          <p:cNvSpPr txBox="1"/>
          <p:nvPr/>
        </p:nvSpPr>
        <p:spPr>
          <a:xfrm>
            <a:off x="4937760" y="1234440"/>
            <a:ext cx="6583680" cy="73152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Ricchezza silenziosa</a:t>
            </a:r>
            <a:endParaRPr lang="en-US" sz="3200" dirty="0"/>
          </a:p>
        </p:txBody>
      </p:sp>
      <p:sp>
        <p:nvSpPr>
          <p:cNvPr id="6" name="Text 3"/>
          <p:cNvSpPr txBox="1"/>
          <p:nvPr/>
        </p:nvSpPr>
        <p:spPr>
          <a:xfrm>
            <a:off x="4937760" y="2011680"/>
            <a:ext cx="6583680" cy="731520"/>
          </a:xfrm>
          <a:prstGeom prst="rect">
            <a:avLst/>
          </a:prstGeom>
          <a:noFill/>
          <a:ln/>
        </p:spPr>
        <p:txBody>
          <a:bodyPr wrap="square" lIns="0" tIns="0" rIns="0" bIns="0" rtlCol="0" anchor="t"/>
          <a:lstStyle/>
          <a:p>
            <a:pPr indent="0" marL="0">
              <a:buNone/>
            </a:pPr>
            <a:r>
              <a:rPr lang="en-US" sz="1500" dirty="0">
                <a:solidFill>
                  <a:srgbClr val="2B2C20"/>
                </a:solidFill>
                <a:latin typeface="Titillium Web Light" pitchFamily="34" charset="0"/>
                <a:ea typeface="Titillium Web Light" pitchFamily="34" charset="-122"/>
                <a:cs typeface="Titillium Web Light" pitchFamily="34" charset="-120"/>
              </a:rPr>
              <a:t>Prendiamo spunto dall’old money senza citarlo alla lettera. La ricchezza si legge nei materiali, nei tagli e nella misura, non nei loghi.</a:t>
            </a:r>
            <a:endParaRPr lang="en-US" sz="1500" dirty="0"/>
          </a:p>
        </p:txBody>
      </p:sp>
      <p:sp>
        <p:nvSpPr>
          <p:cNvPr id="7" name="Text 4"/>
          <p:cNvSpPr txBox="1"/>
          <p:nvPr/>
        </p:nvSpPr>
        <p:spPr>
          <a:xfrm>
            <a:off x="4937760" y="3017520"/>
            <a:ext cx="3108960" cy="365760"/>
          </a:xfrm>
          <a:prstGeom prst="rect">
            <a:avLst/>
          </a:prstGeom>
          <a:noFill/>
          <a:ln/>
        </p:spPr>
        <p:txBody>
          <a:bodyPr wrap="square" lIns="0" tIns="0" rIns="0" bIns="0" rtlCol="0" anchor="t"/>
          <a:lstStyle/>
          <a:p>
            <a:pPr indent="0" marL="0">
              <a:buNone/>
            </a:pPr>
            <a:r>
              <a:rPr lang="en-US" sz="1600" b="1" dirty="0">
                <a:solidFill>
                  <a:srgbClr val="C75033"/>
                </a:solidFill>
                <a:latin typeface="Titillium Web" pitchFamily="34" charset="0"/>
                <a:ea typeface="Titillium Web" pitchFamily="34" charset="-122"/>
                <a:cs typeface="Titillium Web" pitchFamily="34" charset="-120"/>
              </a:rPr>
              <a:t>Sì</a:t>
            </a:r>
            <a:endParaRPr lang="en-US" sz="1600" dirty="0"/>
          </a:p>
        </p:txBody>
      </p:sp>
      <p:sp>
        <p:nvSpPr>
          <p:cNvPr id="8" name="Text 5"/>
          <p:cNvSpPr txBox="1"/>
          <p:nvPr/>
        </p:nvSpPr>
        <p:spPr>
          <a:xfrm>
            <a:off x="4937760" y="3474720"/>
            <a:ext cx="3108960" cy="27432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Cappotti lunghi in lana e cashmere, spigato, doppiopetto</a:t>
            </a:r>
            <a:endParaRPr lang="en-US" sz="1300" dirty="0"/>
          </a:p>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Dolcevita, gonne midi, pantaloni ampi</a:t>
            </a:r>
            <a:endParaRPr lang="en-US" sz="1300" dirty="0"/>
          </a:p>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Guanti in pelle, collant velati, stivaletti a punta</a:t>
            </a:r>
            <a:endParaRPr lang="en-US" sz="1300" dirty="0"/>
          </a:p>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Borse strutturate portate a mano</a:t>
            </a:r>
            <a:endParaRPr lang="en-US" sz="1300" dirty="0"/>
          </a:p>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Gioielli dorati discreti, occhiali scuri</a:t>
            </a:r>
            <a:endParaRPr lang="en-US" sz="1300" dirty="0"/>
          </a:p>
        </p:txBody>
      </p:sp>
      <p:sp>
        <p:nvSpPr>
          <p:cNvPr id="9" name="Text 6"/>
          <p:cNvSpPr txBox="1"/>
          <p:nvPr/>
        </p:nvSpPr>
        <p:spPr>
          <a:xfrm>
            <a:off x="8412480" y="3017520"/>
            <a:ext cx="3108960" cy="365760"/>
          </a:xfrm>
          <a:prstGeom prst="rect">
            <a:avLst/>
          </a:prstGeom>
          <a:noFill/>
          <a:ln/>
        </p:spPr>
        <p:txBody>
          <a:bodyPr wrap="square" lIns="0" tIns="0" rIns="0" bIns="0" rtlCol="0" anchor="t"/>
          <a:lstStyle/>
          <a:p>
            <a:pPr indent="0" marL="0">
              <a:buNone/>
            </a:pPr>
            <a:r>
              <a:rPr lang="en-US" sz="1600" b="1" dirty="0">
                <a:solidFill>
                  <a:srgbClr val="8A8474"/>
                </a:solidFill>
                <a:latin typeface="Titillium Web" pitchFamily="34" charset="0"/>
                <a:ea typeface="Titillium Web" pitchFamily="34" charset="-122"/>
                <a:cs typeface="Titillium Web" pitchFamily="34" charset="-120"/>
              </a:rPr>
              <a:t>No</a:t>
            </a:r>
            <a:endParaRPr lang="en-US" sz="1600" dirty="0"/>
          </a:p>
        </p:txBody>
      </p:sp>
      <p:sp>
        <p:nvSpPr>
          <p:cNvPr id="10" name="Text 7"/>
          <p:cNvSpPr txBox="1"/>
          <p:nvPr/>
        </p:nvSpPr>
        <p:spPr>
          <a:xfrm>
            <a:off x="8412480" y="3474720"/>
            <a:ext cx="3108960" cy="27432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Loghi e monogrammi in vista</a:t>
            </a:r>
            <a:endParaRPr lang="en-US" sz="1300" dirty="0"/>
          </a:p>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Perle, tweed e foulard tutti insieme</a:t>
            </a:r>
            <a:endParaRPr lang="en-US" sz="1300" dirty="0"/>
          </a:p>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Look vintage o in costume</a:t>
            </a:r>
            <a:endParaRPr lang="en-US" sz="1300" dirty="0"/>
          </a:p>
          <a:p>
            <a:pPr marL="203200" indent="-203200">
              <a:spcAft>
                <a:spcPts val="600"/>
              </a:spcAft>
              <a:buSzPct val="100000"/>
              <a:buChar char="—"/>
            </a:pPr>
            <a:r>
              <a:rPr lang="en-US" sz="1300" dirty="0">
                <a:solidFill>
                  <a:srgbClr val="2B2C20"/>
                </a:solidFill>
                <a:latin typeface="Titillium Web Light" pitchFamily="34" charset="0"/>
                <a:ea typeface="Titillium Web Light" pitchFamily="34" charset="-122"/>
                <a:cs typeface="Titillium Web Light" pitchFamily="34" charset="-120"/>
              </a:rPr>
              <a:t>Colori accesi fuori dal cappello</a:t>
            </a:r>
            <a:endParaRPr lang="en-US" sz="1300" dirty="0"/>
          </a:p>
        </p:txBody>
      </p:sp>
      <p:pic>
        <p:nvPicPr>
          <p:cNvPr id="11" name="Image 1" descr="img/badge_white.png">    </p:cNvPr>
          <p:cNvPicPr>
            <a:picLocks noChangeAspect="1"/>
          </p:cNvPicPr>
          <p:nvPr/>
        </p:nvPicPr>
        <p:blipFill>
          <a:blip r:embed="rId2"/>
          <a:stretch>
            <a:fillRect/>
          </a:stretch>
        </p:blipFill>
        <p:spPr>
          <a:xfrm>
            <a:off x="11533327" y="6199632"/>
            <a:ext cx="274320" cy="274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B733E"/>
        </a:solidFill>
      </p:bgPr>
    </p:bg>
    <p:spTree>
      <p:nvGrpSpPr>
        <p:cNvPr id="1" name=""/>
        <p:cNvGrpSpPr/>
        <p:nvPr/>
      </p:nvGrpSpPr>
      <p:grpSpPr>
        <a:xfrm>
          <a:off x="0" y="0"/>
          <a:ext cx="0" cy="0"/>
          <a:chOff x="0" y="0"/>
          <a:chExt cx="0" cy="0"/>
        </a:xfrm>
      </p:grpSpPr>
      <p:sp>
        <p:nvSpPr>
          <p:cNvPr id="2" name="Text 0"/>
          <p:cNvSpPr txBox="1"/>
          <p:nvPr/>
        </p:nvSpPr>
        <p:spPr>
          <a:xfrm>
            <a:off x="685800" y="566928"/>
            <a:ext cx="5486400" cy="274320"/>
          </a:xfrm>
          <a:prstGeom prst="rect">
            <a:avLst/>
          </a:prstGeom>
          <a:noFill/>
          <a:ln/>
        </p:spPr>
        <p:txBody>
          <a:bodyPr wrap="square" lIns="0" tIns="0" rIns="0" bIns="0" rtlCol="0" anchor="t"/>
          <a:lstStyle/>
          <a:p>
            <a:pPr indent="0" marL="0">
              <a:buNone/>
            </a:pPr>
            <a:r>
              <a:rPr lang="en-US" sz="1300" b="1" dirty="0">
                <a:solidFill>
                  <a:srgbClr val="FFFFFF"/>
                </a:solidFill>
                <a:latin typeface="Titillium Web" pitchFamily="34" charset="0"/>
                <a:ea typeface="Titillium Web" pitchFamily="34" charset="-122"/>
                <a:cs typeface="Titillium Web" pitchFamily="34" charset="-120"/>
              </a:rPr>
              <a:t>5. Il cappello</a:t>
            </a:r>
            <a:endParaRPr lang="en-US" sz="1300" dirty="0"/>
          </a:p>
        </p:txBody>
      </p:sp>
      <p:sp>
        <p:nvSpPr>
          <p:cNvPr id="3" name="Text 1"/>
          <p:cNvSpPr txBox="1"/>
          <p:nvPr/>
        </p:nvSpPr>
        <p:spPr>
          <a:xfrm>
            <a:off x="685800" y="822960"/>
            <a:ext cx="5486400" cy="274320"/>
          </a:xfrm>
          <a:prstGeom prst="rect">
            <a:avLst/>
          </a:prstGeom>
          <a:noFill/>
          <a:ln/>
        </p:spPr>
        <p:txBody>
          <a:bodyPr wrap="square" lIns="0" tIns="0" rIns="0" bIns="0" rtlCol="0" anchor="t"/>
          <a:lstStyle/>
          <a:p>
            <a:pPr indent="0" marL="0">
              <a:buNone/>
            </a:pPr>
            <a:r>
              <a:rPr lang="en-US" sz="1300" i="1" dirty="0">
                <a:solidFill>
                  <a:srgbClr val="FFFFFF"/>
                </a:solidFill>
                <a:latin typeface="Titillium Web" pitchFamily="34" charset="0"/>
                <a:ea typeface="Titillium Web" pitchFamily="34" charset="-122"/>
                <a:cs typeface="Titillium Web" pitchFamily="34" charset="-120"/>
              </a:rPr>
              <a:t>I prodotti</a:t>
            </a:r>
            <a:endParaRPr lang="en-US" sz="1300" dirty="0"/>
          </a:p>
        </p:txBody>
      </p:sp>
      <p:sp>
        <p:nvSpPr>
          <p:cNvPr id="4" name="Text 2"/>
          <p:cNvSpPr txBox="1"/>
          <p:nvPr/>
        </p:nvSpPr>
        <p:spPr>
          <a:xfrm>
            <a:off x="685800" y="1234440"/>
            <a:ext cx="5486400" cy="731520"/>
          </a:xfrm>
          <a:prstGeom prst="rect">
            <a:avLst/>
          </a:prstGeom>
          <a:noFill/>
          <a:ln/>
        </p:spPr>
        <p:txBody>
          <a:bodyPr wrap="square" lIns="0" tIns="0" rIns="0" bIns="0" rtlCol="0" anchor="t"/>
          <a:lstStyle/>
          <a:p>
            <a:pPr indent="0" marL="0">
              <a:lnSpc>
                <a:spcPct val="95000"/>
              </a:lnSpc>
              <a:buNone/>
            </a:pPr>
            <a:r>
              <a:rPr lang="en-US" sz="3200" b="1" dirty="0">
                <a:solidFill>
                  <a:srgbClr val="FFFFFF"/>
                </a:solidFill>
                <a:latin typeface="Titillium Web" pitchFamily="34" charset="0"/>
                <a:ea typeface="Titillium Web" pitchFamily="34" charset="-122"/>
                <a:cs typeface="Titillium Web" pitchFamily="34" charset="-120"/>
              </a:rPr>
              <a:t>Sempre protagonista</a:t>
            </a:r>
            <a:endParaRPr lang="en-US" sz="3200" dirty="0"/>
          </a:p>
        </p:txBody>
      </p:sp>
      <p:sp>
        <p:nvSpPr>
          <p:cNvPr id="5" name="Text 3"/>
          <p:cNvSpPr txBox="1"/>
          <p:nvPr/>
        </p:nvSpPr>
        <p:spPr>
          <a:xfrm>
            <a:off x="6583680" y="868680"/>
            <a:ext cx="4937760" cy="1371600"/>
          </a:xfrm>
          <a:prstGeom prst="rect">
            <a:avLst/>
          </a:prstGeom>
          <a:noFill/>
          <a:ln/>
        </p:spPr>
        <p:txBody>
          <a:bodyPr wrap="square" lIns="0" tIns="0" rIns="0" bIns="0" rtlCol="0" anchor="t"/>
          <a:lstStyle/>
          <a:p>
            <a:pPr indent="0" marL="0">
              <a:buNone/>
            </a:pPr>
            <a:r>
              <a:rPr lang="en-US" sz="1350" dirty="0">
                <a:solidFill>
                  <a:srgbClr val="FFFFFF"/>
                </a:solidFill>
                <a:latin typeface="Titillium Web Light" pitchFamily="34" charset="0"/>
                <a:ea typeface="Titillium Web Light" pitchFamily="34" charset="-122"/>
                <a:cs typeface="Titillium Web Light" pitchFamily="34" charset="-120"/>
              </a:rPr>
              <a:t>In ogni scena il cappello definisce la silhouette. Alterniamo la figura intera ai dettagli del cappello (feltro, nastro, tesa bagnata) per renderlo leggibile anche mentre lei cammina. Niente primi piani al volto. L’unico colore acceso concesso è il suo.</a:t>
            </a:r>
            <a:endParaRPr lang="en-US" sz="1350" dirty="0"/>
          </a:p>
        </p:txBody>
      </p:sp>
      <p:pic>
        <p:nvPicPr>
          <p:cNvPr id="6" name="Image 0" descr="img/prod0.jpg">    </p:cNvPr>
          <p:cNvPicPr>
            <a:picLocks noChangeAspect="1"/>
          </p:cNvPicPr>
          <p:nvPr/>
        </p:nvPicPr>
        <p:blipFill>
          <a:blip r:embed="rId1"/>
          <a:srcRect l="0" r="0" t="51" b="41"/>
          <a:stretch/>
        </p:blipFill>
        <p:spPr>
          <a:xfrm>
            <a:off x="685800" y="2606040"/>
            <a:ext cx="1984248" cy="2478024"/>
          </a:xfrm>
          <a:prstGeom prst="rect">
            <a:avLst/>
          </a:prstGeom>
        </p:spPr>
      </p:pic>
      <p:sp>
        <p:nvSpPr>
          <p:cNvPr id="7" name="Text 4"/>
          <p:cNvSpPr txBox="1"/>
          <p:nvPr/>
        </p:nvSpPr>
        <p:spPr>
          <a:xfrm>
            <a:off x="685800" y="5212080"/>
            <a:ext cx="1984248" cy="457200"/>
          </a:xfrm>
          <a:prstGeom prst="rect">
            <a:avLst/>
          </a:prstGeom>
          <a:noFill/>
          <a:ln/>
        </p:spPr>
        <p:txBody>
          <a:bodyPr wrap="square" lIns="0" tIns="0" rIns="0" bIns="0" rtlCol="0" anchor="t"/>
          <a:lstStyle/>
          <a:p>
            <a:pPr indent="0" marL="0">
              <a:buNone/>
            </a:pPr>
            <a:r>
              <a:rPr lang="en-US" sz="1200" dirty="0">
                <a:solidFill>
                  <a:srgbClr val="FFFFFF"/>
                </a:solidFill>
                <a:latin typeface="Titillium Web" pitchFamily="34" charset="0"/>
                <a:ea typeface="Titillium Web" pitchFamily="34" charset="-122"/>
                <a:cs typeface="Titillium Web" pitchFamily="34" charset="-120"/>
              </a:rPr>
              <a:t>Tamburello in feltro cammello</a:t>
            </a:r>
            <a:endParaRPr lang="en-US" sz="1200" dirty="0"/>
          </a:p>
        </p:txBody>
      </p:sp>
      <p:pic>
        <p:nvPicPr>
          <p:cNvPr id="8" name="Image 1" descr="img/prod1.jpg">    </p:cNvPr>
          <p:cNvPicPr>
            <a:picLocks noChangeAspect="1"/>
          </p:cNvPicPr>
          <p:nvPr/>
        </p:nvPicPr>
        <p:blipFill>
          <a:blip r:embed="rId2"/>
          <a:srcRect l="0" r="0" t="51" b="41"/>
          <a:stretch/>
        </p:blipFill>
        <p:spPr>
          <a:xfrm>
            <a:off x="2898648" y="2606040"/>
            <a:ext cx="1984248" cy="2478024"/>
          </a:xfrm>
          <a:prstGeom prst="rect">
            <a:avLst/>
          </a:prstGeom>
        </p:spPr>
      </p:pic>
      <p:sp>
        <p:nvSpPr>
          <p:cNvPr id="9" name="Text 5"/>
          <p:cNvSpPr txBox="1"/>
          <p:nvPr/>
        </p:nvSpPr>
        <p:spPr>
          <a:xfrm>
            <a:off x="2898648" y="5212080"/>
            <a:ext cx="1984248" cy="457200"/>
          </a:xfrm>
          <a:prstGeom prst="rect">
            <a:avLst/>
          </a:prstGeom>
          <a:noFill/>
          <a:ln/>
        </p:spPr>
        <p:txBody>
          <a:bodyPr wrap="square" lIns="0" tIns="0" rIns="0" bIns="0" rtlCol="0" anchor="t"/>
          <a:lstStyle/>
          <a:p>
            <a:pPr indent="0" marL="0">
              <a:buNone/>
            </a:pPr>
            <a:r>
              <a:rPr lang="en-US" sz="1200" dirty="0">
                <a:solidFill>
                  <a:srgbClr val="FFFFFF"/>
                </a:solidFill>
                <a:latin typeface="Titillium Web" pitchFamily="34" charset="0"/>
                <a:ea typeface="Titillium Web" pitchFamily="34" charset="-122"/>
                <a:cs typeface="Titillium Web" pitchFamily="34" charset="-120"/>
              </a:rPr>
              <a:t>Fedora in feltro maculato</a:t>
            </a:r>
            <a:endParaRPr lang="en-US" sz="1200" dirty="0"/>
          </a:p>
        </p:txBody>
      </p:sp>
      <p:pic>
        <p:nvPicPr>
          <p:cNvPr id="10" name="Image 2" descr="img/prod2.jpg">    </p:cNvPr>
          <p:cNvPicPr>
            <a:picLocks noChangeAspect="1"/>
          </p:cNvPicPr>
          <p:nvPr/>
        </p:nvPicPr>
        <p:blipFill>
          <a:blip r:embed="rId3"/>
          <a:srcRect l="0" r="0" t="51" b="41"/>
          <a:stretch/>
        </p:blipFill>
        <p:spPr>
          <a:xfrm>
            <a:off x="5111496" y="2606040"/>
            <a:ext cx="1984248" cy="2478024"/>
          </a:xfrm>
          <a:prstGeom prst="rect">
            <a:avLst/>
          </a:prstGeom>
        </p:spPr>
      </p:pic>
      <p:sp>
        <p:nvSpPr>
          <p:cNvPr id="11" name="Text 6"/>
          <p:cNvSpPr txBox="1"/>
          <p:nvPr/>
        </p:nvSpPr>
        <p:spPr>
          <a:xfrm>
            <a:off x="5111496" y="5212080"/>
            <a:ext cx="1984248" cy="457200"/>
          </a:xfrm>
          <a:prstGeom prst="rect">
            <a:avLst/>
          </a:prstGeom>
          <a:noFill/>
          <a:ln/>
        </p:spPr>
        <p:txBody>
          <a:bodyPr wrap="square" lIns="0" tIns="0" rIns="0" bIns="0" rtlCol="0" anchor="t"/>
          <a:lstStyle/>
          <a:p>
            <a:pPr indent="0" marL="0">
              <a:buNone/>
            </a:pPr>
            <a:r>
              <a:rPr lang="en-US" sz="1200" dirty="0">
                <a:solidFill>
                  <a:srgbClr val="FFFFFF"/>
                </a:solidFill>
                <a:latin typeface="Titillium Web" pitchFamily="34" charset="0"/>
                <a:ea typeface="Titillium Web" pitchFamily="34" charset="-122"/>
                <a:cs typeface="Titillium Web" pitchFamily="34" charset="-120"/>
              </a:rPr>
              <a:t>Cloche in feltro prugna</a:t>
            </a:r>
            <a:endParaRPr lang="en-US" sz="1200" dirty="0"/>
          </a:p>
        </p:txBody>
      </p:sp>
      <p:pic>
        <p:nvPicPr>
          <p:cNvPr id="12" name="Image 3" descr="img/prod3.jpg">    </p:cNvPr>
          <p:cNvPicPr>
            <a:picLocks noChangeAspect="1"/>
          </p:cNvPicPr>
          <p:nvPr/>
        </p:nvPicPr>
        <p:blipFill>
          <a:blip r:embed="rId4"/>
          <a:srcRect l="0" r="0" t="51" b="41"/>
          <a:stretch/>
        </p:blipFill>
        <p:spPr>
          <a:xfrm>
            <a:off x="7324344" y="2606040"/>
            <a:ext cx="1984248" cy="2478024"/>
          </a:xfrm>
          <a:prstGeom prst="rect">
            <a:avLst/>
          </a:prstGeom>
        </p:spPr>
      </p:pic>
      <p:sp>
        <p:nvSpPr>
          <p:cNvPr id="13" name="Text 7"/>
          <p:cNvSpPr txBox="1"/>
          <p:nvPr/>
        </p:nvSpPr>
        <p:spPr>
          <a:xfrm>
            <a:off x="7324344" y="5212080"/>
            <a:ext cx="1984248" cy="457200"/>
          </a:xfrm>
          <a:prstGeom prst="rect">
            <a:avLst/>
          </a:prstGeom>
          <a:noFill/>
          <a:ln/>
        </p:spPr>
        <p:txBody>
          <a:bodyPr wrap="square" lIns="0" tIns="0" rIns="0" bIns="0" rtlCol="0" anchor="t"/>
          <a:lstStyle/>
          <a:p>
            <a:pPr indent="0" marL="0">
              <a:buNone/>
            </a:pPr>
            <a:r>
              <a:rPr lang="en-US" sz="1200" dirty="0">
                <a:solidFill>
                  <a:srgbClr val="FFFFFF"/>
                </a:solidFill>
                <a:latin typeface="Titillium Web" pitchFamily="34" charset="0"/>
                <a:ea typeface="Titillium Web" pitchFamily="34" charset="-122"/>
                <a:cs typeface="Titillium Web" pitchFamily="34" charset="-120"/>
              </a:rPr>
              <a:t>Cloche leopardata con fiocco</a:t>
            </a:r>
            <a:endParaRPr lang="en-US" sz="1200" dirty="0"/>
          </a:p>
        </p:txBody>
      </p:sp>
      <p:pic>
        <p:nvPicPr>
          <p:cNvPr id="14" name="Image 4" descr="img/prod4.jpg">    </p:cNvPr>
          <p:cNvPicPr>
            <a:picLocks noChangeAspect="1"/>
          </p:cNvPicPr>
          <p:nvPr/>
        </p:nvPicPr>
        <p:blipFill>
          <a:blip r:embed="rId5"/>
          <a:srcRect l="0" r="0" t="51" b="41"/>
          <a:stretch/>
        </p:blipFill>
        <p:spPr>
          <a:xfrm>
            <a:off x="9537192" y="2606040"/>
            <a:ext cx="1984248" cy="2478024"/>
          </a:xfrm>
          <a:prstGeom prst="rect">
            <a:avLst/>
          </a:prstGeom>
        </p:spPr>
      </p:pic>
      <p:sp>
        <p:nvSpPr>
          <p:cNvPr id="15" name="Text 8"/>
          <p:cNvSpPr txBox="1"/>
          <p:nvPr/>
        </p:nvSpPr>
        <p:spPr>
          <a:xfrm>
            <a:off x="9537192" y="5212080"/>
            <a:ext cx="1984248" cy="457200"/>
          </a:xfrm>
          <a:prstGeom prst="rect">
            <a:avLst/>
          </a:prstGeom>
          <a:noFill/>
          <a:ln/>
        </p:spPr>
        <p:txBody>
          <a:bodyPr wrap="square" lIns="0" tIns="0" rIns="0" bIns="0" rtlCol="0" anchor="t"/>
          <a:lstStyle/>
          <a:p>
            <a:pPr indent="0" marL="0">
              <a:buNone/>
            </a:pPr>
            <a:r>
              <a:rPr lang="en-US" sz="1200" dirty="0">
                <a:solidFill>
                  <a:srgbClr val="FFFFFF"/>
                </a:solidFill>
                <a:latin typeface="Titillium Web" pitchFamily="34" charset="0"/>
                <a:ea typeface="Titillium Web" pitchFamily="34" charset="-122"/>
                <a:cs typeface="Titillium Web" pitchFamily="34" charset="-120"/>
              </a:rPr>
              <a:t>Coppola in feltro ricamata</a:t>
            </a:r>
            <a:endParaRPr lang="en-US" sz="1200" dirty="0"/>
          </a:p>
        </p:txBody>
      </p:sp>
      <p:pic>
        <p:nvPicPr>
          <p:cNvPr id="16" name="Image 5" descr="img/badge_white.png">    </p:cNvPr>
          <p:cNvPicPr>
            <a:picLocks noChangeAspect="1"/>
          </p:cNvPicPr>
          <p:nvPr/>
        </p:nvPicPr>
        <p:blipFill>
          <a:blip r:embed="rId6"/>
          <a:stretch>
            <a:fillRect/>
          </a:stretch>
        </p:blipFill>
        <p:spPr>
          <a:xfrm>
            <a:off x="11533327" y="6199632"/>
            <a:ext cx="274320" cy="274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7E3D3"/>
        </a:solidFill>
      </p:bgPr>
    </p:bg>
    <p:spTree>
      <p:nvGrpSpPr>
        <p:cNvPr id="1" name=""/>
        <p:cNvGrpSpPr/>
        <p:nvPr/>
      </p:nvGrpSpPr>
      <p:grpSpPr>
        <a:xfrm>
          <a:off x="0" y="0"/>
          <a:ext cx="0" cy="0"/>
          <a:chOff x="0" y="0"/>
          <a:chExt cx="0" cy="0"/>
        </a:xfrm>
      </p:grpSpPr>
      <p:pic>
        <p:nvPicPr>
          <p:cNvPr id="2" name="Image 0" descr="img/bors_roof.jpg">    </p:cNvPr>
          <p:cNvPicPr>
            <a:picLocks noChangeAspect="1"/>
          </p:cNvPicPr>
          <p:nvPr/>
        </p:nvPicPr>
        <p:blipFill>
          <a:blip r:embed="rId1"/>
          <a:srcRect l="0" r="0" t="824" b="3295"/>
          <a:stretch/>
        </p:blipFill>
        <p:spPr>
          <a:xfrm>
            <a:off x="0" y="0"/>
            <a:ext cx="4023360" cy="6858000"/>
          </a:xfrm>
          <a:prstGeom prst="rect">
            <a:avLst/>
          </a:prstGeom>
        </p:spPr>
      </p:pic>
      <p:sp>
        <p:nvSpPr>
          <p:cNvPr id="3" name="Text 0"/>
          <p:cNvSpPr txBox="1"/>
          <p:nvPr/>
        </p:nvSpPr>
        <p:spPr>
          <a:xfrm>
            <a:off x="4663440" y="566928"/>
            <a:ext cx="694944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6. La città</a:t>
            </a:r>
            <a:endParaRPr lang="en-US" sz="1300" dirty="0"/>
          </a:p>
        </p:txBody>
      </p:sp>
      <p:sp>
        <p:nvSpPr>
          <p:cNvPr id="4" name="Text 1"/>
          <p:cNvSpPr txBox="1"/>
          <p:nvPr/>
        </p:nvSpPr>
        <p:spPr>
          <a:xfrm>
            <a:off x="4663440" y="822960"/>
            <a:ext cx="694944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Architettura e scenografia</a:t>
            </a:r>
            <a:endParaRPr lang="en-US" sz="1300" dirty="0"/>
          </a:p>
        </p:txBody>
      </p:sp>
      <p:sp>
        <p:nvSpPr>
          <p:cNvPr id="5" name="Text 2"/>
          <p:cNvSpPr txBox="1"/>
          <p:nvPr/>
        </p:nvSpPr>
        <p:spPr>
          <a:xfrm>
            <a:off x="4663440" y="1234440"/>
            <a:ext cx="6949440" cy="731520"/>
          </a:xfrm>
          <a:prstGeom prst="rect">
            <a:avLst/>
          </a:prstGeom>
          <a:noFill/>
          <a:ln/>
        </p:spPr>
        <p:txBody>
          <a:bodyPr wrap="square" lIns="0" tIns="0" rIns="0" bIns="0" rtlCol="0" anchor="t"/>
          <a:lstStyle/>
          <a:p>
            <a:pPr indent="0" marL="0">
              <a:lnSpc>
                <a:spcPct val="95000"/>
              </a:lnSpc>
              <a:buNone/>
            </a:pPr>
            <a:r>
              <a:rPr lang="en-US" sz="3000" b="1" dirty="0">
                <a:solidFill>
                  <a:srgbClr val="C75033"/>
                </a:solidFill>
                <a:latin typeface="Titillium Web" pitchFamily="34" charset="0"/>
                <a:ea typeface="Titillium Web" pitchFamily="34" charset="-122"/>
                <a:cs typeface="Titillium Web" pitchFamily="34" charset="-120"/>
              </a:rPr>
              <a:t>La città entra nell’inquadratura</a:t>
            </a:r>
            <a:endParaRPr lang="en-US" sz="3000" dirty="0"/>
          </a:p>
        </p:txBody>
      </p:sp>
      <p:sp>
        <p:nvSpPr>
          <p:cNvPr id="6" name="Text 3"/>
          <p:cNvSpPr txBox="1"/>
          <p:nvPr/>
        </p:nvSpPr>
        <p:spPr>
          <a:xfrm>
            <a:off x="4663440" y="2011680"/>
            <a:ext cx="6766560" cy="822960"/>
          </a:xfrm>
          <a:prstGeom prst="rect">
            <a:avLst/>
          </a:prstGeom>
          <a:noFill/>
          <a:ln/>
        </p:spPr>
        <p:txBody>
          <a:bodyPr wrap="square" lIns="0" tIns="0" rIns="0" bIns="0" rtlCol="0" anchor="t"/>
          <a:lstStyle/>
          <a:p>
            <a:pPr indent="0" marL="0">
              <a:buNone/>
            </a:pPr>
            <a:r>
              <a:rPr lang="en-US" sz="1500" dirty="0">
                <a:solidFill>
                  <a:srgbClr val="2B2C20"/>
                </a:solidFill>
                <a:latin typeface="Titillium Web Light" pitchFamily="34" charset="0"/>
                <a:ea typeface="Titillium Web Light" pitchFamily="34" charset="-122"/>
                <a:cs typeface="Titillium Web Light" pitchFamily="34" charset="-120"/>
              </a:rPr>
              <a:t>Spesso la figura è piccola nell’inquadratura: è la città a raccontare il mondo in cui vive. Parigi va romanticizzata senza cartoline, niente Tour Eiffel.</a:t>
            </a:r>
            <a:endParaRPr lang="en-US" sz="1500" dirty="0"/>
          </a:p>
        </p:txBody>
      </p:sp>
      <p:sp>
        <p:nvSpPr>
          <p:cNvPr id="7" name="Text 4"/>
          <p:cNvSpPr txBox="1"/>
          <p:nvPr/>
        </p:nvSpPr>
        <p:spPr>
          <a:xfrm>
            <a:off x="4663440" y="3108960"/>
            <a:ext cx="3200400" cy="320040"/>
          </a:xfrm>
          <a:prstGeom prst="rect">
            <a:avLst/>
          </a:prstGeom>
          <a:noFill/>
          <a:ln/>
        </p:spPr>
        <p:txBody>
          <a:bodyPr wrap="square" lIns="0" tIns="0" rIns="0" bIns="0" rtlCol="0" anchor="t"/>
          <a:lstStyle/>
          <a:p>
            <a:pPr indent="0" marL="0">
              <a:buNone/>
            </a:pPr>
            <a:r>
              <a:rPr lang="en-US" sz="1500" b="1" dirty="0">
                <a:solidFill>
                  <a:srgbClr val="C75033"/>
                </a:solidFill>
                <a:latin typeface="Titillium Web" pitchFamily="34" charset="0"/>
                <a:ea typeface="Titillium Web" pitchFamily="34" charset="-122"/>
                <a:cs typeface="Titillium Web" pitchFamily="34" charset="-120"/>
              </a:rPr>
              <a:t>Facciate</a:t>
            </a:r>
            <a:endParaRPr lang="en-US" sz="1500" dirty="0"/>
          </a:p>
        </p:txBody>
      </p:sp>
      <p:sp>
        <p:nvSpPr>
          <p:cNvPr id="8" name="Text 5"/>
          <p:cNvSpPr txBox="1"/>
          <p:nvPr/>
        </p:nvSpPr>
        <p:spPr>
          <a:xfrm>
            <a:off x="4663440" y="3438144"/>
            <a:ext cx="3200400" cy="64008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Palazzi haussmanniani, balconi in ferro battuto, portoni in legno.</a:t>
            </a:r>
            <a:endParaRPr lang="en-US" sz="1250" dirty="0"/>
          </a:p>
        </p:txBody>
      </p:sp>
      <p:sp>
        <p:nvSpPr>
          <p:cNvPr id="9" name="Text 6"/>
          <p:cNvSpPr txBox="1"/>
          <p:nvPr/>
        </p:nvSpPr>
        <p:spPr>
          <a:xfrm>
            <a:off x="8138160" y="3108960"/>
            <a:ext cx="3200400" cy="320040"/>
          </a:xfrm>
          <a:prstGeom prst="rect">
            <a:avLst/>
          </a:prstGeom>
          <a:noFill/>
          <a:ln/>
        </p:spPr>
        <p:txBody>
          <a:bodyPr wrap="square" lIns="0" tIns="0" rIns="0" bIns="0" rtlCol="0" anchor="t"/>
          <a:lstStyle/>
          <a:p>
            <a:pPr indent="0" marL="0">
              <a:buNone/>
            </a:pPr>
            <a:r>
              <a:rPr lang="en-US" sz="1500" b="1" dirty="0">
                <a:solidFill>
                  <a:srgbClr val="C75033"/>
                </a:solidFill>
                <a:latin typeface="Titillium Web" pitchFamily="34" charset="0"/>
                <a:ea typeface="Titillium Web" pitchFamily="34" charset="-122"/>
                <a:cs typeface="Titillium Web" pitchFamily="34" charset="-120"/>
              </a:rPr>
              <a:t>Portici</a:t>
            </a:r>
            <a:endParaRPr lang="en-US" sz="1500" dirty="0"/>
          </a:p>
        </p:txBody>
      </p:sp>
      <p:sp>
        <p:nvSpPr>
          <p:cNvPr id="10" name="Text 7"/>
          <p:cNvSpPr txBox="1"/>
          <p:nvPr/>
        </p:nvSpPr>
        <p:spPr>
          <a:xfrm>
            <a:off x="8138160" y="3438144"/>
            <a:ext cx="3200400" cy="64008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Palais-Royal, Rue de Rivoli, Place des Vosges.</a:t>
            </a:r>
            <a:endParaRPr lang="en-US" sz="1250" dirty="0"/>
          </a:p>
        </p:txBody>
      </p:sp>
      <p:sp>
        <p:nvSpPr>
          <p:cNvPr id="11" name="Text 8"/>
          <p:cNvSpPr txBox="1"/>
          <p:nvPr/>
        </p:nvSpPr>
        <p:spPr>
          <a:xfrm>
            <a:off x="4663440" y="4160520"/>
            <a:ext cx="3200400" cy="320040"/>
          </a:xfrm>
          <a:prstGeom prst="rect">
            <a:avLst/>
          </a:prstGeom>
          <a:noFill/>
          <a:ln/>
        </p:spPr>
        <p:txBody>
          <a:bodyPr wrap="square" lIns="0" tIns="0" rIns="0" bIns="0" rtlCol="0" anchor="t"/>
          <a:lstStyle/>
          <a:p>
            <a:pPr indent="0" marL="0">
              <a:buNone/>
            </a:pPr>
            <a:r>
              <a:rPr lang="en-US" sz="1500" b="1" dirty="0">
                <a:solidFill>
                  <a:srgbClr val="C75033"/>
                </a:solidFill>
                <a:latin typeface="Titillium Web" pitchFamily="34" charset="0"/>
                <a:ea typeface="Titillium Web" pitchFamily="34" charset="-122"/>
                <a:cs typeface="Titillium Web" pitchFamily="34" charset="-120"/>
              </a:rPr>
              <a:t>Metro</a:t>
            </a:r>
            <a:endParaRPr lang="en-US" sz="1500" dirty="0"/>
          </a:p>
        </p:txBody>
      </p:sp>
      <p:sp>
        <p:nvSpPr>
          <p:cNvPr id="12" name="Text 9"/>
          <p:cNvSpPr txBox="1"/>
          <p:nvPr/>
        </p:nvSpPr>
        <p:spPr>
          <a:xfrm>
            <a:off x="4663440" y="4489704"/>
            <a:ext cx="3200400" cy="64008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Ingressi Art Nouveau di Guimard, scale, piastrelle bianche.</a:t>
            </a:r>
            <a:endParaRPr lang="en-US" sz="1250" dirty="0"/>
          </a:p>
        </p:txBody>
      </p:sp>
      <p:sp>
        <p:nvSpPr>
          <p:cNvPr id="13" name="Text 10"/>
          <p:cNvSpPr txBox="1"/>
          <p:nvPr/>
        </p:nvSpPr>
        <p:spPr>
          <a:xfrm>
            <a:off x="8138160" y="4160520"/>
            <a:ext cx="3200400" cy="320040"/>
          </a:xfrm>
          <a:prstGeom prst="rect">
            <a:avLst/>
          </a:prstGeom>
          <a:noFill/>
          <a:ln/>
        </p:spPr>
        <p:txBody>
          <a:bodyPr wrap="square" lIns="0" tIns="0" rIns="0" bIns="0" rtlCol="0" anchor="t"/>
          <a:lstStyle/>
          <a:p>
            <a:pPr indent="0" marL="0">
              <a:buNone/>
            </a:pPr>
            <a:r>
              <a:rPr lang="en-US" sz="1500" b="1" dirty="0">
                <a:solidFill>
                  <a:srgbClr val="C75033"/>
                </a:solidFill>
                <a:latin typeface="Titillium Web" pitchFamily="34" charset="0"/>
                <a:ea typeface="Titillium Web" pitchFamily="34" charset="-122"/>
                <a:cs typeface="Titillium Web" pitchFamily="34" charset="-120"/>
              </a:rPr>
              <a:t>Lungosenna</a:t>
            </a:r>
            <a:endParaRPr lang="en-US" sz="1500" dirty="0"/>
          </a:p>
        </p:txBody>
      </p:sp>
      <p:sp>
        <p:nvSpPr>
          <p:cNvPr id="14" name="Text 11"/>
          <p:cNvSpPr txBox="1"/>
          <p:nvPr/>
        </p:nvSpPr>
        <p:spPr>
          <a:xfrm>
            <a:off x="8138160" y="4489704"/>
            <a:ext cx="3200400" cy="64008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Ponti e banchine nella nebbia del mattino.</a:t>
            </a:r>
            <a:endParaRPr lang="en-US" sz="1250" dirty="0"/>
          </a:p>
        </p:txBody>
      </p:sp>
      <p:sp>
        <p:nvSpPr>
          <p:cNvPr id="15" name="Text 12"/>
          <p:cNvSpPr txBox="1"/>
          <p:nvPr/>
        </p:nvSpPr>
        <p:spPr>
          <a:xfrm>
            <a:off x="4663440" y="5212080"/>
            <a:ext cx="3200400" cy="320040"/>
          </a:xfrm>
          <a:prstGeom prst="rect">
            <a:avLst/>
          </a:prstGeom>
          <a:noFill/>
          <a:ln/>
        </p:spPr>
        <p:txBody>
          <a:bodyPr wrap="square" lIns="0" tIns="0" rIns="0" bIns="0" rtlCol="0" anchor="t"/>
          <a:lstStyle/>
          <a:p>
            <a:pPr indent="0" marL="0">
              <a:buNone/>
            </a:pPr>
            <a:r>
              <a:rPr lang="en-US" sz="1500" b="1" dirty="0">
                <a:solidFill>
                  <a:srgbClr val="C75033"/>
                </a:solidFill>
                <a:latin typeface="Titillium Web" pitchFamily="34" charset="0"/>
                <a:ea typeface="Titillium Web" pitchFamily="34" charset="-122"/>
                <a:cs typeface="Titillium Web" pitchFamily="34" charset="-120"/>
              </a:rPr>
              <a:t>Giardini</a:t>
            </a:r>
            <a:endParaRPr lang="en-US" sz="1500" dirty="0"/>
          </a:p>
        </p:txBody>
      </p:sp>
      <p:sp>
        <p:nvSpPr>
          <p:cNvPr id="16" name="Text 13"/>
          <p:cNvSpPr txBox="1"/>
          <p:nvPr/>
        </p:nvSpPr>
        <p:spPr>
          <a:xfrm>
            <a:off x="4663440" y="5541264"/>
            <a:ext cx="3200400" cy="64008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Viali spogli, foglie a terra, le sedie verdi.</a:t>
            </a:r>
            <a:endParaRPr lang="en-US" sz="1250" dirty="0"/>
          </a:p>
        </p:txBody>
      </p:sp>
      <p:sp>
        <p:nvSpPr>
          <p:cNvPr id="17" name="Text 14"/>
          <p:cNvSpPr txBox="1"/>
          <p:nvPr/>
        </p:nvSpPr>
        <p:spPr>
          <a:xfrm>
            <a:off x="8138160" y="5212080"/>
            <a:ext cx="3200400" cy="320040"/>
          </a:xfrm>
          <a:prstGeom prst="rect">
            <a:avLst/>
          </a:prstGeom>
          <a:noFill/>
          <a:ln/>
        </p:spPr>
        <p:txBody>
          <a:bodyPr wrap="square" lIns="0" tIns="0" rIns="0" bIns="0" rtlCol="0" anchor="t"/>
          <a:lstStyle/>
          <a:p>
            <a:pPr indent="0" marL="0">
              <a:buNone/>
            </a:pPr>
            <a:r>
              <a:rPr lang="en-US" sz="1500" b="1" dirty="0">
                <a:solidFill>
                  <a:srgbClr val="C75033"/>
                </a:solidFill>
                <a:latin typeface="Titillium Web" pitchFamily="34" charset="0"/>
                <a:ea typeface="Titillium Web" pitchFamily="34" charset="-122"/>
                <a:cs typeface="Titillium Web" pitchFamily="34" charset="-120"/>
              </a:rPr>
              <a:t>Interni</a:t>
            </a:r>
            <a:endParaRPr lang="en-US" sz="1500" dirty="0"/>
          </a:p>
        </p:txBody>
      </p:sp>
      <p:sp>
        <p:nvSpPr>
          <p:cNvPr id="18" name="Text 15"/>
          <p:cNvSpPr txBox="1"/>
          <p:nvPr/>
        </p:nvSpPr>
        <p:spPr>
          <a:xfrm>
            <a:off x="8138160" y="5541264"/>
            <a:ext cx="3200400" cy="64008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Androni, scaloni, ascensori a gabbia e in legno.</a:t>
            </a:r>
            <a:endParaRPr lang="en-US" sz="1250" dirty="0"/>
          </a:p>
        </p:txBody>
      </p:sp>
      <p:pic>
        <p:nvPicPr>
          <p:cNvPr id="19" name="Image 1" descr="img/badge_white.png">    </p:cNvPr>
          <p:cNvPicPr>
            <a:picLocks noChangeAspect="1"/>
          </p:cNvPicPr>
          <p:nvPr/>
        </p:nvPicPr>
        <p:blipFill>
          <a:blip r:embed="rId2"/>
          <a:stretch>
            <a:fillRect/>
          </a:stretch>
        </p:blipFill>
        <p:spPr>
          <a:xfrm>
            <a:off x="11533327" y="6199632"/>
            <a:ext cx="274320" cy="274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7E3D3"/>
        </a:solidFill>
      </p:bgPr>
    </p:bg>
    <p:spTree>
      <p:nvGrpSpPr>
        <p:cNvPr id="1" name=""/>
        <p:cNvGrpSpPr/>
        <p:nvPr/>
      </p:nvGrpSpPr>
      <p:grpSpPr>
        <a:xfrm>
          <a:off x="0" y="0"/>
          <a:ext cx="0" cy="0"/>
          <a:chOff x="0" y="0"/>
          <a:chExt cx="0" cy="0"/>
        </a:xfrm>
      </p:grpSpPr>
      <p:pic>
        <p:nvPicPr>
          <p:cNvPr id="2" name="Image 0" descr="img/celine.jpg">    </p:cNvPr>
          <p:cNvPicPr>
            <a:picLocks noChangeAspect="1"/>
          </p:cNvPicPr>
          <p:nvPr/>
        </p:nvPicPr>
        <p:blipFill>
          <a:blip r:embed="rId1"/>
          <a:srcRect l="0" r="0" t="3109" b="3109"/>
          <a:stretch/>
        </p:blipFill>
        <p:spPr>
          <a:xfrm>
            <a:off x="0" y="0"/>
            <a:ext cx="5669280" cy="6858000"/>
          </a:xfrm>
          <a:prstGeom prst="rect">
            <a:avLst/>
          </a:prstGeom>
        </p:spPr>
      </p:pic>
      <p:sp>
        <p:nvSpPr>
          <p:cNvPr id="3" name="Text 0"/>
          <p:cNvSpPr txBox="1"/>
          <p:nvPr/>
        </p:nvSpPr>
        <p:spPr>
          <a:xfrm>
            <a:off x="6309360" y="566928"/>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7. Riferimenti</a:t>
            </a:r>
            <a:endParaRPr lang="en-US" sz="1300" dirty="0"/>
          </a:p>
        </p:txBody>
      </p:sp>
      <p:sp>
        <p:nvSpPr>
          <p:cNvPr id="4" name="Text 1"/>
          <p:cNvSpPr txBox="1"/>
          <p:nvPr/>
        </p:nvSpPr>
        <p:spPr>
          <a:xfrm>
            <a:off x="6309360" y="822960"/>
            <a:ext cx="5196535"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Campagna Paris, Instagram</a:t>
            </a:r>
            <a:endParaRPr lang="en-US" sz="1300" dirty="0"/>
          </a:p>
        </p:txBody>
      </p:sp>
      <p:sp>
        <p:nvSpPr>
          <p:cNvPr id="5" name="Text 2"/>
          <p:cNvSpPr txBox="1"/>
          <p:nvPr/>
        </p:nvSpPr>
        <p:spPr>
          <a:xfrm>
            <a:off x="6309360" y="1234440"/>
            <a:ext cx="5196535" cy="6400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Celine</a:t>
            </a:r>
            <a:endParaRPr lang="en-US" sz="3200" dirty="0"/>
          </a:p>
        </p:txBody>
      </p:sp>
      <p:sp>
        <p:nvSpPr>
          <p:cNvPr id="6" name="Text 3"/>
          <p:cNvSpPr txBox="1"/>
          <p:nvPr/>
        </p:nvSpPr>
        <p:spPr>
          <a:xfrm>
            <a:off x="6309360" y="2011680"/>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Cosa vediamo</a:t>
            </a:r>
            <a:endParaRPr lang="en-US" sz="1300" dirty="0"/>
          </a:p>
        </p:txBody>
      </p:sp>
      <p:sp>
        <p:nvSpPr>
          <p:cNvPr id="7" name="Text 4"/>
          <p:cNvSpPr txBox="1"/>
          <p:nvPr/>
        </p:nvSpPr>
        <p:spPr>
          <a:xfrm>
            <a:off x="6309360" y="2304288"/>
            <a:ext cx="5196535" cy="1005840"/>
          </a:xfrm>
          <a:prstGeom prst="rect">
            <a:avLst/>
          </a:prstGeom>
          <a:noFill/>
          <a:ln/>
        </p:spPr>
        <p:txBody>
          <a:bodyPr wrap="square" lIns="0" tIns="0" rIns="0" bIns="0" rtlCol="0" anchor="t"/>
          <a:lstStyle/>
          <a:p>
            <a:pPr indent="0" marL="0">
              <a:buNone/>
            </a:pPr>
            <a:r>
              <a:rPr lang="en-US" sz="1350" dirty="0">
                <a:solidFill>
                  <a:srgbClr val="2B2C20"/>
                </a:solidFill>
                <a:latin typeface="Titillium Web Light" pitchFamily="34" charset="0"/>
                <a:ea typeface="Titillium Web Light" pitchFamily="34" charset="-122"/>
                <a:cs typeface="Titillium Web Light" pitchFamily="34" charset="-120"/>
              </a:rPr>
              <a:t>Bianco e nero crudo. Un passo lungo sul pavé, il cappello a secchiello nero calato sul viso, le facciate haussmanniane sullo sfondo.</a:t>
            </a:r>
            <a:endParaRPr lang="en-US" sz="1350" dirty="0"/>
          </a:p>
        </p:txBody>
      </p:sp>
      <p:sp>
        <p:nvSpPr>
          <p:cNvPr id="8" name="Text 5"/>
          <p:cNvSpPr txBox="1"/>
          <p:nvPr/>
        </p:nvSpPr>
        <p:spPr>
          <a:xfrm>
            <a:off x="6309360" y="3429000"/>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Cosa prendiamo per Tirabasso</a:t>
            </a:r>
            <a:endParaRPr lang="en-US" sz="1300" dirty="0"/>
          </a:p>
        </p:txBody>
      </p:sp>
      <p:sp>
        <p:nvSpPr>
          <p:cNvPr id="9" name="Text 6"/>
          <p:cNvSpPr txBox="1"/>
          <p:nvPr/>
        </p:nvSpPr>
        <p:spPr>
          <a:xfrm>
            <a:off x="6309360" y="3721608"/>
            <a:ext cx="5196535"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Il passo deciso, la figura colta a metà movimento</a:t>
            </a:r>
            <a:endParaRPr lang="en-US" sz="1350" dirty="0"/>
          </a:p>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Il bianco e nero per una parte della serie</a:t>
            </a:r>
            <a:endParaRPr lang="en-US" sz="1350" dirty="0"/>
          </a:p>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Il cappello scuro come segno grafico</a:t>
            </a:r>
            <a:endParaRPr lang="en-US" sz="1350" dirty="0"/>
          </a:p>
        </p:txBody>
      </p:sp>
      <p:pic>
        <p:nvPicPr>
          <p:cNvPr id="11" name="Image 1" descr="img/badge_white.png">    </p:cNvPr>
          <p:cNvPicPr>
            <a:picLocks noChangeAspect="1"/>
          </p:cNvPicPr>
          <p:nvPr/>
        </p:nvPicPr>
        <p:blipFill>
          <a:blip r:embed="rId2"/>
          <a:stretch>
            <a:fillRect/>
          </a:stretch>
        </p:blipFill>
        <p:spPr>
          <a:xfrm>
            <a:off x="11533327" y="6199632"/>
            <a:ext cx="274320" cy="2743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7E3D3"/>
        </a:solidFill>
      </p:bgPr>
    </p:bg>
    <p:spTree>
      <p:nvGrpSpPr>
        <p:cNvPr id="1" name=""/>
        <p:cNvGrpSpPr/>
        <p:nvPr/>
      </p:nvGrpSpPr>
      <p:grpSpPr>
        <a:xfrm>
          <a:off x="0" y="0"/>
          <a:ext cx="0" cy="0"/>
          <a:chOff x="0" y="0"/>
          <a:chExt cx="0" cy="0"/>
        </a:xfrm>
      </p:grpSpPr>
      <p:pic>
        <p:nvPicPr>
          <p:cNvPr id="2" name="Image 0" descr="img/cucinelli.jpg">    </p:cNvPr>
          <p:cNvPicPr>
            <a:picLocks noChangeAspect="1"/>
          </p:cNvPicPr>
          <p:nvPr/>
        </p:nvPicPr>
        <p:blipFill>
          <a:blip r:embed="rId1"/>
          <a:srcRect l="0" r="0" t="14076" b="17204"/>
          <a:stretch/>
        </p:blipFill>
        <p:spPr>
          <a:xfrm>
            <a:off x="0" y="0"/>
            <a:ext cx="5669280" cy="6858000"/>
          </a:xfrm>
          <a:prstGeom prst="rect">
            <a:avLst/>
          </a:prstGeom>
        </p:spPr>
      </p:pic>
      <p:sp>
        <p:nvSpPr>
          <p:cNvPr id="3" name="Text 0"/>
          <p:cNvSpPr txBox="1"/>
          <p:nvPr/>
        </p:nvSpPr>
        <p:spPr>
          <a:xfrm>
            <a:off x="6309360" y="566928"/>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7. Riferimenti</a:t>
            </a:r>
            <a:endParaRPr lang="en-US" sz="1300" dirty="0"/>
          </a:p>
        </p:txBody>
      </p:sp>
      <p:sp>
        <p:nvSpPr>
          <p:cNvPr id="4" name="Text 1"/>
          <p:cNvSpPr txBox="1"/>
          <p:nvPr/>
        </p:nvSpPr>
        <p:spPr>
          <a:xfrm>
            <a:off x="6309360" y="822960"/>
            <a:ext cx="5196535"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Sartorial bucket bag, Instagram</a:t>
            </a:r>
            <a:endParaRPr lang="en-US" sz="1300" dirty="0"/>
          </a:p>
        </p:txBody>
      </p:sp>
      <p:sp>
        <p:nvSpPr>
          <p:cNvPr id="5" name="Text 2"/>
          <p:cNvSpPr txBox="1"/>
          <p:nvPr/>
        </p:nvSpPr>
        <p:spPr>
          <a:xfrm>
            <a:off x="6309360" y="1234440"/>
            <a:ext cx="5196535" cy="6400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Brunello Cucinelli</a:t>
            </a:r>
            <a:endParaRPr lang="en-US" sz="3200" dirty="0"/>
          </a:p>
        </p:txBody>
      </p:sp>
      <p:sp>
        <p:nvSpPr>
          <p:cNvPr id="6" name="Text 3"/>
          <p:cNvSpPr txBox="1"/>
          <p:nvPr/>
        </p:nvSpPr>
        <p:spPr>
          <a:xfrm>
            <a:off x="6309360" y="2011680"/>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Cosa vediamo</a:t>
            </a:r>
            <a:endParaRPr lang="en-US" sz="1300" dirty="0"/>
          </a:p>
        </p:txBody>
      </p:sp>
      <p:sp>
        <p:nvSpPr>
          <p:cNvPr id="7" name="Text 4"/>
          <p:cNvSpPr txBox="1"/>
          <p:nvPr/>
        </p:nvSpPr>
        <p:spPr>
          <a:xfrm>
            <a:off x="6309360" y="2304288"/>
            <a:ext cx="5196535" cy="1005840"/>
          </a:xfrm>
          <a:prstGeom prst="rect">
            <a:avLst/>
          </a:prstGeom>
          <a:noFill/>
          <a:ln/>
        </p:spPr>
        <p:txBody>
          <a:bodyPr wrap="square" lIns="0" tIns="0" rIns="0" bIns="0" rtlCol="0" anchor="t"/>
          <a:lstStyle/>
          <a:p>
            <a:pPr indent="0" marL="0">
              <a:buNone/>
            </a:pPr>
            <a:r>
              <a:rPr lang="en-US" sz="1350" dirty="0">
                <a:solidFill>
                  <a:srgbClr val="2B2C20"/>
                </a:solidFill>
                <a:latin typeface="Titillium Web Light" pitchFamily="34" charset="0"/>
                <a:ea typeface="Titillium Web Light" pitchFamily="34" charset="-122"/>
                <a:cs typeface="Titillium Web Light" pitchFamily="34" charset="-120"/>
              </a:rPr>
              <a:t>Due donne in un ascensore rivestito in legno. Un momento sospeso e quotidiano (le cuffie, un caffè da portare via) ma ricchissimo nei materiali.</a:t>
            </a:r>
            <a:endParaRPr lang="en-US" sz="1350" dirty="0"/>
          </a:p>
        </p:txBody>
      </p:sp>
      <p:sp>
        <p:nvSpPr>
          <p:cNvPr id="8" name="Text 5"/>
          <p:cNvSpPr txBox="1"/>
          <p:nvPr/>
        </p:nvSpPr>
        <p:spPr>
          <a:xfrm>
            <a:off x="6309360" y="3429000"/>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Cosa prendiamo per Tirabasso</a:t>
            </a:r>
            <a:endParaRPr lang="en-US" sz="1300" dirty="0"/>
          </a:p>
        </p:txBody>
      </p:sp>
      <p:sp>
        <p:nvSpPr>
          <p:cNvPr id="9" name="Text 6"/>
          <p:cNvSpPr txBox="1"/>
          <p:nvPr/>
        </p:nvSpPr>
        <p:spPr>
          <a:xfrm>
            <a:off x="6309360" y="3721608"/>
            <a:ext cx="5196535"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La scena dell’ascensore elegante</a:t>
            </a:r>
            <a:endParaRPr lang="en-US" sz="1350" dirty="0"/>
          </a:p>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Il calore degli interni contro il grigio della strada</a:t>
            </a:r>
            <a:endParaRPr lang="en-US" sz="1350" dirty="0"/>
          </a:p>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Uno styling ricco di texture: maglia, feltro, pelle</a:t>
            </a:r>
            <a:endParaRPr lang="en-US" sz="1350" dirty="0"/>
          </a:p>
        </p:txBody>
      </p:sp>
      <p:pic>
        <p:nvPicPr>
          <p:cNvPr id="11" name="Image 1" descr="img/badge_white.png">    </p:cNvPr>
          <p:cNvPicPr>
            <a:picLocks noChangeAspect="1"/>
          </p:cNvPicPr>
          <p:nvPr/>
        </p:nvPicPr>
        <p:blipFill>
          <a:blip r:embed="rId2"/>
          <a:stretch>
            <a:fillRect/>
          </a:stretch>
        </p:blipFill>
        <p:spPr>
          <a:xfrm>
            <a:off x="11533327" y="6199632"/>
            <a:ext cx="274320" cy="274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7E3D3"/>
        </a:solidFill>
      </p:bgPr>
    </p:bg>
    <p:spTree>
      <p:nvGrpSpPr>
        <p:cNvPr id="1" name=""/>
        <p:cNvGrpSpPr/>
        <p:nvPr/>
      </p:nvGrpSpPr>
      <p:grpSpPr>
        <a:xfrm>
          <a:off x="0" y="0"/>
          <a:ext cx="0" cy="0"/>
          <a:chOff x="0" y="0"/>
          <a:chExt cx="0" cy="0"/>
        </a:xfrm>
      </p:grpSpPr>
      <p:pic>
        <p:nvPicPr>
          <p:cNvPr id="2" name="Image 0" descr="img/bors_9.jpg">    </p:cNvPr>
          <p:cNvPicPr>
            <a:picLocks noChangeAspect="1"/>
          </p:cNvPicPr>
          <p:nvPr/>
        </p:nvPicPr>
        <p:blipFill>
          <a:blip r:embed="rId1"/>
          <a:srcRect l="26296" r="26296" t="0" b="0"/>
          <a:stretch/>
        </p:blipFill>
        <p:spPr>
          <a:xfrm>
            <a:off x="0" y="0"/>
            <a:ext cx="1828800" cy="6858000"/>
          </a:xfrm>
          <a:prstGeom prst="rect">
            <a:avLst/>
          </a:prstGeom>
        </p:spPr>
      </p:pic>
      <p:pic>
        <p:nvPicPr>
          <p:cNvPr id="3" name="Image 1" descr="img/bors_13.jpg">    </p:cNvPr>
          <p:cNvPicPr>
            <a:picLocks noChangeAspect="1"/>
          </p:cNvPicPr>
          <p:nvPr/>
        </p:nvPicPr>
        <p:blipFill>
          <a:blip r:embed="rId2"/>
          <a:srcRect l="26296" r="26296" t="0" b="0"/>
          <a:stretch/>
        </p:blipFill>
        <p:spPr>
          <a:xfrm>
            <a:off x="1920240" y="0"/>
            <a:ext cx="1828800" cy="6858000"/>
          </a:xfrm>
          <a:prstGeom prst="rect">
            <a:avLst/>
          </a:prstGeom>
        </p:spPr>
      </p:pic>
      <p:pic>
        <p:nvPicPr>
          <p:cNvPr id="4" name="Image 2" descr="img/bors_16.jpg">    </p:cNvPr>
          <p:cNvPicPr>
            <a:picLocks noChangeAspect="1"/>
          </p:cNvPicPr>
          <p:nvPr/>
        </p:nvPicPr>
        <p:blipFill>
          <a:blip r:embed="rId3"/>
          <a:srcRect l="26296" r="26296" t="0" b="0"/>
          <a:stretch/>
        </p:blipFill>
        <p:spPr>
          <a:xfrm>
            <a:off x="3840480" y="0"/>
            <a:ext cx="1828800" cy="6858000"/>
          </a:xfrm>
          <a:prstGeom prst="rect">
            <a:avLst/>
          </a:prstGeom>
        </p:spPr>
      </p:pic>
      <p:sp>
        <p:nvSpPr>
          <p:cNvPr id="5" name="Text 0"/>
          <p:cNvSpPr txBox="1"/>
          <p:nvPr/>
        </p:nvSpPr>
        <p:spPr>
          <a:xfrm>
            <a:off x="6309360" y="566928"/>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7. Riferimenti</a:t>
            </a:r>
            <a:endParaRPr lang="en-US" sz="1300" dirty="0"/>
          </a:p>
        </p:txBody>
      </p:sp>
      <p:sp>
        <p:nvSpPr>
          <p:cNvPr id="6" name="Text 1"/>
          <p:cNvSpPr txBox="1"/>
          <p:nvPr/>
        </p:nvSpPr>
        <p:spPr>
          <a:xfrm>
            <a:off x="6309360" y="822960"/>
            <a:ext cx="5196535"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Fluid Line, film Instagram</a:t>
            </a:r>
            <a:endParaRPr lang="en-US" sz="1300" dirty="0"/>
          </a:p>
        </p:txBody>
      </p:sp>
      <p:sp>
        <p:nvSpPr>
          <p:cNvPr id="7" name="Text 2"/>
          <p:cNvSpPr txBox="1"/>
          <p:nvPr/>
        </p:nvSpPr>
        <p:spPr>
          <a:xfrm>
            <a:off x="6309360" y="1234440"/>
            <a:ext cx="5196535" cy="6400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Borsalino</a:t>
            </a:r>
            <a:endParaRPr lang="en-US" sz="3200" dirty="0"/>
          </a:p>
        </p:txBody>
      </p:sp>
      <p:sp>
        <p:nvSpPr>
          <p:cNvPr id="8" name="Text 3"/>
          <p:cNvSpPr txBox="1"/>
          <p:nvPr/>
        </p:nvSpPr>
        <p:spPr>
          <a:xfrm>
            <a:off x="6309360" y="2011680"/>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Cosa vediamo</a:t>
            </a:r>
            <a:endParaRPr lang="en-US" sz="1300" dirty="0"/>
          </a:p>
        </p:txBody>
      </p:sp>
      <p:sp>
        <p:nvSpPr>
          <p:cNvPr id="9" name="Text 4"/>
          <p:cNvSpPr txBox="1"/>
          <p:nvPr/>
        </p:nvSpPr>
        <p:spPr>
          <a:xfrm>
            <a:off x="6309360" y="2304288"/>
            <a:ext cx="5196535" cy="1005840"/>
          </a:xfrm>
          <a:prstGeom prst="rect">
            <a:avLst/>
          </a:prstGeom>
          <a:noFill/>
          <a:ln/>
        </p:spPr>
        <p:txBody>
          <a:bodyPr wrap="square" lIns="0" tIns="0" rIns="0" bIns="0" rtlCol="0" anchor="t"/>
          <a:lstStyle/>
          <a:p>
            <a:pPr indent="0" marL="0">
              <a:buNone/>
            </a:pPr>
            <a:r>
              <a:rPr lang="en-US" sz="1350" dirty="0">
                <a:solidFill>
                  <a:srgbClr val="2B2C20"/>
                </a:solidFill>
                <a:latin typeface="Titillium Web Light" pitchFamily="34" charset="0"/>
                <a:ea typeface="Titillium Web Light" pitchFamily="34" charset="-122"/>
                <a:cs typeface="Titillium Web Light" pitchFamily="34" charset="-120"/>
              </a:rPr>
              <a:t>Un film costruito per frammenti: tetti di Parigi, un semaforo, luci sfocate, l’accessorio in mano mentre si cammina. Il volto quasi non compare.</a:t>
            </a:r>
            <a:endParaRPr lang="en-US" sz="1350" dirty="0"/>
          </a:p>
        </p:txBody>
      </p:sp>
      <p:sp>
        <p:nvSpPr>
          <p:cNvPr id="10" name="Text 5"/>
          <p:cNvSpPr txBox="1"/>
          <p:nvPr/>
        </p:nvSpPr>
        <p:spPr>
          <a:xfrm>
            <a:off x="6309360" y="3429000"/>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Cosa prendiamo per Tirabasso</a:t>
            </a:r>
            <a:endParaRPr lang="en-US" sz="1300" dirty="0"/>
          </a:p>
        </p:txBody>
      </p:sp>
      <p:sp>
        <p:nvSpPr>
          <p:cNvPr id="11" name="Text 6"/>
          <p:cNvSpPr txBox="1"/>
          <p:nvPr/>
        </p:nvSpPr>
        <p:spPr>
          <a:xfrm>
            <a:off x="6309360" y="3721608"/>
            <a:ext cx="5196535"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Il montaggio per frammenti per film e reel</a:t>
            </a:r>
            <a:endParaRPr lang="en-US" sz="1350" dirty="0"/>
          </a:p>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Inquadrature strette sul cappello in movimento</a:t>
            </a:r>
            <a:endParaRPr lang="en-US" sz="1350" dirty="0"/>
          </a:p>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Grana cinematografica e colori freddi</a:t>
            </a:r>
            <a:endParaRPr lang="en-US" sz="1350" dirty="0"/>
          </a:p>
        </p:txBody>
      </p:sp>
      <p:pic>
        <p:nvPicPr>
          <p:cNvPr id="13" name="Image 3" descr="img/badge_white.png">    </p:cNvPr>
          <p:cNvPicPr>
            <a:picLocks noChangeAspect="1"/>
          </p:cNvPicPr>
          <p:nvPr/>
        </p:nvPicPr>
        <p:blipFill>
          <a:blip r:embed="rId4"/>
          <a:stretch>
            <a:fillRect/>
          </a:stretch>
        </p:blipFill>
        <p:spPr>
          <a:xfrm>
            <a:off x="11533327" y="6199632"/>
            <a:ext cx="274320" cy="274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7E3D3"/>
        </a:solidFill>
      </p:bgPr>
    </p:bg>
    <p:spTree>
      <p:nvGrpSpPr>
        <p:cNvPr id="1" name=""/>
        <p:cNvGrpSpPr/>
        <p:nvPr/>
      </p:nvGrpSpPr>
      <p:grpSpPr>
        <a:xfrm>
          <a:off x="0" y="0"/>
          <a:ext cx="0" cy="0"/>
          <a:chOff x="0" y="0"/>
          <a:chExt cx="0" cy="0"/>
        </a:xfrm>
      </p:grpSpPr>
      <p:pic>
        <p:nvPicPr>
          <p:cNvPr id="2" name="Image 0" descr="img/nb_thumb.jpg">    </p:cNvPr>
          <p:cNvPicPr>
            <a:picLocks noChangeAspect="1"/>
          </p:cNvPicPr>
          <p:nvPr/>
        </p:nvPicPr>
        <p:blipFill>
          <a:blip r:embed="rId1"/>
          <a:srcRect l="5074" r="5074" t="0" b="0"/>
          <a:stretch/>
        </p:blipFill>
        <p:spPr>
          <a:xfrm>
            <a:off x="0" y="0"/>
            <a:ext cx="3474720" cy="6858000"/>
          </a:xfrm>
          <a:prstGeom prst="rect">
            <a:avLst/>
          </a:prstGeom>
        </p:spPr>
      </p:pic>
      <p:pic>
        <p:nvPicPr>
          <p:cNvPr id="3" name="Image 1" descr="img/nb_5.3.jpg">    </p:cNvPr>
          <p:cNvPicPr>
            <a:picLocks noChangeAspect="1"/>
          </p:cNvPicPr>
          <p:nvPr/>
        </p:nvPicPr>
        <p:blipFill>
          <a:blip r:embed="rId2"/>
          <a:srcRect l="0" r="0" t="4755" b="4755"/>
          <a:stretch/>
        </p:blipFill>
        <p:spPr>
          <a:xfrm>
            <a:off x="3566160" y="0"/>
            <a:ext cx="2103120" cy="3383280"/>
          </a:xfrm>
          <a:prstGeom prst="rect">
            <a:avLst/>
          </a:prstGeom>
        </p:spPr>
      </p:pic>
      <p:pic>
        <p:nvPicPr>
          <p:cNvPr id="4" name="Image 2" descr="img/nb_11.5.jpg">    </p:cNvPr>
          <p:cNvPicPr>
            <a:picLocks noChangeAspect="1"/>
          </p:cNvPicPr>
          <p:nvPr/>
        </p:nvPicPr>
        <p:blipFill>
          <a:blip r:embed="rId3"/>
          <a:srcRect l="0" r="0" t="4280" b="5231"/>
          <a:stretch/>
        </p:blipFill>
        <p:spPr>
          <a:xfrm>
            <a:off x="3566160" y="3474720"/>
            <a:ext cx="2103120" cy="3383280"/>
          </a:xfrm>
          <a:prstGeom prst="rect">
            <a:avLst/>
          </a:prstGeom>
        </p:spPr>
      </p:pic>
      <p:sp>
        <p:nvSpPr>
          <p:cNvPr id="5" name="Text 0"/>
          <p:cNvSpPr txBox="1"/>
          <p:nvPr/>
        </p:nvSpPr>
        <p:spPr>
          <a:xfrm>
            <a:off x="6309360" y="566928"/>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7. Riferimenti</a:t>
            </a:r>
            <a:endParaRPr lang="en-US" sz="1300" dirty="0"/>
          </a:p>
        </p:txBody>
      </p:sp>
      <p:sp>
        <p:nvSpPr>
          <p:cNvPr id="6" name="Text 1"/>
          <p:cNvSpPr txBox="1"/>
          <p:nvPr/>
        </p:nvSpPr>
        <p:spPr>
          <a:xfrm>
            <a:off x="6309360" y="822960"/>
            <a:ext cx="5196535"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Film Instagram, dal colonnato alla città</a:t>
            </a:r>
            <a:endParaRPr lang="en-US" sz="1300" dirty="0"/>
          </a:p>
        </p:txBody>
      </p:sp>
      <p:sp>
        <p:nvSpPr>
          <p:cNvPr id="7" name="Text 2"/>
          <p:cNvSpPr txBox="1"/>
          <p:nvPr/>
        </p:nvSpPr>
        <p:spPr>
          <a:xfrm>
            <a:off x="6309360" y="1234440"/>
            <a:ext cx="5196535" cy="6400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Natali Bolgar</a:t>
            </a:r>
            <a:endParaRPr lang="en-US" sz="3200" dirty="0"/>
          </a:p>
        </p:txBody>
      </p:sp>
      <p:sp>
        <p:nvSpPr>
          <p:cNvPr id="8" name="Text 3"/>
          <p:cNvSpPr txBox="1"/>
          <p:nvPr/>
        </p:nvSpPr>
        <p:spPr>
          <a:xfrm>
            <a:off x="6309360" y="2011680"/>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Cosa vediamo</a:t>
            </a:r>
            <a:endParaRPr lang="en-US" sz="1300" dirty="0"/>
          </a:p>
        </p:txBody>
      </p:sp>
      <p:sp>
        <p:nvSpPr>
          <p:cNvPr id="9" name="Text 4"/>
          <p:cNvSpPr txBox="1"/>
          <p:nvPr/>
        </p:nvSpPr>
        <p:spPr>
          <a:xfrm>
            <a:off x="6309360" y="2304288"/>
            <a:ext cx="5196535" cy="1005840"/>
          </a:xfrm>
          <a:prstGeom prst="rect">
            <a:avLst/>
          </a:prstGeom>
          <a:noFill/>
          <a:ln/>
        </p:spPr>
        <p:txBody>
          <a:bodyPr wrap="square" lIns="0" tIns="0" rIns="0" bIns="0" rtlCol="0" anchor="t"/>
          <a:lstStyle/>
          <a:p>
            <a:pPr indent="0" marL="0">
              <a:buNone/>
            </a:pPr>
            <a:r>
              <a:rPr lang="en-US" sz="1350" dirty="0">
                <a:solidFill>
                  <a:srgbClr val="2B2C20"/>
                </a:solidFill>
                <a:latin typeface="Titillium Web Light" pitchFamily="34" charset="0"/>
                <a:ea typeface="Titillium Web Light" pitchFamily="34" charset="-122"/>
                <a:cs typeface="Titillium Web Light" pitchFamily="34" charset="-120"/>
              </a:rPr>
              <a:t>Si apre con lei che passa di corsa tra le colonne. Poi la città usata come architettura: strisce viste dall’alto, scale, un ascensore.</a:t>
            </a:r>
            <a:endParaRPr lang="en-US" sz="1350" dirty="0"/>
          </a:p>
        </p:txBody>
      </p:sp>
      <p:sp>
        <p:nvSpPr>
          <p:cNvPr id="10" name="Text 5"/>
          <p:cNvSpPr txBox="1"/>
          <p:nvPr/>
        </p:nvSpPr>
        <p:spPr>
          <a:xfrm>
            <a:off x="6309360" y="3429000"/>
            <a:ext cx="5196535"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Cosa prendiamo per Tirabasso</a:t>
            </a:r>
            <a:endParaRPr lang="en-US" sz="1300" dirty="0"/>
          </a:p>
        </p:txBody>
      </p:sp>
      <p:sp>
        <p:nvSpPr>
          <p:cNvPr id="11" name="Text 6"/>
          <p:cNvSpPr txBox="1"/>
          <p:nvPr/>
        </p:nvSpPr>
        <p:spPr>
          <a:xfrm>
            <a:off x="6309360" y="3721608"/>
            <a:ext cx="5196535" cy="1280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La scena iniziale: lei che attraversa un colonnato</a:t>
            </a:r>
            <a:endParaRPr lang="en-US" sz="1350" dirty="0"/>
          </a:p>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La città come geometria: dall’alto, le scale, l’ascensore</a:t>
            </a:r>
            <a:endParaRPr lang="en-US" sz="1350" dirty="0"/>
          </a:p>
          <a:p>
            <a:pPr marL="203200" indent="-203200">
              <a:spcAft>
                <a:spcPts val="600"/>
              </a:spcAft>
              <a:buSzPct val="100000"/>
              <a:buChar char="—"/>
            </a:pPr>
            <a:r>
              <a:rPr lang="en-US" sz="1350" dirty="0">
                <a:solidFill>
                  <a:srgbClr val="2B2C20"/>
                </a:solidFill>
                <a:latin typeface="Titillium Web Light" pitchFamily="34" charset="0"/>
                <a:ea typeface="Titillium Web Light" pitchFamily="34" charset="-122"/>
                <a:cs typeface="Titillium Web Light" pitchFamily="34" charset="-120"/>
              </a:rPr>
              <a:t>La figura intera, piccola dentro l’architettura</a:t>
            </a:r>
            <a:endParaRPr lang="en-US" sz="1350" dirty="0"/>
          </a:p>
        </p:txBody>
      </p:sp>
      <p:sp>
        <p:nvSpPr>
          <p:cNvPr id="12" name="Text 7"/>
          <p:cNvSpPr txBox="1"/>
          <p:nvPr/>
        </p:nvSpPr>
        <p:spPr>
          <a:xfrm>
            <a:off x="6309360" y="4983480"/>
            <a:ext cx="5196535" cy="274320"/>
          </a:xfrm>
          <a:prstGeom prst="rect">
            <a:avLst/>
          </a:prstGeom>
          <a:noFill/>
          <a:ln/>
        </p:spPr>
        <p:txBody>
          <a:bodyPr wrap="square" lIns="0" tIns="0" rIns="0" bIns="0" rtlCol="0" anchor="t"/>
          <a:lstStyle/>
          <a:p>
            <a:pPr indent="0" marL="0">
              <a:buNone/>
            </a:pPr>
            <a:r>
              <a:rPr lang="en-US" sz="1300" b="1" dirty="0">
                <a:solidFill>
                  <a:srgbClr val="8A8474"/>
                </a:solidFill>
                <a:latin typeface="Titillium Web" pitchFamily="34" charset="0"/>
                <a:ea typeface="Titillium Web" pitchFamily="34" charset="-122"/>
                <a:cs typeface="Titillium Web" pitchFamily="34" charset="-120"/>
              </a:rPr>
              <a:t>Cosa lasciamo</a:t>
            </a:r>
            <a:endParaRPr lang="en-US" sz="1300" dirty="0"/>
          </a:p>
        </p:txBody>
      </p:sp>
      <p:sp>
        <p:nvSpPr>
          <p:cNvPr id="13" name="Text 8"/>
          <p:cNvSpPr txBox="1"/>
          <p:nvPr/>
        </p:nvSpPr>
        <p:spPr>
          <a:xfrm>
            <a:off x="6309360" y="5276088"/>
            <a:ext cx="5196535" cy="91440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8A8474"/>
                </a:solidFill>
                <a:latin typeface="Titillium Web Light" pitchFamily="34" charset="0"/>
                <a:ea typeface="Titillium Web Light" pitchFamily="34" charset="-122"/>
                <a:cs typeface="Titillium Web Light" pitchFamily="34" charset="-120"/>
              </a:rPr>
              <a:t>Il ritmo veloce e il tono troppo smart</a:t>
            </a:r>
            <a:endParaRPr lang="en-US" sz="1350" dirty="0"/>
          </a:p>
          <a:p>
            <a:pPr marL="203200" indent="-203200">
              <a:spcAft>
                <a:spcPts val="600"/>
              </a:spcAft>
              <a:buSzPct val="100000"/>
              <a:buChar char="—"/>
            </a:pPr>
            <a:r>
              <a:rPr lang="en-US" sz="1350" dirty="0">
                <a:solidFill>
                  <a:srgbClr val="8A8474"/>
                </a:solidFill>
                <a:latin typeface="Titillium Web Light" pitchFamily="34" charset="0"/>
                <a:ea typeface="Titillium Web Light" pitchFamily="34" charset="-122"/>
                <a:cs typeface="Titillium Web Light" pitchFamily="34" charset="-120"/>
              </a:rPr>
              <a:t>I primi piani al volto</a:t>
            </a:r>
            <a:endParaRPr lang="en-US" sz="1350" dirty="0"/>
          </a:p>
        </p:txBody>
      </p:sp>
      <p:pic>
        <p:nvPicPr>
          <p:cNvPr id="15" name="Image 3" descr="img/badge_white.png">    </p:cNvPr>
          <p:cNvPicPr>
            <a:picLocks noChangeAspect="1"/>
          </p:cNvPicPr>
          <p:nvPr/>
        </p:nvPicPr>
        <p:blipFill>
          <a:blip r:embed="rId4"/>
          <a:stretch>
            <a:fillRect/>
          </a:stretch>
        </p:blipFill>
        <p:spPr>
          <a:xfrm>
            <a:off x="11533327" y="6199632"/>
            <a:ext cx="274320" cy="274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7E3D3"/>
        </a:solidFill>
      </p:bgPr>
    </p:bg>
    <p:spTree>
      <p:nvGrpSpPr>
        <p:cNvPr id="1" name=""/>
        <p:cNvGrpSpPr/>
        <p:nvPr/>
      </p:nvGrpSpPr>
      <p:grpSpPr>
        <a:xfrm>
          <a:off x="0" y="0"/>
          <a:ext cx="0" cy="0"/>
          <a:chOff x="0" y="0"/>
          <a:chExt cx="0" cy="0"/>
        </a:xfrm>
      </p:grpSpPr>
      <p:sp>
        <p:nvSpPr>
          <p:cNvPr id="2" name="Text 0"/>
          <p:cNvSpPr txBox="1"/>
          <p:nvPr/>
        </p:nvSpPr>
        <p:spPr>
          <a:xfrm>
            <a:off x="685800" y="566928"/>
            <a:ext cx="1005840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8. Il racconto</a:t>
            </a:r>
            <a:endParaRPr lang="en-US" sz="1300" dirty="0"/>
          </a:p>
        </p:txBody>
      </p:sp>
      <p:sp>
        <p:nvSpPr>
          <p:cNvPr id="3" name="Text 1"/>
          <p:cNvSpPr txBox="1"/>
          <p:nvPr/>
        </p:nvSpPr>
        <p:spPr>
          <a:xfrm>
            <a:off x="685800" y="822960"/>
            <a:ext cx="1005840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La sequenza</a:t>
            </a:r>
            <a:endParaRPr lang="en-US" sz="1300" dirty="0"/>
          </a:p>
        </p:txBody>
      </p:sp>
      <p:sp>
        <p:nvSpPr>
          <p:cNvPr id="4" name="Text 2"/>
          <p:cNvSpPr txBox="1"/>
          <p:nvPr/>
        </p:nvSpPr>
        <p:spPr>
          <a:xfrm>
            <a:off x="685800" y="1234440"/>
            <a:ext cx="10058400" cy="6400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La giornata in sette scene</a:t>
            </a:r>
            <a:endParaRPr lang="en-US" sz="3200" dirty="0"/>
          </a:p>
        </p:txBody>
      </p:sp>
      <p:sp>
        <p:nvSpPr>
          <p:cNvPr id="5" name="Shape 3"/>
          <p:cNvSpPr/>
          <p:nvPr/>
        </p:nvSpPr>
        <p:spPr>
          <a:xfrm>
            <a:off x="685800" y="1874520"/>
            <a:ext cx="2560320" cy="2011680"/>
          </a:xfrm>
          <a:prstGeom prst="rect">
            <a:avLst/>
          </a:prstGeom>
          <a:solidFill>
            <a:srgbClr val="F1EEE4"/>
          </a:solidFill>
          <a:ln w="12700">
            <a:solidFill>
              <a:srgbClr val="F1EEE4"/>
            </a:solidFill>
            <a:prstDash val="solid"/>
          </a:ln>
        </p:spPr>
      </p:sp>
      <p:sp>
        <p:nvSpPr>
          <p:cNvPr id="6" name="Text 4"/>
          <p:cNvSpPr txBox="1"/>
          <p:nvPr/>
        </p:nvSpPr>
        <p:spPr>
          <a:xfrm>
            <a:off x="914400" y="2057400"/>
            <a:ext cx="914400" cy="45720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01</a:t>
            </a:r>
            <a:endParaRPr lang="en-US" sz="2400" dirty="0"/>
          </a:p>
        </p:txBody>
      </p:sp>
      <p:sp>
        <p:nvSpPr>
          <p:cNvPr id="7" name="Text 5"/>
          <p:cNvSpPr txBox="1"/>
          <p:nvPr/>
        </p:nvSpPr>
        <p:spPr>
          <a:xfrm>
            <a:off x="914400" y="2606040"/>
            <a:ext cx="210312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L’uscita</a:t>
            </a:r>
            <a:endParaRPr lang="en-US" sz="1400" dirty="0"/>
          </a:p>
        </p:txBody>
      </p:sp>
      <p:sp>
        <p:nvSpPr>
          <p:cNvPr id="8" name="Text 6"/>
          <p:cNvSpPr txBox="1"/>
          <p:nvPr/>
        </p:nvSpPr>
        <p:spPr>
          <a:xfrm>
            <a:off x="914400" y="2953512"/>
            <a:ext cx="2103120"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Un portone si apre su una via haussmanniana. Lei sistema un guanto e parte.</a:t>
            </a:r>
            <a:endParaRPr lang="en-US" sz="1200" dirty="0"/>
          </a:p>
        </p:txBody>
      </p:sp>
      <p:sp>
        <p:nvSpPr>
          <p:cNvPr id="9" name="Shape 7"/>
          <p:cNvSpPr/>
          <p:nvPr/>
        </p:nvSpPr>
        <p:spPr>
          <a:xfrm>
            <a:off x="3429000" y="1874520"/>
            <a:ext cx="2560320" cy="2011680"/>
          </a:xfrm>
          <a:prstGeom prst="rect">
            <a:avLst/>
          </a:prstGeom>
          <a:solidFill>
            <a:srgbClr val="F1EEE4"/>
          </a:solidFill>
          <a:ln w="12700">
            <a:solidFill>
              <a:srgbClr val="F1EEE4"/>
            </a:solidFill>
            <a:prstDash val="solid"/>
          </a:ln>
        </p:spPr>
      </p:sp>
      <p:sp>
        <p:nvSpPr>
          <p:cNvPr id="10" name="Text 8"/>
          <p:cNvSpPr txBox="1"/>
          <p:nvPr/>
        </p:nvSpPr>
        <p:spPr>
          <a:xfrm>
            <a:off x="3657600" y="2057400"/>
            <a:ext cx="914400" cy="45720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02</a:t>
            </a:r>
            <a:endParaRPr lang="en-US" sz="2400" dirty="0"/>
          </a:p>
        </p:txBody>
      </p:sp>
      <p:sp>
        <p:nvSpPr>
          <p:cNvPr id="11" name="Text 9"/>
          <p:cNvSpPr txBox="1"/>
          <p:nvPr/>
        </p:nvSpPr>
        <p:spPr>
          <a:xfrm>
            <a:off x="3657600" y="2606040"/>
            <a:ext cx="210312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L’attraversamento</a:t>
            </a:r>
            <a:endParaRPr lang="en-US" sz="1400" dirty="0"/>
          </a:p>
        </p:txBody>
      </p:sp>
      <p:sp>
        <p:nvSpPr>
          <p:cNvPr id="12" name="Text 10"/>
          <p:cNvSpPr txBox="1"/>
          <p:nvPr/>
        </p:nvSpPr>
        <p:spPr>
          <a:xfrm>
            <a:off x="3657600" y="2953512"/>
            <a:ext cx="2103120"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Strisce bagnate, il cappotto che si apre nel passo. Vista dal marciapiede opposto.</a:t>
            </a:r>
            <a:endParaRPr lang="en-US" sz="1200" dirty="0"/>
          </a:p>
        </p:txBody>
      </p:sp>
      <p:sp>
        <p:nvSpPr>
          <p:cNvPr id="13" name="Shape 11"/>
          <p:cNvSpPr/>
          <p:nvPr/>
        </p:nvSpPr>
        <p:spPr>
          <a:xfrm>
            <a:off x="6172200" y="1874520"/>
            <a:ext cx="2560320" cy="2011680"/>
          </a:xfrm>
          <a:prstGeom prst="rect">
            <a:avLst/>
          </a:prstGeom>
          <a:solidFill>
            <a:srgbClr val="F1EEE4"/>
          </a:solidFill>
          <a:ln w="12700">
            <a:solidFill>
              <a:srgbClr val="F1EEE4"/>
            </a:solidFill>
            <a:prstDash val="solid"/>
          </a:ln>
        </p:spPr>
      </p:sp>
      <p:sp>
        <p:nvSpPr>
          <p:cNvPr id="14" name="Text 12"/>
          <p:cNvSpPr txBox="1"/>
          <p:nvPr/>
        </p:nvSpPr>
        <p:spPr>
          <a:xfrm>
            <a:off x="6400800" y="2057400"/>
            <a:ext cx="914400" cy="45720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03</a:t>
            </a:r>
            <a:endParaRPr lang="en-US" sz="2400" dirty="0"/>
          </a:p>
        </p:txBody>
      </p:sp>
      <p:sp>
        <p:nvSpPr>
          <p:cNvPr id="15" name="Text 13"/>
          <p:cNvSpPr txBox="1"/>
          <p:nvPr/>
        </p:nvSpPr>
        <p:spPr>
          <a:xfrm>
            <a:off x="6400800" y="2606040"/>
            <a:ext cx="210312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Il caffè</a:t>
            </a:r>
            <a:endParaRPr lang="en-US" sz="1400" dirty="0"/>
          </a:p>
        </p:txBody>
      </p:sp>
      <p:sp>
        <p:nvSpPr>
          <p:cNvPr id="16" name="Text 14"/>
          <p:cNvSpPr txBox="1"/>
          <p:nvPr/>
        </p:nvSpPr>
        <p:spPr>
          <a:xfrm>
            <a:off x="6400800" y="2953512"/>
            <a:ext cx="2103120"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Dietro il vetro di un bistrot: la tazzina, il rossetto, lo sguardo fuori.</a:t>
            </a:r>
            <a:endParaRPr lang="en-US" sz="1200" dirty="0"/>
          </a:p>
        </p:txBody>
      </p:sp>
      <p:sp>
        <p:nvSpPr>
          <p:cNvPr id="17" name="Shape 15"/>
          <p:cNvSpPr/>
          <p:nvPr/>
        </p:nvSpPr>
        <p:spPr>
          <a:xfrm>
            <a:off x="8915400" y="1874520"/>
            <a:ext cx="2560320" cy="2011680"/>
          </a:xfrm>
          <a:prstGeom prst="rect">
            <a:avLst/>
          </a:prstGeom>
          <a:solidFill>
            <a:srgbClr val="F1EEE4"/>
          </a:solidFill>
          <a:ln w="12700">
            <a:solidFill>
              <a:srgbClr val="F1EEE4"/>
            </a:solidFill>
            <a:prstDash val="solid"/>
          </a:ln>
        </p:spPr>
      </p:sp>
      <p:sp>
        <p:nvSpPr>
          <p:cNvPr id="18" name="Text 16"/>
          <p:cNvSpPr txBox="1"/>
          <p:nvPr/>
        </p:nvSpPr>
        <p:spPr>
          <a:xfrm>
            <a:off x="9144000" y="2057400"/>
            <a:ext cx="914400" cy="45720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04</a:t>
            </a:r>
            <a:endParaRPr lang="en-US" sz="2400" dirty="0"/>
          </a:p>
        </p:txBody>
      </p:sp>
      <p:sp>
        <p:nvSpPr>
          <p:cNvPr id="19" name="Text 17"/>
          <p:cNvSpPr txBox="1"/>
          <p:nvPr/>
        </p:nvSpPr>
        <p:spPr>
          <a:xfrm>
            <a:off x="9144000" y="2606040"/>
            <a:ext cx="210312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La metro</a:t>
            </a:r>
            <a:endParaRPr lang="en-US" sz="1400" dirty="0"/>
          </a:p>
        </p:txBody>
      </p:sp>
      <p:sp>
        <p:nvSpPr>
          <p:cNvPr id="20" name="Text 18"/>
          <p:cNvSpPr txBox="1"/>
          <p:nvPr/>
        </p:nvSpPr>
        <p:spPr>
          <a:xfrm>
            <a:off x="9144000" y="2953512"/>
            <a:ext cx="2103120"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Scende sotto un ingresso Guimard. Il corrimano, il treno che arriva.</a:t>
            </a:r>
            <a:endParaRPr lang="en-US" sz="1200" dirty="0"/>
          </a:p>
        </p:txBody>
      </p:sp>
      <p:sp>
        <p:nvSpPr>
          <p:cNvPr id="21" name="Shape 19"/>
          <p:cNvSpPr/>
          <p:nvPr/>
        </p:nvSpPr>
        <p:spPr>
          <a:xfrm>
            <a:off x="685800" y="4069080"/>
            <a:ext cx="2560320" cy="2011680"/>
          </a:xfrm>
          <a:prstGeom prst="rect">
            <a:avLst/>
          </a:prstGeom>
          <a:solidFill>
            <a:srgbClr val="F1EEE4"/>
          </a:solidFill>
          <a:ln w="12700">
            <a:solidFill>
              <a:srgbClr val="F1EEE4"/>
            </a:solidFill>
            <a:prstDash val="solid"/>
          </a:ln>
        </p:spPr>
      </p:sp>
      <p:sp>
        <p:nvSpPr>
          <p:cNvPr id="22" name="Text 20"/>
          <p:cNvSpPr txBox="1"/>
          <p:nvPr/>
        </p:nvSpPr>
        <p:spPr>
          <a:xfrm>
            <a:off x="914400" y="4251960"/>
            <a:ext cx="914400" cy="45720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05</a:t>
            </a:r>
            <a:endParaRPr lang="en-US" sz="2400" dirty="0"/>
          </a:p>
        </p:txBody>
      </p:sp>
      <p:sp>
        <p:nvSpPr>
          <p:cNvPr id="23" name="Text 21"/>
          <p:cNvSpPr txBox="1"/>
          <p:nvPr/>
        </p:nvSpPr>
        <p:spPr>
          <a:xfrm>
            <a:off x="914400" y="4800600"/>
            <a:ext cx="210312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L’ascensore</a:t>
            </a:r>
            <a:endParaRPr lang="en-US" sz="1400" dirty="0"/>
          </a:p>
        </p:txBody>
      </p:sp>
      <p:sp>
        <p:nvSpPr>
          <p:cNvPr id="24" name="Text 22"/>
          <p:cNvSpPr txBox="1"/>
          <p:nvPr/>
        </p:nvSpPr>
        <p:spPr>
          <a:xfrm>
            <a:off x="914400" y="5148072"/>
            <a:ext cx="2103120"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Un ascensore a gabbia o in legno in un palazzo elegante. Pochi secondi sospesi.</a:t>
            </a:r>
            <a:endParaRPr lang="en-US" sz="1200" dirty="0"/>
          </a:p>
        </p:txBody>
      </p:sp>
      <p:sp>
        <p:nvSpPr>
          <p:cNvPr id="25" name="Shape 23"/>
          <p:cNvSpPr/>
          <p:nvPr/>
        </p:nvSpPr>
        <p:spPr>
          <a:xfrm>
            <a:off x="3429000" y="4069080"/>
            <a:ext cx="2560320" cy="2011680"/>
          </a:xfrm>
          <a:prstGeom prst="rect">
            <a:avLst/>
          </a:prstGeom>
          <a:solidFill>
            <a:srgbClr val="F1EEE4"/>
          </a:solidFill>
          <a:ln w="12700">
            <a:solidFill>
              <a:srgbClr val="F1EEE4"/>
            </a:solidFill>
            <a:prstDash val="solid"/>
          </a:ln>
        </p:spPr>
      </p:sp>
      <p:sp>
        <p:nvSpPr>
          <p:cNvPr id="26" name="Text 24"/>
          <p:cNvSpPr txBox="1"/>
          <p:nvPr/>
        </p:nvSpPr>
        <p:spPr>
          <a:xfrm>
            <a:off x="3657600" y="4251960"/>
            <a:ext cx="914400" cy="45720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06</a:t>
            </a:r>
            <a:endParaRPr lang="en-US" sz="2400" dirty="0"/>
          </a:p>
        </p:txBody>
      </p:sp>
      <p:sp>
        <p:nvSpPr>
          <p:cNvPr id="27" name="Text 25"/>
          <p:cNvSpPr txBox="1"/>
          <p:nvPr/>
        </p:nvSpPr>
        <p:spPr>
          <a:xfrm>
            <a:off x="3657600" y="4800600"/>
            <a:ext cx="210312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Il riparo</a:t>
            </a:r>
            <a:endParaRPr lang="en-US" sz="1400" dirty="0"/>
          </a:p>
        </p:txBody>
      </p:sp>
      <p:sp>
        <p:nvSpPr>
          <p:cNvPr id="28" name="Text 26"/>
          <p:cNvSpPr txBox="1"/>
          <p:nvPr/>
        </p:nvSpPr>
        <p:spPr>
          <a:xfrm>
            <a:off x="3657600" y="5148072"/>
            <a:ext cx="2103120"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La pioggia la ferma sotto un portico. Un dettaglio stretto sul cappello, la pioggia sulla tesa.</a:t>
            </a:r>
            <a:endParaRPr lang="en-US" sz="1200" dirty="0"/>
          </a:p>
        </p:txBody>
      </p:sp>
      <p:sp>
        <p:nvSpPr>
          <p:cNvPr id="29" name="Shape 27"/>
          <p:cNvSpPr/>
          <p:nvPr/>
        </p:nvSpPr>
        <p:spPr>
          <a:xfrm>
            <a:off x="6172200" y="4069080"/>
            <a:ext cx="2560320" cy="2011680"/>
          </a:xfrm>
          <a:prstGeom prst="rect">
            <a:avLst/>
          </a:prstGeom>
          <a:solidFill>
            <a:srgbClr val="F1EEE4"/>
          </a:solidFill>
          <a:ln w="12700">
            <a:solidFill>
              <a:srgbClr val="F1EEE4"/>
            </a:solidFill>
            <a:prstDash val="solid"/>
          </a:ln>
        </p:spPr>
      </p:sp>
      <p:sp>
        <p:nvSpPr>
          <p:cNvPr id="30" name="Text 28"/>
          <p:cNvSpPr txBox="1"/>
          <p:nvPr/>
        </p:nvSpPr>
        <p:spPr>
          <a:xfrm>
            <a:off x="6400800" y="4251960"/>
            <a:ext cx="914400" cy="45720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07</a:t>
            </a:r>
            <a:endParaRPr lang="en-US" sz="2400" dirty="0"/>
          </a:p>
        </p:txBody>
      </p:sp>
      <p:sp>
        <p:nvSpPr>
          <p:cNvPr id="31" name="Text 29"/>
          <p:cNvSpPr txBox="1"/>
          <p:nvPr/>
        </p:nvSpPr>
        <p:spPr>
          <a:xfrm>
            <a:off x="6400800" y="4800600"/>
            <a:ext cx="2103120" cy="320040"/>
          </a:xfrm>
          <a:prstGeom prst="rect">
            <a:avLst/>
          </a:prstGeom>
          <a:noFill/>
          <a:ln/>
        </p:spPr>
        <p:txBody>
          <a:bodyPr wrap="square" lIns="0" tIns="0" rIns="0" bIns="0" rtlCol="0" anchor="t"/>
          <a:lstStyle/>
          <a:p>
            <a:pPr indent="0" marL="0">
              <a:buNone/>
            </a:pPr>
            <a:r>
              <a:rPr lang="en-US" sz="1400" b="1" dirty="0">
                <a:solidFill>
                  <a:srgbClr val="2B2C20"/>
                </a:solidFill>
                <a:latin typeface="Titillium Web" pitchFamily="34" charset="0"/>
                <a:ea typeface="Titillium Web" pitchFamily="34" charset="-122"/>
                <a:cs typeface="Titillium Web" pitchFamily="34" charset="-120"/>
              </a:rPr>
              <a:t>La passeggiata</a:t>
            </a:r>
            <a:endParaRPr lang="en-US" sz="1400" dirty="0"/>
          </a:p>
        </p:txBody>
      </p:sp>
      <p:sp>
        <p:nvSpPr>
          <p:cNvPr id="32" name="Text 30"/>
          <p:cNvSpPr txBox="1"/>
          <p:nvPr/>
        </p:nvSpPr>
        <p:spPr>
          <a:xfrm>
            <a:off x="6400800" y="5148072"/>
            <a:ext cx="2103120"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Nebbia e foglie secche in un giardino. La figura si allontana.</a:t>
            </a:r>
            <a:endParaRPr lang="en-US" sz="1200" dirty="0"/>
          </a:p>
        </p:txBody>
      </p:sp>
      <p:pic>
        <p:nvPicPr>
          <p:cNvPr id="33" name="Image 0" descr="img/cafe.jpg">    </p:cNvPr>
          <p:cNvPicPr>
            <a:picLocks noChangeAspect="1"/>
          </p:cNvPicPr>
          <p:nvPr/>
        </p:nvPicPr>
        <p:blipFill>
          <a:blip r:embed="rId1"/>
          <a:srcRect l="0" r="0" t="19867" b="24282"/>
          <a:stretch/>
        </p:blipFill>
        <p:spPr>
          <a:xfrm>
            <a:off x="8915400" y="4069080"/>
            <a:ext cx="2560320" cy="2011680"/>
          </a:xfrm>
          <a:prstGeom prst="rect">
            <a:avLst/>
          </a:prstGeom>
        </p:spPr>
      </p:pic>
      <p:pic>
        <p:nvPicPr>
          <p:cNvPr id="35" name="Image 1" descr="img/badge_white.png">    </p:cNvPr>
          <p:cNvPicPr>
            <a:picLocks noChangeAspect="1"/>
          </p:cNvPicPr>
          <p:nvPr/>
        </p:nvPicPr>
        <p:blipFill>
          <a:blip r:embed="rId2"/>
          <a:stretch>
            <a:fillRect/>
          </a:stretch>
        </p:blipFill>
        <p:spPr>
          <a:xfrm>
            <a:off x="11533327" y="6199632"/>
            <a:ext cx="274320" cy="274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7E3D3"/>
        </a:solidFill>
      </p:bgPr>
    </p:bg>
    <p:spTree>
      <p:nvGrpSpPr>
        <p:cNvPr id="1" name=""/>
        <p:cNvGrpSpPr/>
        <p:nvPr/>
      </p:nvGrpSpPr>
      <p:grpSpPr>
        <a:xfrm>
          <a:off x="0" y="0"/>
          <a:ext cx="0" cy="0"/>
          <a:chOff x="0" y="0"/>
          <a:chExt cx="0" cy="0"/>
        </a:xfrm>
      </p:grpSpPr>
      <p:sp>
        <p:nvSpPr>
          <p:cNvPr id="2" name="Text 0"/>
          <p:cNvSpPr txBox="1"/>
          <p:nvPr/>
        </p:nvSpPr>
        <p:spPr>
          <a:xfrm>
            <a:off x="685800" y="566928"/>
            <a:ext cx="2609012"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8. Il racconto</a:t>
            </a:r>
            <a:endParaRPr lang="en-US" sz="1300" dirty="0"/>
          </a:p>
        </p:txBody>
      </p:sp>
      <p:sp>
        <p:nvSpPr>
          <p:cNvPr id="3" name="Text 1"/>
          <p:cNvSpPr txBox="1"/>
          <p:nvPr/>
        </p:nvSpPr>
        <p:spPr>
          <a:xfrm>
            <a:off x="685800" y="822960"/>
            <a:ext cx="2609012"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Moodboard · 1</a:t>
            </a:r>
            <a:endParaRPr lang="en-US" sz="1300" dirty="0"/>
          </a:p>
        </p:txBody>
      </p:sp>
      <p:sp>
        <p:nvSpPr>
          <p:cNvPr id="4" name="Text 2"/>
          <p:cNvSpPr txBox="1"/>
          <p:nvPr/>
        </p:nvSpPr>
        <p:spPr>
          <a:xfrm>
            <a:off x="685800" y="1280160"/>
            <a:ext cx="2609012" cy="1005840"/>
          </a:xfrm>
          <a:prstGeom prst="rect">
            <a:avLst/>
          </a:prstGeom>
          <a:noFill/>
          <a:ln/>
        </p:spPr>
        <p:txBody>
          <a:bodyPr wrap="square" lIns="0" tIns="0" rIns="0" bIns="0" rtlCol="0" anchor="t"/>
          <a:lstStyle/>
          <a:p>
            <a:pPr indent="0" marL="0">
              <a:lnSpc>
                <a:spcPct val="95000"/>
              </a:lnSpc>
              <a:buNone/>
            </a:pPr>
            <a:r>
              <a:rPr lang="en-US" sz="2400" b="1" dirty="0">
                <a:solidFill>
                  <a:srgbClr val="C75033"/>
                </a:solidFill>
                <a:latin typeface="Titillium Web" pitchFamily="34" charset="0"/>
                <a:ea typeface="Titillium Web" pitchFamily="34" charset="-122"/>
                <a:cs typeface="Titillium Web" pitchFamily="34" charset="-120"/>
              </a:rPr>
              <a:t>La città in movimento</a:t>
            </a:r>
            <a:endParaRPr lang="en-US" sz="2400" dirty="0"/>
          </a:p>
        </p:txBody>
      </p:sp>
      <p:sp>
        <p:nvSpPr>
          <p:cNvPr id="5" name="Text 3"/>
          <p:cNvSpPr txBox="1"/>
          <p:nvPr/>
        </p:nvSpPr>
        <p:spPr>
          <a:xfrm>
            <a:off x="685800" y="2331720"/>
            <a:ext cx="2517572"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Strisce pedonali, marciapiedi bagnati, nebbia, scale mobili e portici: lei sempre di passaggio, mai in posa.</a:t>
            </a:r>
            <a:endParaRPr lang="en-US" sz="1200" dirty="0"/>
          </a:p>
        </p:txBody>
      </p:sp>
      <p:pic>
        <p:nvPicPr>
          <p:cNvPr id="6" name="Image 0" descr="img/mood3.jpg">    </p:cNvPr>
          <p:cNvPicPr>
            <a:picLocks noChangeAspect="1"/>
          </p:cNvPicPr>
          <p:nvPr/>
        </p:nvPicPr>
        <p:blipFill>
          <a:blip r:embed="rId1"/>
          <a:srcRect l="0" r="0" t="7344" b="4896"/>
          <a:stretch/>
        </p:blipFill>
        <p:spPr>
          <a:xfrm>
            <a:off x="3422828" y="502920"/>
            <a:ext cx="2609012" cy="2862072"/>
          </a:xfrm>
          <a:prstGeom prst="rect">
            <a:avLst/>
          </a:prstGeom>
        </p:spPr>
      </p:pic>
      <p:pic>
        <p:nvPicPr>
          <p:cNvPr id="7" name="Image 1" descr="img/crossing.jpg">    </p:cNvPr>
          <p:cNvPicPr>
            <a:picLocks noChangeAspect="1"/>
          </p:cNvPicPr>
          <p:nvPr/>
        </p:nvPicPr>
        <p:blipFill>
          <a:blip r:embed="rId2"/>
          <a:srcRect l="0" r="0" t="12090" b="14777"/>
          <a:stretch/>
        </p:blipFill>
        <p:spPr>
          <a:xfrm>
            <a:off x="6159856" y="502920"/>
            <a:ext cx="2609012" cy="2862072"/>
          </a:xfrm>
          <a:prstGeom prst="rect">
            <a:avLst/>
          </a:prstGeom>
        </p:spPr>
      </p:pic>
      <p:pic>
        <p:nvPicPr>
          <p:cNvPr id="8" name="Image 2" descr="img/mood8.jpg">    </p:cNvPr>
          <p:cNvPicPr>
            <a:picLocks noChangeAspect="1"/>
          </p:cNvPicPr>
          <p:nvPr/>
        </p:nvPicPr>
        <p:blipFill>
          <a:blip r:embed="rId3"/>
          <a:srcRect l="0" r="0" t="10618" b="7079"/>
          <a:stretch/>
        </p:blipFill>
        <p:spPr>
          <a:xfrm>
            <a:off x="8896883" y="502920"/>
            <a:ext cx="2609012" cy="2862072"/>
          </a:xfrm>
          <a:prstGeom prst="rect">
            <a:avLst/>
          </a:prstGeom>
        </p:spPr>
      </p:pic>
      <p:pic>
        <p:nvPicPr>
          <p:cNvPr id="9" name="Image 3" descr="img/mood9.jpg">    </p:cNvPr>
          <p:cNvPicPr>
            <a:picLocks noChangeAspect="1"/>
          </p:cNvPicPr>
          <p:nvPr/>
        </p:nvPicPr>
        <p:blipFill>
          <a:blip r:embed="rId4"/>
          <a:srcRect l="0" r="0" t="14777" b="12090"/>
          <a:stretch/>
        </p:blipFill>
        <p:spPr>
          <a:xfrm>
            <a:off x="685800" y="3493008"/>
            <a:ext cx="2609012" cy="2862072"/>
          </a:xfrm>
          <a:prstGeom prst="rect">
            <a:avLst/>
          </a:prstGeom>
        </p:spPr>
      </p:pic>
      <p:pic>
        <p:nvPicPr>
          <p:cNvPr id="10" name="Image 4" descr="img/mood1.jpg">    </p:cNvPr>
          <p:cNvPicPr>
            <a:picLocks noChangeAspect="1"/>
          </p:cNvPicPr>
          <p:nvPr/>
        </p:nvPicPr>
        <p:blipFill>
          <a:blip r:embed="rId5"/>
          <a:srcRect l="0" r="0" t="17464" b="9403"/>
          <a:stretch/>
        </p:blipFill>
        <p:spPr>
          <a:xfrm>
            <a:off x="3422828" y="3493008"/>
            <a:ext cx="2609012" cy="2862072"/>
          </a:xfrm>
          <a:prstGeom prst="rect">
            <a:avLst/>
          </a:prstGeom>
        </p:spPr>
      </p:pic>
      <p:pic>
        <p:nvPicPr>
          <p:cNvPr id="11" name="Image 5" descr="img/palais.jpg">    </p:cNvPr>
          <p:cNvPicPr>
            <a:picLocks noChangeAspect="1"/>
          </p:cNvPicPr>
          <p:nvPr/>
        </p:nvPicPr>
        <p:blipFill>
          <a:blip r:embed="rId6"/>
          <a:srcRect l="0" r="0" t="467" b="467"/>
          <a:stretch/>
        </p:blipFill>
        <p:spPr>
          <a:xfrm>
            <a:off x="6159856" y="3493008"/>
            <a:ext cx="2609012" cy="2862072"/>
          </a:xfrm>
          <a:prstGeom prst="rect">
            <a:avLst/>
          </a:prstGeom>
        </p:spPr>
      </p:pic>
      <p:pic>
        <p:nvPicPr>
          <p:cNvPr id="12" name="Image 6" descr="img/column.jpg">    </p:cNvPr>
          <p:cNvPicPr>
            <a:picLocks noChangeAspect="1"/>
          </p:cNvPicPr>
          <p:nvPr/>
        </p:nvPicPr>
        <p:blipFill>
          <a:blip r:embed="rId7"/>
          <a:srcRect l="0" r="0" t="11348" b="7566"/>
          <a:stretch/>
        </p:blipFill>
        <p:spPr>
          <a:xfrm>
            <a:off x="8896883" y="3493008"/>
            <a:ext cx="2609012" cy="28620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7E3D3"/>
        </a:solidFill>
      </p:bgPr>
    </p:bg>
    <p:spTree>
      <p:nvGrpSpPr>
        <p:cNvPr id="1" name=""/>
        <p:cNvGrpSpPr/>
        <p:nvPr/>
      </p:nvGrpSpPr>
      <p:grpSpPr>
        <a:xfrm>
          <a:off x="0" y="0"/>
          <a:ext cx="0" cy="0"/>
          <a:chOff x="0" y="0"/>
          <a:chExt cx="0" cy="0"/>
        </a:xfrm>
      </p:grpSpPr>
      <p:sp>
        <p:nvSpPr>
          <p:cNvPr id="2" name="Text 0"/>
          <p:cNvSpPr txBox="1"/>
          <p:nvPr/>
        </p:nvSpPr>
        <p:spPr>
          <a:xfrm>
            <a:off x="685800" y="566928"/>
            <a:ext cx="2609012"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8. Il racconto</a:t>
            </a:r>
            <a:endParaRPr lang="en-US" sz="1300" dirty="0"/>
          </a:p>
        </p:txBody>
      </p:sp>
      <p:sp>
        <p:nvSpPr>
          <p:cNvPr id="3" name="Text 1"/>
          <p:cNvSpPr txBox="1"/>
          <p:nvPr/>
        </p:nvSpPr>
        <p:spPr>
          <a:xfrm>
            <a:off x="685800" y="822960"/>
            <a:ext cx="2609012"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Moodboard · 2</a:t>
            </a:r>
            <a:endParaRPr lang="en-US" sz="1300" dirty="0"/>
          </a:p>
        </p:txBody>
      </p:sp>
      <p:sp>
        <p:nvSpPr>
          <p:cNvPr id="4" name="Text 2"/>
          <p:cNvSpPr txBox="1"/>
          <p:nvPr/>
        </p:nvSpPr>
        <p:spPr>
          <a:xfrm>
            <a:off x="685800" y="1280160"/>
            <a:ext cx="2609012" cy="1005840"/>
          </a:xfrm>
          <a:prstGeom prst="rect">
            <a:avLst/>
          </a:prstGeom>
          <a:noFill/>
          <a:ln/>
        </p:spPr>
        <p:txBody>
          <a:bodyPr wrap="square" lIns="0" tIns="0" rIns="0" bIns="0" rtlCol="0" anchor="t"/>
          <a:lstStyle/>
          <a:p>
            <a:pPr indent="0" marL="0">
              <a:lnSpc>
                <a:spcPct val="95000"/>
              </a:lnSpc>
              <a:buNone/>
            </a:pPr>
            <a:r>
              <a:rPr lang="en-US" sz="2400" b="1" dirty="0">
                <a:solidFill>
                  <a:srgbClr val="C75033"/>
                </a:solidFill>
                <a:latin typeface="Titillium Web" pitchFamily="34" charset="0"/>
                <a:ea typeface="Titillium Web" pitchFamily="34" charset="-122"/>
                <a:cs typeface="Titillium Web" pitchFamily="34" charset="-120"/>
              </a:rPr>
              <a:t>Interni, pioggia e dettagli</a:t>
            </a:r>
            <a:endParaRPr lang="en-US" sz="2400" dirty="0"/>
          </a:p>
        </p:txBody>
      </p:sp>
      <p:sp>
        <p:nvSpPr>
          <p:cNvPr id="5" name="Text 3"/>
          <p:cNvSpPr txBox="1"/>
          <p:nvPr/>
        </p:nvSpPr>
        <p:spPr>
          <a:xfrm>
            <a:off x="685800" y="2331720"/>
            <a:ext cx="2517572" cy="100584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L’ascensore d’epoca, il riparo sotto l’ombrello, il caffè dietro il vetro. Luce calda dentro, grigio fuori.</a:t>
            </a:r>
            <a:endParaRPr lang="en-US" sz="1200" dirty="0"/>
          </a:p>
        </p:txBody>
      </p:sp>
      <p:pic>
        <p:nvPicPr>
          <p:cNvPr id="6" name="Image 0" descr="img/mood5.jpg">    </p:cNvPr>
          <p:cNvPicPr>
            <a:picLocks noChangeAspect="1"/>
          </p:cNvPicPr>
          <p:nvPr/>
        </p:nvPicPr>
        <p:blipFill>
          <a:blip r:embed="rId1"/>
          <a:srcRect l="0" r="0" t="13172" b="24462"/>
          <a:stretch/>
        </p:blipFill>
        <p:spPr>
          <a:xfrm>
            <a:off x="3422828" y="502920"/>
            <a:ext cx="2609012" cy="2862072"/>
          </a:xfrm>
          <a:prstGeom prst="rect">
            <a:avLst/>
          </a:prstGeom>
        </p:spPr>
      </p:pic>
      <p:pic>
        <p:nvPicPr>
          <p:cNvPr id="7" name="Image 1" descr="img/mood6.jpg">    </p:cNvPr>
          <p:cNvPicPr>
            <a:picLocks noChangeAspect="1"/>
          </p:cNvPicPr>
          <p:nvPr/>
        </p:nvPicPr>
        <p:blipFill>
          <a:blip r:embed="rId2"/>
          <a:srcRect l="0" r="0" t="1030" b="7554"/>
          <a:stretch/>
        </p:blipFill>
        <p:spPr>
          <a:xfrm>
            <a:off x="6159856" y="502920"/>
            <a:ext cx="2609012" cy="2862072"/>
          </a:xfrm>
          <a:prstGeom prst="rect">
            <a:avLst/>
          </a:prstGeom>
        </p:spPr>
      </p:pic>
      <p:pic>
        <p:nvPicPr>
          <p:cNvPr id="8" name="Image 2" descr="img/mood7.jpg">    </p:cNvPr>
          <p:cNvPicPr>
            <a:picLocks noChangeAspect="1"/>
          </p:cNvPicPr>
          <p:nvPr/>
        </p:nvPicPr>
        <p:blipFill>
          <a:blip r:embed="rId3"/>
          <a:srcRect l="0" r="0" t="1642" b="14777"/>
          <a:stretch/>
        </p:blipFill>
        <p:spPr>
          <a:xfrm>
            <a:off x="8896883" y="502920"/>
            <a:ext cx="2609012" cy="2862072"/>
          </a:xfrm>
          <a:prstGeom prst="rect">
            <a:avLst/>
          </a:prstGeom>
        </p:spPr>
      </p:pic>
      <p:pic>
        <p:nvPicPr>
          <p:cNvPr id="9" name="Image 3" descr="img/mood4.jpg">    </p:cNvPr>
          <p:cNvPicPr>
            <a:picLocks noChangeAspect="1"/>
          </p:cNvPicPr>
          <p:nvPr/>
        </p:nvPicPr>
        <p:blipFill>
          <a:blip r:embed="rId4"/>
          <a:srcRect l="0" r="0" t="1259" b="1259"/>
          <a:stretch/>
        </p:blipFill>
        <p:spPr>
          <a:xfrm>
            <a:off x="685800" y="3493008"/>
            <a:ext cx="2609012" cy="2862072"/>
          </a:xfrm>
          <a:prstGeom prst="rect">
            <a:avLst/>
          </a:prstGeom>
        </p:spPr>
      </p:pic>
      <p:pic>
        <p:nvPicPr>
          <p:cNvPr id="10" name="Image 4" descr="img/mood2.jpg">    </p:cNvPr>
          <p:cNvPicPr>
            <a:picLocks noChangeAspect="1"/>
          </p:cNvPicPr>
          <p:nvPr/>
        </p:nvPicPr>
        <p:blipFill>
          <a:blip r:embed="rId5"/>
          <a:srcRect l="0" r="0" t="7062" b="10593"/>
          <a:stretch/>
        </p:blipFill>
        <p:spPr>
          <a:xfrm>
            <a:off x="3422828" y="3493008"/>
            <a:ext cx="2609012" cy="2862072"/>
          </a:xfrm>
          <a:prstGeom prst="rect">
            <a:avLst/>
          </a:prstGeom>
        </p:spPr>
      </p:pic>
      <p:pic>
        <p:nvPicPr>
          <p:cNvPr id="11" name="Image 5" descr="img/cafe.jpg">    </p:cNvPr>
          <p:cNvPicPr>
            <a:picLocks noChangeAspect="1"/>
          </p:cNvPicPr>
          <p:nvPr/>
        </p:nvPicPr>
        <p:blipFill>
          <a:blip r:embed="rId6"/>
          <a:srcRect l="0" r="0" t="7708" b="14314"/>
          <a:stretch/>
        </p:blipFill>
        <p:spPr>
          <a:xfrm>
            <a:off x="6159856" y="3493008"/>
            <a:ext cx="2609012" cy="2862072"/>
          </a:xfrm>
          <a:prstGeom prst="rect">
            <a:avLst/>
          </a:prstGeom>
        </p:spPr>
      </p:pic>
      <p:sp>
        <p:nvSpPr>
          <p:cNvPr id="12" name="Shape 4"/>
          <p:cNvSpPr/>
          <p:nvPr/>
        </p:nvSpPr>
        <p:spPr>
          <a:xfrm>
            <a:off x="8896883" y="3493008"/>
            <a:ext cx="2609012" cy="2862072"/>
          </a:xfrm>
          <a:prstGeom prst="rect">
            <a:avLst/>
          </a:prstGeom>
          <a:solidFill>
            <a:srgbClr val="C75033"/>
          </a:solidFill>
          <a:ln w="12700">
            <a:solidFill>
              <a:srgbClr val="C75033"/>
            </a:solidFill>
            <a:prstDash val="solid"/>
          </a:ln>
        </p:spPr>
      </p:sp>
      <p:sp>
        <p:nvSpPr>
          <p:cNvPr id="13" name="Text 5"/>
          <p:cNvSpPr txBox="1"/>
          <p:nvPr/>
        </p:nvSpPr>
        <p:spPr>
          <a:xfrm>
            <a:off x="9171203" y="3767328"/>
            <a:ext cx="2060372" cy="2313432"/>
          </a:xfrm>
          <a:prstGeom prst="rect">
            <a:avLst/>
          </a:prstGeom>
          <a:noFill/>
          <a:ln/>
        </p:spPr>
        <p:txBody>
          <a:bodyPr wrap="square" lIns="0" tIns="0" rIns="0" bIns="0" rtlCol="0" anchor="b"/>
          <a:lstStyle/>
          <a:p>
            <a:pPr indent="0" marL="0">
              <a:lnSpc>
                <a:spcPct val="95000"/>
              </a:lnSpc>
              <a:buNone/>
            </a:pPr>
            <a:r>
              <a:rPr lang="en-US" sz="2200" b="1" dirty="0">
                <a:solidFill>
                  <a:srgbClr val="FFFFFF"/>
                </a:solidFill>
                <a:latin typeface="Titillium Web" pitchFamily="34" charset="0"/>
                <a:ea typeface="Titillium Web" pitchFamily="34" charset="-122"/>
                <a:cs typeface="Titillium Web" pitchFamily="34" charset="-120"/>
              </a:rPr>
              <a:t>Mai in posa.</a:t>
            </a:r>
            <a:endParaRPr lang="en-US" sz="2200" dirty="0"/>
          </a:p>
          <a:p>
            <a:pPr indent="0" marL="0">
              <a:lnSpc>
                <a:spcPct val="95000"/>
              </a:lnSpc>
              <a:buNone/>
            </a:pPr>
            <a:r>
              <a:rPr lang="en-US" sz="2200" b="1" dirty="0">
                <a:solidFill>
                  <a:srgbClr val="FFFFFF"/>
                </a:solidFill>
                <a:latin typeface="Titillium Web" pitchFamily="34" charset="0"/>
                <a:ea typeface="Titillium Web" pitchFamily="34" charset="-122"/>
                <a:cs typeface="Titillium Web" pitchFamily="34" charset="-120"/>
              </a:rPr>
              <a:t>Sempre in movimento.</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7E3D3"/>
        </a:solidFill>
      </p:bgPr>
    </p:bg>
    <p:spTree>
      <p:nvGrpSpPr>
        <p:cNvPr id="1" name=""/>
        <p:cNvGrpSpPr/>
        <p:nvPr/>
      </p:nvGrpSpPr>
      <p:grpSpPr>
        <a:xfrm>
          <a:off x="0" y="0"/>
          <a:ext cx="0" cy="0"/>
          <a:chOff x="0" y="0"/>
          <a:chExt cx="0" cy="0"/>
        </a:xfrm>
      </p:grpSpPr>
      <p:pic>
        <p:nvPicPr>
          <p:cNvPr id="2" name="Image 0" descr="img/palais.jpg">    </p:cNvPr>
          <p:cNvPicPr>
            <a:picLocks noChangeAspect="1"/>
          </p:cNvPicPr>
          <p:nvPr/>
        </p:nvPicPr>
        <p:blipFill>
          <a:blip r:embed="rId1"/>
          <a:srcRect l="18995" r="18995" t="0" b="0"/>
          <a:stretch/>
        </p:blipFill>
        <p:spPr>
          <a:xfrm>
            <a:off x="8351215" y="0"/>
            <a:ext cx="3840480" cy="6858000"/>
          </a:xfrm>
          <a:prstGeom prst="rect">
            <a:avLst/>
          </a:prstGeom>
        </p:spPr>
      </p:pic>
      <p:sp>
        <p:nvSpPr>
          <p:cNvPr id="3" name="Text 0"/>
          <p:cNvSpPr txBox="1"/>
          <p:nvPr/>
        </p:nvSpPr>
        <p:spPr>
          <a:xfrm>
            <a:off x="685800" y="566928"/>
            <a:ext cx="731520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9. Location</a:t>
            </a:r>
            <a:endParaRPr lang="en-US" sz="1300" dirty="0"/>
          </a:p>
        </p:txBody>
      </p:sp>
      <p:sp>
        <p:nvSpPr>
          <p:cNvPr id="4" name="Text 1"/>
          <p:cNvSpPr txBox="1"/>
          <p:nvPr/>
        </p:nvSpPr>
        <p:spPr>
          <a:xfrm>
            <a:off x="685800" y="822960"/>
            <a:ext cx="731520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Parigi</a:t>
            </a:r>
            <a:endParaRPr lang="en-US" sz="1300" dirty="0"/>
          </a:p>
        </p:txBody>
      </p:sp>
      <p:sp>
        <p:nvSpPr>
          <p:cNvPr id="5" name="Text 2"/>
          <p:cNvSpPr txBox="1"/>
          <p:nvPr/>
        </p:nvSpPr>
        <p:spPr>
          <a:xfrm>
            <a:off x="685800" y="1234440"/>
            <a:ext cx="7315200" cy="6400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Dove a Parigi</a:t>
            </a:r>
            <a:endParaRPr lang="en-US" sz="3200" dirty="0"/>
          </a:p>
        </p:txBody>
      </p:sp>
      <p:sp>
        <p:nvSpPr>
          <p:cNvPr id="6" name="Text 3"/>
          <p:cNvSpPr txBox="1"/>
          <p:nvPr/>
        </p:nvSpPr>
        <p:spPr>
          <a:xfrm>
            <a:off x="685800" y="201168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Uscita e strade</a:t>
            </a:r>
            <a:endParaRPr lang="en-US" sz="1350" dirty="0"/>
          </a:p>
        </p:txBody>
      </p:sp>
      <p:sp>
        <p:nvSpPr>
          <p:cNvPr id="7" name="Text 4"/>
          <p:cNvSpPr txBox="1"/>
          <p:nvPr/>
        </p:nvSpPr>
        <p:spPr>
          <a:xfrm>
            <a:off x="2926080" y="2011680"/>
            <a:ext cx="470916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Saint-Germain, rue du Bac, Marais, 7° arrondissement</a:t>
            </a:r>
            <a:endParaRPr lang="en-US" sz="1250" dirty="0"/>
          </a:p>
        </p:txBody>
      </p:sp>
      <p:sp>
        <p:nvSpPr>
          <p:cNvPr id="8" name="Shape 5"/>
          <p:cNvSpPr/>
          <p:nvPr/>
        </p:nvSpPr>
        <p:spPr>
          <a:xfrm>
            <a:off x="685800" y="2487168"/>
            <a:ext cx="6949440" cy="0"/>
          </a:xfrm>
          <a:prstGeom prst="line">
            <a:avLst/>
          </a:prstGeom>
          <a:noFill/>
          <a:ln w="9525">
            <a:solidFill>
              <a:srgbClr val="C9C2AC"/>
            </a:solidFill>
            <a:prstDash val="solid"/>
          </a:ln>
        </p:spPr>
      </p:sp>
      <p:sp>
        <p:nvSpPr>
          <p:cNvPr id="9" name="Text 6"/>
          <p:cNvSpPr txBox="1"/>
          <p:nvPr/>
        </p:nvSpPr>
        <p:spPr>
          <a:xfrm>
            <a:off x="685800" y="256032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Attraversamento</a:t>
            </a:r>
            <a:endParaRPr lang="en-US" sz="1350" dirty="0"/>
          </a:p>
        </p:txBody>
      </p:sp>
      <p:sp>
        <p:nvSpPr>
          <p:cNvPr id="10" name="Text 7"/>
          <p:cNvSpPr txBox="1"/>
          <p:nvPr/>
        </p:nvSpPr>
        <p:spPr>
          <a:xfrm>
            <a:off x="2926080" y="2560320"/>
            <a:ext cx="470916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Grandi incroci haussmanniani: Opéra, boulevard Saint-Germain</a:t>
            </a:r>
            <a:endParaRPr lang="en-US" sz="1250" dirty="0"/>
          </a:p>
        </p:txBody>
      </p:sp>
      <p:sp>
        <p:nvSpPr>
          <p:cNvPr id="11" name="Shape 8"/>
          <p:cNvSpPr/>
          <p:nvPr/>
        </p:nvSpPr>
        <p:spPr>
          <a:xfrm>
            <a:off x="685800" y="3035808"/>
            <a:ext cx="6949440" cy="0"/>
          </a:xfrm>
          <a:prstGeom prst="line">
            <a:avLst/>
          </a:prstGeom>
          <a:noFill/>
          <a:ln w="9525">
            <a:solidFill>
              <a:srgbClr val="C9C2AC"/>
            </a:solidFill>
            <a:prstDash val="solid"/>
          </a:ln>
        </p:spPr>
      </p:sp>
      <p:sp>
        <p:nvSpPr>
          <p:cNvPr id="12" name="Text 9"/>
          <p:cNvSpPr txBox="1"/>
          <p:nvPr/>
        </p:nvSpPr>
        <p:spPr>
          <a:xfrm>
            <a:off x="685800" y="310896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Caffè</a:t>
            </a:r>
            <a:endParaRPr lang="en-US" sz="1350" dirty="0"/>
          </a:p>
        </p:txBody>
      </p:sp>
      <p:sp>
        <p:nvSpPr>
          <p:cNvPr id="13" name="Text 10"/>
          <p:cNvSpPr txBox="1"/>
          <p:nvPr/>
        </p:nvSpPr>
        <p:spPr>
          <a:xfrm>
            <a:off x="2926080" y="3108960"/>
            <a:ext cx="470916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Le Nemours (Place Colette), Café de Flore, bistrot di quartiere</a:t>
            </a:r>
            <a:endParaRPr lang="en-US" sz="1250" dirty="0"/>
          </a:p>
        </p:txBody>
      </p:sp>
      <p:sp>
        <p:nvSpPr>
          <p:cNvPr id="14" name="Shape 11"/>
          <p:cNvSpPr/>
          <p:nvPr/>
        </p:nvSpPr>
        <p:spPr>
          <a:xfrm>
            <a:off x="685800" y="3584448"/>
            <a:ext cx="6949440" cy="0"/>
          </a:xfrm>
          <a:prstGeom prst="line">
            <a:avLst/>
          </a:prstGeom>
          <a:noFill/>
          <a:ln w="9525">
            <a:solidFill>
              <a:srgbClr val="C9C2AC"/>
            </a:solidFill>
            <a:prstDash val="solid"/>
          </a:ln>
        </p:spPr>
      </p:sp>
      <p:sp>
        <p:nvSpPr>
          <p:cNvPr id="15" name="Text 12"/>
          <p:cNvSpPr txBox="1"/>
          <p:nvPr/>
        </p:nvSpPr>
        <p:spPr>
          <a:xfrm>
            <a:off x="685800" y="365760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Metro</a:t>
            </a:r>
            <a:endParaRPr lang="en-US" sz="1350" dirty="0"/>
          </a:p>
        </p:txBody>
      </p:sp>
      <p:sp>
        <p:nvSpPr>
          <p:cNvPr id="16" name="Text 13"/>
          <p:cNvSpPr txBox="1"/>
          <p:nvPr/>
        </p:nvSpPr>
        <p:spPr>
          <a:xfrm>
            <a:off x="2926080" y="3657600"/>
            <a:ext cx="470916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Ingressi Guimard (Abbesses, Porte Dauphine), stazione Arts et Métiers</a:t>
            </a:r>
            <a:endParaRPr lang="en-US" sz="1250" dirty="0"/>
          </a:p>
        </p:txBody>
      </p:sp>
      <p:sp>
        <p:nvSpPr>
          <p:cNvPr id="17" name="Shape 14"/>
          <p:cNvSpPr/>
          <p:nvPr/>
        </p:nvSpPr>
        <p:spPr>
          <a:xfrm>
            <a:off x="685800" y="4133088"/>
            <a:ext cx="6949440" cy="0"/>
          </a:xfrm>
          <a:prstGeom prst="line">
            <a:avLst/>
          </a:prstGeom>
          <a:noFill/>
          <a:ln w="9525">
            <a:solidFill>
              <a:srgbClr val="C9C2AC"/>
            </a:solidFill>
            <a:prstDash val="solid"/>
          </a:ln>
        </p:spPr>
      </p:sp>
      <p:sp>
        <p:nvSpPr>
          <p:cNvPr id="18" name="Text 15"/>
          <p:cNvSpPr txBox="1"/>
          <p:nvPr/>
        </p:nvSpPr>
        <p:spPr>
          <a:xfrm>
            <a:off x="685800" y="420624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Ascensore</a:t>
            </a:r>
            <a:endParaRPr lang="en-US" sz="1350" dirty="0"/>
          </a:p>
        </p:txBody>
      </p:sp>
      <p:sp>
        <p:nvSpPr>
          <p:cNvPr id="19" name="Text 16"/>
          <p:cNvSpPr txBox="1"/>
          <p:nvPr/>
        </p:nvSpPr>
        <p:spPr>
          <a:xfrm>
            <a:off x="2926080" y="4206240"/>
            <a:ext cx="470916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Palazzo haussmanniano o hôtel particulier affittato come location</a:t>
            </a:r>
            <a:endParaRPr lang="en-US" sz="1250" dirty="0"/>
          </a:p>
        </p:txBody>
      </p:sp>
      <p:sp>
        <p:nvSpPr>
          <p:cNvPr id="20" name="Shape 17"/>
          <p:cNvSpPr/>
          <p:nvPr/>
        </p:nvSpPr>
        <p:spPr>
          <a:xfrm>
            <a:off x="685800" y="4681728"/>
            <a:ext cx="6949440" cy="0"/>
          </a:xfrm>
          <a:prstGeom prst="line">
            <a:avLst/>
          </a:prstGeom>
          <a:noFill/>
          <a:ln w="9525">
            <a:solidFill>
              <a:srgbClr val="C9C2AC"/>
            </a:solidFill>
            <a:prstDash val="solid"/>
          </a:ln>
        </p:spPr>
      </p:sp>
      <p:sp>
        <p:nvSpPr>
          <p:cNvPr id="21" name="Text 18"/>
          <p:cNvSpPr txBox="1"/>
          <p:nvPr/>
        </p:nvSpPr>
        <p:spPr>
          <a:xfrm>
            <a:off x="685800" y="475488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Riparo</a:t>
            </a:r>
            <a:endParaRPr lang="en-US" sz="1350" dirty="0"/>
          </a:p>
        </p:txBody>
      </p:sp>
      <p:sp>
        <p:nvSpPr>
          <p:cNvPr id="22" name="Text 19"/>
          <p:cNvSpPr txBox="1"/>
          <p:nvPr/>
        </p:nvSpPr>
        <p:spPr>
          <a:xfrm>
            <a:off x="2926080" y="4754880"/>
            <a:ext cx="470916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Portici del Palais-Royal, Rue de Rivoli, Place des Vosges</a:t>
            </a:r>
            <a:endParaRPr lang="en-US" sz="1250" dirty="0"/>
          </a:p>
        </p:txBody>
      </p:sp>
      <p:sp>
        <p:nvSpPr>
          <p:cNvPr id="23" name="Shape 20"/>
          <p:cNvSpPr/>
          <p:nvPr/>
        </p:nvSpPr>
        <p:spPr>
          <a:xfrm>
            <a:off x="685800" y="5230368"/>
            <a:ext cx="6949440" cy="0"/>
          </a:xfrm>
          <a:prstGeom prst="line">
            <a:avLst/>
          </a:prstGeom>
          <a:noFill/>
          <a:ln w="9525">
            <a:solidFill>
              <a:srgbClr val="C9C2AC"/>
            </a:solidFill>
            <a:prstDash val="solid"/>
          </a:ln>
        </p:spPr>
      </p:sp>
      <p:sp>
        <p:nvSpPr>
          <p:cNvPr id="24" name="Text 21"/>
          <p:cNvSpPr txBox="1"/>
          <p:nvPr/>
        </p:nvSpPr>
        <p:spPr>
          <a:xfrm>
            <a:off x="685800" y="530352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Passeggiata</a:t>
            </a:r>
            <a:endParaRPr lang="en-US" sz="1350" dirty="0"/>
          </a:p>
        </p:txBody>
      </p:sp>
      <p:sp>
        <p:nvSpPr>
          <p:cNvPr id="25" name="Text 22"/>
          <p:cNvSpPr txBox="1"/>
          <p:nvPr/>
        </p:nvSpPr>
        <p:spPr>
          <a:xfrm>
            <a:off x="2926080" y="5303520"/>
            <a:ext cx="470916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Jardin du Palais-Royal, Tuileries, Luxembourg, lungosenna</a:t>
            </a:r>
            <a:endParaRPr lang="en-US" sz="1250" dirty="0"/>
          </a:p>
        </p:txBody>
      </p:sp>
      <p:sp>
        <p:nvSpPr>
          <p:cNvPr id="26" name="Text 23"/>
          <p:cNvSpPr txBox="1"/>
          <p:nvPr/>
        </p:nvSpPr>
        <p:spPr>
          <a:xfrm>
            <a:off x="685800" y="6035040"/>
            <a:ext cx="6949440" cy="274320"/>
          </a:xfrm>
          <a:prstGeom prst="rect">
            <a:avLst/>
          </a:prstGeom>
          <a:noFill/>
          <a:ln/>
        </p:spPr>
        <p:txBody>
          <a:bodyPr wrap="square" lIns="0" tIns="0" rIns="0" bIns="0" rtlCol="0" anchor="t"/>
          <a:lstStyle/>
          <a:p>
            <a:pPr indent="0" marL="0">
              <a:buNone/>
            </a:pPr>
            <a:r>
              <a:rPr lang="en-US" sz="1050" dirty="0">
                <a:solidFill>
                  <a:srgbClr val="8A8474"/>
                </a:solidFill>
                <a:latin typeface="Titillium Web Light" pitchFamily="34" charset="0"/>
                <a:ea typeface="Titillium Web Light" pitchFamily="34" charset="-122"/>
                <a:cs typeface="Titillium Web Light" pitchFamily="34" charset="-120"/>
              </a:rPr>
              <a:t>Proposte da verificare in sopralluogo. Metro, giardini e interni richiedono autorizzazioni.</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7E3D3"/>
        </a:solidFill>
      </p:bgPr>
    </p:bg>
    <p:spTree>
      <p:nvGrpSpPr>
        <p:cNvPr id="1" name=""/>
        <p:cNvGrpSpPr/>
        <p:nvPr/>
      </p:nvGrpSpPr>
      <p:grpSpPr>
        <a:xfrm>
          <a:off x="0" y="0"/>
          <a:ext cx="0" cy="0"/>
          <a:chOff x="0" y="0"/>
          <a:chExt cx="0" cy="0"/>
        </a:xfrm>
      </p:grpSpPr>
      <p:pic>
        <p:nvPicPr>
          <p:cNvPr id="2" name="Image 0" descr="img/torino.jpg">    </p:cNvPr>
          <p:cNvPicPr>
            <a:picLocks noChangeAspect="1"/>
          </p:cNvPicPr>
          <p:nvPr/>
        </p:nvPicPr>
        <p:blipFill>
          <a:blip r:embed="rId1"/>
          <a:srcRect l="3028" r="3028" t="0" b="0"/>
          <a:stretch/>
        </p:blipFill>
        <p:spPr>
          <a:xfrm>
            <a:off x="8899855" y="0"/>
            <a:ext cx="3291840" cy="6858000"/>
          </a:xfrm>
          <a:prstGeom prst="rect">
            <a:avLst/>
          </a:prstGeom>
        </p:spPr>
      </p:pic>
      <p:sp>
        <p:nvSpPr>
          <p:cNvPr id="3" name="Text 0"/>
          <p:cNvSpPr txBox="1"/>
          <p:nvPr/>
        </p:nvSpPr>
        <p:spPr>
          <a:xfrm>
            <a:off x="685800" y="566928"/>
            <a:ext cx="786384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9. Location</a:t>
            </a:r>
            <a:endParaRPr lang="en-US" sz="1300" dirty="0"/>
          </a:p>
        </p:txBody>
      </p:sp>
      <p:sp>
        <p:nvSpPr>
          <p:cNvPr id="4" name="Text 1"/>
          <p:cNvSpPr txBox="1"/>
          <p:nvPr/>
        </p:nvSpPr>
        <p:spPr>
          <a:xfrm>
            <a:off x="685800" y="822960"/>
            <a:ext cx="786384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Alternativa a Parigi</a:t>
            </a:r>
            <a:endParaRPr lang="en-US" sz="1300" dirty="0"/>
          </a:p>
        </p:txBody>
      </p:sp>
      <p:sp>
        <p:nvSpPr>
          <p:cNvPr id="5" name="Text 2"/>
          <p:cNvSpPr txBox="1"/>
          <p:nvPr/>
        </p:nvSpPr>
        <p:spPr>
          <a:xfrm>
            <a:off x="685800" y="1234440"/>
            <a:ext cx="7863840" cy="640080"/>
          </a:xfrm>
          <a:prstGeom prst="rect">
            <a:avLst/>
          </a:prstGeom>
          <a:noFill/>
          <a:ln/>
        </p:spPr>
        <p:txBody>
          <a:bodyPr wrap="square" lIns="0" tIns="0" rIns="0" bIns="0" rtlCol="0" anchor="t"/>
          <a:lstStyle/>
          <a:p>
            <a:pPr indent="0" marL="0">
              <a:lnSpc>
                <a:spcPct val="95000"/>
              </a:lnSpc>
              <a:buNone/>
            </a:pPr>
            <a:r>
              <a:rPr lang="en-US" sz="3000" b="1" dirty="0">
                <a:solidFill>
                  <a:srgbClr val="C75033"/>
                </a:solidFill>
                <a:latin typeface="Titillium Web" pitchFamily="34" charset="0"/>
                <a:ea typeface="Titillium Web" pitchFamily="34" charset="-122"/>
                <a:cs typeface="Titillium Web" pitchFamily="34" charset="-120"/>
              </a:rPr>
              <a:t>Torino, la più parigina d’Italia</a:t>
            </a:r>
            <a:endParaRPr lang="en-US" sz="3000" dirty="0"/>
          </a:p>
        </p:txBody>
      </p:sp>
      <p:sp>
        <p:nvSpPr>
          <p:cNvPr id="6" name="Text 3"/>
          <p:cNvSpPr txBox="1"/>
          <p:nvPr/>
        </p:nvSpPr>
        <p:spPr>
          <a:xfrm>
            <a:off x="685800" y="1874520"/>
            <a:ext cx="7772400" cy="685800"/>
          </a:xfrm>
          <a:prstGeom prst="rect">
            <a:avLst/>
          </a:prstGeom>
          <a:noFill/>
          <a:ln/>
        </p:spPr>
        <p:txBody>
          <a:bodyPr wrap="square" lIns="0" tIns="0" rIns="0" bIns="0" rtlCol="0" anchor="t"/>
          <a:lstStyle/>
          <a:p>
            <a:pPr indent="0" marL="0">
              <a:buNone/>
            </a:pPr>
            <a:r>
              <a:rPr lang="en-US" sz="1350" dirty="0">
                <a:solidFill>
                  <a:srgbClr val="2B2C20"/>
                </a:solidFill>
                <a:latin typeface="Titillium Web Light" pitchFamily="34" charset="0"/>
                <a:ea typeface="Titillium Web Light" pitchFamily="34" charset="-122"/>
                <a:cs typeface="Titillium Web Light" pitchFamily="34" charset="-120"/>
              </a:rPr>
              <a:t>Portici, caffè storici, palazzi barocchi e liberty, e d’inverno la nebbia che sale dal Po. Il racconto resta lo stesso, con costi e logistica italiani: niente trasferte all’estero, troupe e permessi locali.</a:t>
            </a:r>
            <a:endParaRPr lang="en-US" sz="1350" dirty="0"/>
          </a:p>
        </p:txBody>
      </p:sp>
      <p:sp>
        <p:nvSpPr>
          <p:cNvPr id="7" name="Text 4"/>
          <p:cNvSpPr txBox="1"/>
          <p:nvPr/>
        </p:nvSpPr>
        <p:spPr>
          <a:xfrm>
            <a:off x="685800" y="269748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Uscita e strade</a:t>
            </a:r>
            <a:endParaRPr lang="en-US" sz="1350" dirty="0"/>
          </a:p>
        </p:txBody>
      </p:sp>
      <p:sp>
        <p:nvSpPr>
          <p:cNvPr id="8" name="Text 5"/>
          <p:cNvSpPr txBox="1"/>
          <p:nvPr/>
        </p:nvSpPr>
        <p:spPr>
          <a:xfrm>
            <a:off x="2926080" y="2697480"/>
            <a:ext cx="553212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Via Po, Borgo Nuovo, Crocetta</a:t>
            </a:r>
            <a:endParaRPr lang="en-US" sz="1250" dirty="0"/>
          </a:p>
        </p:txBody>
      </p:sp>
      <p:sp>
        <p:nvSpPr>
          <p:cNvPr id="9" name="Shape 6"/>
          <p:cNvSpPr/>
          <p:nvPr/>
        </p:nvSpPr>
        <p:spPr>
          <a:xfrm>
            <a:off x="685800" y="3108960"/>
            <a:ext cx="7772400" cy="0"/>
          </a:xfrm>
          <a:prstGeom prst="line">
            <a:avLst/>
          </a:prstGeom>
          <a:noFill/>
          <a:ln w="9525">
            <a:solidFill>
              <a:srgbClr val="C9C2AC"/>
            </a:solidFill>
            <a:prstDash val="solid"/>
          </a:ln>
        </p:spPr>
      </p:sp>
      <p:sp>
        <p:nvSpPr>
          <p:cNvPr id="10" name="Text 7"/>
          <p:cNvSpPr txBox="1"/>
          <p:nvPr/>
        </p:nvSpPr>
        <p:spPr>
          <a:xfrm>
            <a:off x="685800" y="3182112"/>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Attraversamento</a:t>
            </a:r>
            <a:endParaRPr lang="en-US" sz="1350" dirty="0"/>
          </a:p>
        </p:txBody>
      </p:sp>
      <p:sp>
        <p:nvSpPr>
          <p:cNvPr id="11" name="Text 8"/>
          <p:cNvSpPr txBox="1"/>
          <p:nvPr/>
        </p:nvSpPr>
        <p:spPr>
          <a:xfrm>
            <a:off x="2926080" y="3182112"/>
            <a:ext cx="553212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Piazza Castello, Piazza Vittorio Veneto, Corso Vittorio Emanuele II</a:t>
            </a:r>
            <a:endParaRPr lang="en-US" sz="1250" dirty="0"/>
          </a:p>
        </p:txBody>
      </p:sp>
      <p:sp>
        <p:nvSpPr>
          <p:cNvPr id="12" name="Shape 9"/>
          <p:cNvSpPr/>
          <p:nvPr/>
        </p:nvSpPr>
        <p:spPr>
          <a:xfrm>
            <a:off x="685800" y="3593592"/>
            <a:ext cx="7772400" cy="0"/>
          </a:xfrm>
          <a:prstGeom prst="line">
            <a:avLst/>
          </a:prstGeom>
          <a:noFill/>
          <a:ln w="9525">
            <a:solidFill>
              <a:srgbClr val="C9C2AC"/>
            </a:solidFill>
            <a:prstDash val="solid"/>
          </a:ln>
        </p:spPr>
      </p:sp>
      <p:sp>
        <p:nvSpPr>
          <p:cNvPr id="13" name="Text 10"/>
          <p:cNvSpPr txBox="1"/>
          <p:nvPr/>
        </p:nvSpPr>
        <p:spPr>
          <a:xfrm>
            <a:off x="685800" y="3666744"/>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Caffè</a:t>
            </a:r>
            <a:endParaRPr lang="en-US" sz="1350" dirty="0"/>
          </a:p>
        </p:txBody>
      </p:sp>
      <p:sp>
        <p:nvSpPr>
          <p:cNvPr id="14" name="Text 11"/>
          <p:cNvSpPr txBox="1"/>
          <p:nvPr/>
        </p:nvSpPr>
        <p:spPr>
          <a:xfrm>
            <a:off x="2926080" y="3666744"/>
            <a:ext cx="553212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Caffè Mulassano, Al Bicerin, Caffè San Carlo, Baratti &amp; Milano</a:t>
            </a:r>
            <a:endParaRPr lang="en-US" sz="1250" dirty="0"/>
          </a:p>
        </p:txBody>
      </p:sp>
      <p:sp>
        <p:nvSpPr>
          <p:cNvPr id="15" name="Shape 12"/>
          <p:cNvSpPr/>
          <p:nvPr/>
        </p:nvSpPr>
        <p:spPr>
          <a:xfrm>
            <a:off x="685800" y="4078224"/>
            <a:ext cx="7772400" cy="0"/>
          </a:xfrm>
          <a:prstGeom prst="line">
            <a:avLst/>
          </a:prstGeom>
          <a:noFill/>
          <a:ln w="9525">
            <a:solidFill>
              <a:srgbClr val="C9C2AC"/>
            </a:solidFill>
            <a:prstDash val="solid"/>
          </a:ln>
        </p:spPr>
      </p:sp>
      <p:sp>
        <p:nvSpPr>
          <p:cNvPr id="16" name="Text 13"/>
          <p:cNvSpPr txBox="1"/>
          <p:nvPr/>
        </p:nvSpPr>
        <p:spPr>
          <a:xfrm>
            <a:off x="685800" y="4151376"/>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Metro → gallerie</a:t>
            </a:r>
            <a:endParaRPr lang="en-US" sz="1350" dirty="0"/>
          </a:p>
        </p:txBody>
      </p:sp>
      <p:sp>
        <p:nvSpPr>
          <p:cNvPr id="17" name="Text 14"/>
          <p:cNvSpPr txBox="1"/>
          <p:nvPr/>
        </p:nvSpPr>
        <p:spPr>
          <a:xfrm>
            <a:off x="2926080" y="4151376"/>
            <a:ext cx="553212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La metro è moderna: la scena diventa Galleria Subalpina o San Federico, oppure il tram</a:t>
            </a:r>
            <a:endParaRPr lang="en-US" sz="1250" dirty="0"/>
          </a:p>
        </p:txBody>
      </p:sp>
      <p:sp>
        <p:nvSpPr>
          <p:cNvPr id="18" name="Shape 15"/>
          <p:cNvSpPr/>
          <p:nvPr/>
        </p:nvSpPr>
        <p:spPr>
          <a:xfrm>
            <a:off x="685800" y="4562856"/>
            <a:ext cx="7772400" cy="0"/>
          </a:xfrm>
          <a:prstGeom prst="line">
            <a:avLst/>
          </a:prstGeom>
          <a:noFill/>
          <a:ln w="9525">
            <a:solidFill>
              <a:srgbClr val="C9C2AC"/>
            </a:solidFill>
            <a:prstDash val="solid"/>
          </a:ln>
        </p:spPr>
      </p:sp>
      <p:sp>
        <p:nvSpPr>
          <p:cNvPr id="19" name="Text 16"/>
          <p:cNvSpPr txBox="1"/>
          <p:nvPr/>
        </p:nvSpPr>
        <p:spPr>
          <a:xfrm>
            <a:off x="685800" y="4636008"/>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Ascensore</a:t>
            </a:r>
            <a:endParaRPr lang="en-US" sz="1350" dirty="0"/>
          </a:p>
        </p:txBody>
      </p:sp>
      <p:sp>
        <p:nvSpPr>
          <p:cNvPr id="20" name="Text 17"/>
          <p:cNvSpPr txBox="1"/>
          <p:nvPr/>
        </p:nvSpPr>
        <p:spPr>
          <a:xfrm>
            <a:off x="2926080" y="4636008"/>
            <a:ext cx="553212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Palazzi liberty di Cit Turin e Crocetta, androni del centro barocco</a:t>
            </a:r>
            <a:endParaRPr lang="en-US" sz="1250" dirty="0"/>
          </a:p>
        </p:txBody>
      </p:sp>
      <p:sp>
        <p:nvSpPr>
          <p:cNvPr id="21" name="Shape 18"/>
          <p:cNvSpPr/>
          <p:nvPr/>
        </p:nvSpPr>
        <p:spPr>
          <a:xfrm>
            <a:off x="685800" y="5047488"/>
            <a:ext cx="7772400" cy="0"/>
          </a:xfrm>
          <a:prstGeom prst="line">
            <a:avLst/>
          </a:prstGeom>
          <a:noFill/>
          <a:ln w="9525">
            <a:solidFill>
              <a:srgbClr val="C9C2AC"/>
            </a:solidFill>
            <a:prstDash val="solid"/>
          </a:ln>
        </p:spPr>
      </p:sp>
      <p:sp>
        <p:nvSpPr>
          <p:cNvPr id="22" name="Text 19"/>
          <p:cNvSpPr txBox="1"/>
          <p:nvPr/>
        </p:nvSpPr>
        <p:spPr>
          <a:xfrm>
            <a:off x="685800" y="5120640"/>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Riparo</a:t>
            </a:r>
            <a:endParaRPr lang="en-US" sz="1350" dirty="0"/>
          </a:p>
        </p:txBody>
      </p:sp>
      <p:sp>
        <p:nvSpPr>
          <p:cNvPr id="23" name="Text 20"/>
          <p:cNvSpPr txBox="1"/>
          <p:nvPr/>
        </p:nvSpPr>
        <p:spPr>
          <a:xfrm>
            <a:off x="2926080" y="5120640"/>
            <a:ext cx="553212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I chilometri di portici: Via Po, Via Roma, Piazza San Carlo</a:t>
            </a:r>
            <a:endParaRPr lang="en-US" sz="1250" dirty="0"/>
          </a:p>
        </p:txBody>
      </p:sp>
      <p:sp>
        <p:nvSpPr>
          <p:cNvPr id="24" name="Shape 21"/>
          <p:cNvSpPr/>
          <p:nvPr/>
        </p:nvSpPr>
        <p:spPr>
          <a:xfrm>
            <a:off x="685800" y="5532120"/>
            <a:ext cx="7772400" cy="0"/>
          </a:xfrm>
          <a:prstGeom prst="line">
            <a:avLst/>
          </a:prstGeom>
          <a:noFill/>
          <a:ln w="9525">
            <a:solidFill>
              <a:srgbClr val="C9C2AC"/>
            </a:solidFill>
            <a:prstDash val="solid"/>
          </a:ln>
        </p:spPr>
      </p:sp>
      <p:sp>
        <p:nvSpPr>
          <p:cNvPr id="25" name="Text 22"/>
          <p:cNvSpPr txBox="1"/>
          <p:nvPr/>
        </p:nvSpPr>
        <p:spPr>
          <a:xfrm>
            <a:off x="685800" y="5605272"/>
            <a:ext cx="2194560" cy="384048"/>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Passeggiata</a:t>
            </a:r>
            <a:endParaRPr lang="en-US" sz="1350" dirty="0"/>
          </a:p>
        </p:txBody>
      </p:sp>
      <p:sp>
        <p:nvSpPr>
          <p:cNvPr id="26" name="Text 23"/>
          <p:cNvSpPr txBox="1"/>
          <p:nvPr/>
        </p:nvSpPr>
        <p:spPr>
          <a:xfrm>
            <a:off x="2926080" y="5605272"/>
            <a:ext cx="5532120" cy="384048"/>
          </a:xfrm>
          <a:prstGeom prst="rect">
            <a:avLst/>
          </a:prstGeom>
          <a:noFill/>
          <a:ln/>
        </p:spPr>
        <p:txBody>
          <a:bodyPr wrap="square" lIns="0" tIns="0" rIns="0" bIns="0" rtlCol="0" anchor="ctr"/>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Parco del Valentino e Murazzi del Po nella nebbia</a:t>
            </a:r>
            <a:endParaRPr lang="en-US" sz="1250" dirty="0"/>
          </a:p>
        </p:txBody>
      </p:sp>
      <p:sp>
        <p:nvSpPr>
          <p:cNvPr id="27" name="Text 24"/>
          <p:cNvSpPr txBox="1"/>
          <p:nvPr/>
        </p:nvSpPr>
        <p:spPr>
          <a:xfrm>
            <a:off x="685800" y="6080760"/>
            <a:ext cx="7772400" cy="228600"/>
          </a:xfrm>
          <a:prstGeom prst="rect">
            <a:avLst/>
          </a:prstGeom>
          <a:noFill/>
          <a:ln/>
        </p:spPr>
        <p:txBody>
          <a:bodyPr wrap="square" lIns="0" tIns="0" rIns="0" bIns="0" rtlCol="0" anchor="t"/>
          <a:lstStyle/>
          <a:p>
            <a:pPr indent="0" marL="0">
              <a:buNone/>
            </a:pPr>
            <a:r>
              <a:rPr lang="en-US" sz="1050" dirty="0">
                <a:solidFill>
                  <a:srgbClr val="8A8474"/>
                </a:solidFill>
                <a:latin typeface="Titillium Web Light" pitchFamily="34" charset="0"/>
                <a:ea typeface="Titillium Web Light" pitchFamily="34" charset="-122"/>
                <a:cs typeface="Titillium Web Light" pitchFamily="34" charset="-120"/>
              </a:rPr>
              <a:t>Permessi: Comune di Torino, con il supporto di Film Commission Torino Piemonte. Location da verificare in sopralluogo.</a:t>
            </a:r>
            <a:endParaRPr lang="en-US" sz="1050" dirty="0"/>
          </a:p>
        </p:txBody>
      </p:sp>
      <p:sp>
        <p:nvSpPr>
          <p:cNvPr id="28" name="Text 25"/>
          <p:cNvSpPr txBox="1"/>
          <p:nvPr/>
        </p:nvSpPr>
        <p:spPr>
          <a:xfrm>
            <a:off x="685800" y="6327648"/>
            <a:ext cx="7772400" cy="228600"/>
          </a:xfrm>
          <a:prstGeom prst="rect">
            <a:avLst/>
          </a:prstGeom>
          <a:noFill/>
          <a:ln/>
        </p:spPr>
        <p:txBody>
          <a:bodyPr wrap="square" lIns="0" tIns="0" rIns="0" bIns="0" rtlCol="0" anchor="t"/>
          <a:lstStyle/>
          <a:p>
            <a:pPr indent="0" marL="0">
              <a:buNone/>
            </a:pPr>
            <a:r>
              <a:rPr lang="en-US" sz="950" dirty="0">
                <a:solidFill>
                  <a:srgbClr val="8A8474"/>
                </a:solidFill>
                <a:latin typeface="Titillium Web Light" pitchFamily="34" charset="0"/>
                <a:ea typeface="Titillium Web Light" pitchFamily="34" charset="-122"/>
                <a:cs typeface="Titillium Web Light" pitchFamily="34" charset="-120"/>
              </a:rPr>
              <a:t>Foto: Galleria Subalpina, Torino. Isiwal / Wikimedia Commons, CC BY-SA 4.0</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7E3D3"/>
        </a:solidFill>
      </p:bgPr>
    </p:bg>
    <p:spTree>
      <p:nvGrpSpPr>
        <p:cNvPr id="1" name=""/>
        <p:cNvGrpSpPr/>
        <p:nvPr/>
      </p:nvGrpSpPr>
      <p:grpSpPr>
        <a:xfrm>
          <a:off x="0" y="0"/>
          <a:ext cx="0" cy="0"/>
          <a:chOff x="0" y="0"/>
          <a:chExt cx="0" cy="0"/>
        </a:xfrm>
      </p:grpSpPr>
      <p:sp>
        <p:nvSpPr>
          <p:cNvPr id="2" name="Text 0"/>
          <p:cNvSpPr txBox="1"/>
          <p:nvPr/>
        </p:nvSpPr>
        <p:spPr>
          <a:xfrm>
            <a:off x="685800" y="566928"/>
            <a:ext cx="1005840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9. Location</a:t>
            </a:r>
            <a:endParaRPr lang="en-US" sz="1300" dirty="0"/>
          </a:p>
        </p:txBody>
      </p:sp>
      <p:sp>
        <p:nvSpPr>
          <p:cNvPr id="3" name="Text 1"/>
          <p:cNvSpPr txBox="1"/>
          <p:nvPr/>
        </p:nvSpPr>
        <p:spPr>
          <a:xfrm>
            <a:off x="685800" y="822960"/>
            <a:ext cx="1005840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Le alternative a confronto</a:t>
            </a:r>
            <a:endParaRPr lang="en-US" sz="1300" dirty="0"/>
          </a:p>
        </p:txBody>
      </p:sp>
      <p:sp>
        <p:nvSpPr>
          <p:cNvPr id="4" name="Text 2"/>
          <p:cNvSpPr txBox="1"/>
          <p:nvPr/>
        </p:nvSpPr>
        <p:spPr>
          <a:xfrm>
            <a:off x="685800" y="1234440"/>
            <a:ext cx="10058400" cy="6400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Se non Parigi, dove</a:t>
            </a:r>
            <a:endParaRPr lang="en-US" sz="3200" dirty="0"/>
          </a:p>
        </p:txBody>
      </p:sp>
      <p:sp>
        <p:nvSpPr>
          <p:cNvPr id="5" name="Shape 3"/>
          <p:cNvSpPr/>
          <p:nvPr/>
        </p:nvSpPr>
        <p:spPr>
          <a:xfrm>
            <a:off x="685800" y="1920240"/>
            <a:ext cx="2560320" cy="4114800"/>
          </a:xfrm>
          <a:prstGeom prst="rect">
            <a:avLst/>
          </a:prstGeom>
          <a:solidFill>
            <a:srgbClr val="6B733E"/>
          </a:solidFill>
          <a:ln w="12700">
            <a:solidFill>
              <a:srgbClr val="6B733E"/>
            </a:solidFill>
            <a:prstDash val="solid"/>
          </a:ln>
        </p:spPr>
      </p:sp>
      <p:sp>
        <p:nvSpPr>
          <p:cNvPr id="6" name="Text 4"/>
          <p:cNvSpPr txBox="1"/>
          <p:nvPr/>
        </p:nvSpPr>
        <p:spPr>
          <a:xfrm>
            <a:off x="914400" y="2194560"/>
            <a:ext cx="2103120" cy="502920"/>
          </a:xfrm>
          <a:prstGeom prst="rect">
            <a:avLst/>
          </a:prstGeom>
          <a:noFill/>
          <a:ln/>
        </p:spPr>
        <p:txBody>
          <a:bodyPr wrap="square" lIns="0" tIns="0" rIns="0" bIns="0" rtlCol="0" anchor="t"/>
          <a:lstStyle/>
          <a:p>
            <a:pPr indent="0" marL="0">
              <a:buNone/>
            </a:pPr>
            <a:r>
              <a:rPr lang="en-US" sz="2400" b="1" dirty="0">
                <a:solidFill>
                  <a:srgbClr val="FFFFFF"/>
                </a:solidFill>
                <a:latin typeface="Titillium Web" pitchFamily="34" charset="0"/>
                <a:ea typeface="Titillium Web" pitchFamily="34" charset="-122"/>
                <a:cs typeface="Titillium Web" pitchFamily="34" charset="-120"/>
              </a:rPr>
              <a:t>Torino</a:t>
            </a:r>
            <a:endParaRPr lang="en-US" sz="2400" dirty="0"/>
          </a:p>
        </p:txBody>
      </p:sp>
      <p:sp>
        <p:nvSpPr>
          <p:cNvPr id="7" name="Text 5"/>
          <p:cNvSpPr txBox="1"/>
          <p:nvPr/>
        </p:nvSpPr>
        <p:spPr>
          <a:xfrm>
            <a:off x="914400" y="2724912"/>
            <a:ext cx="2103120" cy="274320"/>
          </a:xfrm>
          <a:prstGeom prst="rect">
            <a:avLst/>
          </a:prstGeom>
          <a:noFill/>
          <a:ln/>
        </p:spPr>
        <p:txBody>
          <a:bodyPr wrap="square" lIns="0" tIns="0" rIns="0" bIns="0" rtlCol="0" anchor="t"/>
          <a:lstStyle/>
          <a:p>
            <a:pPr indent="0" marL="0">
              <a:buNone/>
            </a:pPr>
            <a:r>
              <a:rPr lang="en-US" sz="1250" i="1" dirty="0">
                <a:solidFill>
                  <a:srgbClr val="FFFFFF"/>
                </a:solidFill>
                <a:latin typeface="Titillium Web" pitchFamily="34" charset="0"/>
                <a:ea typeface="Titillium Web" pitchFamily="34" charset="-122"/>
                <a:cs typeface="Titillium Web" pitchFamily="34" charset="-120"/>
              </a:rPr>
              <a:t>Consigliata</a:t>
            </a:r>
            <a:endParaRPr lang="en-US" sz="1250" dirty="0"/>
          </a:p>
        </p:txBody>
      </p:sp>
      <p:sp>
        <p:nvSpPr>
          <p:cNvPr id="8" name="Text 6"/>
          <p:cNvSpPr txBox="1"/>
          <p:nvPr/>
        </p:nvSpPr>
        <p:spPr>
          <a:xfrm>
            <a:off x="914400" y="3154680"/>
            <a:ext cx="2103120" cy="1828800"/>
          </a:xfrm>
          <a:prstGeom prst="rect">
            <a:avLst/>
          </a:prstGeom>
          <a:noFill/>
          <a:ln/>
        </p:spPr>
        <p:txBody>
          <a:bodyPr wrap="square" lIns="0" tIns="0" rIns="0" bIns="0" rtlCol="0" anchor="t"/>
          <a:lstStyle/>
          <a:p>
            <a:pPr indent="0" marL="0">
              <a:buNone/>
            </a:pPr>
            <a:r>
              <a:rPr lang="en-US" sz="1250" dirty="0">
                <a:solidFill>
                  <a:srgbClr val="FFFFFF"/>
                </a:solidFill>
                <a:latin typeface="Titillium Web Light" pitchFamily="34" charset="0"/>
                <a:ea typeface="Titillium Web Light" pitchFamily="34" charset="-122"/>
                <a:cs typeface="Titillium Web Light" pitchFamily="34" charset="-120"/>
              </a:rPr>
              <a:t>Portici, caffè storici, nebbia sul Po, palazzi liberty. È la più vicina all’immaginario di Parigi con costi italiani.</a:t>
            </a:r>
            <a:endParaRPr lang="en-US" sz="1250" dirty="0"/>
          </a:p>
        </p:txBody>
      </p:sp>
      <p:sp>
        <p:nvSpPr>
          <p:cNvPr id="9" name="Text 7"/>
          <p:cNvSpPr txBox="1"/>
          <p:nvPr/>
        </p:nvSpPr>
        <p:spPr>
          <a:xfrm>
            <a:off x="914400" y="5029200"/>
            <a:ext cx="2103120" cy="274320"/>
          </a:xfrm>
          <a:prstGeom prst="rect">
            <a:avLst/>
          </a:prstGeom>
          <a:noFill/>
          <a:ln/>
        </p:spPr>
        <p:txBody>
          <a:bodyPr wrap="square" lIns="0" tIns="0" rIns="0" bIns="0" rtlCol="0" anchor="t"/>
          <a:lstStyle/>
          <a:p>
            <a:pPr indent="0" marL="0">
              <a:buNone/>
            </a:pPr>
            <a:r>
              <a:rPr lang="en-US" sz="1200" b="1" dirty="0">
                <a:solidFill>
                  <a:srgbClr val="FFFFFF"/>
                </a:solidFill>
                <a:latin typeface="Titillium Web" pitchFamily="34" charset="0"/>
                <a:ea typeface="Titillium Web" pitchFamily="34" charset="-122"/>
                <a:cs typeface="Titillium Web" pitchFamily="34" charset="-120"/>
              </a:rPr>
              <a:t>Contro</a:t>
            </a:r>
            <a:endParaRPr lang="en-US" sz="1200" dirty="0"/>
          </a:p>
        </p:txBody>
      </p:sp>
      <p:sp>
        <p:nvSpPr>
          <p:cNvPr id="10" name="Text 8"/>
          <p:cNvSpPr txBox="1"/>
          <p:nvPr/>
        </p:nvSpPr>
        <p:spPr>
          <a:xfrm>
            <a:off x="914400" y="5321808"/>
            <a:ext cx="2103120" cy="640080"/>
          </a:xfrm>
          <a:prstGeom prst="rect">
            <a:avLst/>
          </a:prstGeom>
          <a:noFill/>
          <a:ln/>
        </p:spPr>
        <p:txBody>
          <a:bodyPr wrap="square" lIns="0" tIns="0" rIns="0" bIns="0" rtlCol="0" anchor="t"/>
          <a:lstStyle/>
          <a:p>
            <a:pPr indent="0" marL="0">
              <a:buNone/>
            </a:pPr>
            <a:r>
              <a:rPr lang="en-US" sz="1200" dirty="0">
                <a:solidFill>
                  <a:srgbClr val="FFFFFF"/>
                </a:solidFill>
                <a:latin typeface="Titillium Web Light" pitchFamily="34" charset="0"/>
                <a:ea typeface="Titillium Web Light" pitchFamily="34" charset="-122"/>
                <a:cs typeface="Titillium Web Light" pitchFamily="34" charset="-120"/>
              </a:rPr>
              <a:t>La metro non ha fascino: la scena va sostituita.</a:t>
            </a:r>
            <a:endParaRPr lang="en-US" sz="1200" dirty="0"/>
          </a:p>
        </p:txBody>
      </p:sp>
      <p:sp>
        <p:nvSpPr>
          <p:cNvPr id="11" name="Shape 9"/>
          <p:cNvSpPr/>
          <p:nvPr/>
        </p:nvSpPr>
        <p:spPr>
          <a:xfrm>
            <a:off x="3429000" y="1920240"/>
            <a:ext cx="2560320" cy="4114800"/>
          </a:xfrm>
          <a:prstGeom prst="rect">
            <a:avLst/>
          </a:prstGeom>
          <a:solidFill>
            <a:srgbClr val="F1EEE4"/>
          </a:solidFill>
          <a:ln w="12700">
            <a:solidFill>
              <a:srgbClr val="F1EEE4"/>
            </a:solidFill>
            <a:prstDash val="solid"/>
          </a:ln>
        </p:spPr>
      </p:sp>
      <p:sp>
        <p:nvSpPr>
          <p:cNvPr id="12" name="Text 10"/>
          <p:cNvSpPr txBox="1"/>
          <p:nvPr/>
        </p:nvSpPr>
        <p:spPr>
          <a:xfrm>
            <a:off x="3657600" y="2194560"/>
            <a:ext cx="2103120" cy="50292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Lione</a:t>
            </a:r>
            <a:endParaRPr lang="en-US" sz="2400" dirty="0"/>
          </a:p>
        </p:txBody>
      </p:sp>
      <p:sp>
        <p:nvSpPr>
          <p:cNvPr id="13" name="Text 11"/>
          <p:cNvSpPr txBox="1"/>
          <p:nvPr/>
        </p:nvSpPr>
        <p:spPr>
          <a:xfrm>
            <a:off x="3657600" y="2724912"/>
            <a:ext cx="2103120" cy="274320"/>
          </a:xfrm>
          <a:prstGeom prst="rect">
            <a:avLst/>
          </a:prstGeom>
          <a:noFill/>
          <a:ln/>
        </p:spPr>
        <p:txBody>
          <a:bodyPr wrap="square" lIns="0" tIns="0" rIns="0" bIns="0" rtlCol="0" anchor="t"/>
          <a:lstStyle/>
          <a:p>
            <a:pPr indent="0" marL="0">
              <a:buNone/>
            </a:pPr>
            <a:r>
              <a:rPr lang="en-US" sz="1250" i="1" dirty="0">
                <a:solidFill>
                  <a:srgbClr val="C75033"/>
                </a:solidFill>
                <a:latin typeface="Titillium Web" pitchFamily="34" charset="0"/>
                <a:ea typeface="Titillium Web" pitchFamily="34" charset="-122"/>
                <a:cs typeface="Titillium Web" pitchFamily="34" charset="-120"/>
              </a:rPr>
              <a:t>Resta in Francia</a:t>
            </a:r>
            <a:endParaRPr lang="en-US" sz="1250" dirty="0"/>
          </a:p>
        </p:txBody>
      </p:sp>
      <p:sp>
        <p:nvSpPr>
          <p:cNvPr id="14" name="Text 12"/>
          <p:cNvSpPr txBox="1"/>
          <p:nvPr/>
        </p:nvSpPr>
        <p:spPr>
          <a:xfrm>
            <a:off x="3657600" y="3154680"/>
            <a:ext cx="2103120" cy="182880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Presqu’île ottocentesca, traboules, nebbia sulla Saona, funicolare e metro. Atmosfera francese, costi inferiori a Parigi.</a:t>
            </a:r>
            <a:endParaRPr lang="en-US" sz="1250" dirty="0"/>
          </a:p>
        </p:txBody>
      </p:sp>
      <p:sp>
        <p:nvSpPr>
          <p:cNvPr id="15" name="Text 13"/>
          <p:cNvSpPr txBox="1"/>
          <p:nvPr/>
        </p:nvSpPr>
        <p:spPr>
          <a:xfrm>
            <a:off x="3657600" y="5029200"/>
            <a:ext cx="2103120" cy="274320"/>
          </a:xfrm>
          <a:prstGeom prst="rect">
            <a:avLst/>
          </a:prstGeom>
          <a:noFill/>
          <a:ln/>
        </p:spPr>
        <p:txBody>
          <a:bodyPr wrap="square" lIns="0" tIns="0" rIns="0" bIns="0" rtlCol="0" anchor="t"/>
          <a:lstStyle/>
          <a:p>
            <a:pPr indent="0" marL="0">
              <a:buNone/>
            </a:pPr>
            <a:r>
              <a:rPr lang="en-US" sz="1200" b="1" dirty="0">
                <a:solidFill>
                  <a:srgbClr val="8A8474"/>
                </a:solidFill>
                <a:latin typeface="Titillium Web" pitchFamily="34" charset="0"/>
                <a:ea typeface="Titillium Web" pitchFamily="34" charset="-122"/>
                <a:cs typeface="Titillium Web" pitchFamily="34" charset="-120"/>
              </a:rPr>
              <a:t>Contro</a:t>
            </a:r>
            <a:endParaRPr lang="en-US" sz="1200" dirty="0"/>
          </a:p>
        </p:txBody>
      </p:sp>
      <p:sp>
        <p:nvSpPr>
          <p:cNvPr id="16" name="Text 14"/>
          <p:cNvSpPr txBox="1"/>
          <p:nvPr/>
        </p:nvSpPr>
        <p:spPr>
          <a:xfrm>
            <a:off x="3657600" y="5321808"/>
            <a:ext cx="2103120" cy="64008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È comunque una produzione all’estero.</a:t>
            </a:r>
            <a:endParaRPr lang="en-US" sz="1200" dirty="0"/>
          </a:p>
        </p:txBody>
      </p:sp>
      <p:sp>
        <p:nvSpPr>
          <p:cNvPr id="17" name="Shape 15"/>
          <p:cNvSpPr/>
          <p:nvPr/>
        </p:nvSpPr>
        <p:spPr>
          <a:xfrm>
            <a:off x="6172200" y="1920240"/>
            <a:ext cx="2560320" cy="4114800"/>
          </a:xfrm>
          <a:prstGeom prst="rect">
            <a:avLst/>
          </a:prstGeom>
          <a:solidFill>
            <a:srgbClr val="F1EEE4"/>
          </a:solidFill>
          <a:ln w="12700">
            <a:solidFill>
              <a:srgbClr val="F1EEE4"/>
            </a:solidFill>
            <a:prstDash val="solid"/>
          </a:ln>
        </p:spPr>
      </p:sp>
      <p:sp>
        <p:nvSpPr>
          <p:cNvPr id="18" name="Text 16"/>
          <p:cNvSpPr txBox="1"/>
          <p:nvPr/>
        </p:nvSpPr>
        <p:spPr>
          <a:xfrm>
            <a:off x="6400800" y="2194560"/>
            <a:ext cx="2103120" cy="50292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Trieste</a:t>
            </a:r>
            <a:endParaRPr lang="en-US" sz="2400" dirty="0"/>
          </a:p>
        </p:txBody>
      </p:sp>
      <p:sp>
        <p:nvSpPr>
          <p:cNvPr id="19" name="Text 17"/>
          <p:cNvSpPr txBox="1"/>
          <p:nvPr/>
        </p:nvSpPr>
        <p:spPr>
          <a:xfrm>
            <a:off x="6400800" y="2724912"/>
            <a:ext cx="2103120" cy="274320"/>
          </a:xfrm>
          <a:prstGeom prst="rect">
            <a:avLst/>
          </a:prstGeom>
          <a:noFill/>
          <a:ln/>
        </p:spPr>
        <p:txBody>
          <a:bodyPr wrap="square" lIns="0" tIns="0" rIns="0" bIns="0" rtlCol="0" anchor="t"/>
          <a:lstStyle/>
          <a:p>
            <a:pPr indent="0" marL="0">
              <a:buNone/>
            </a:pPr>
            <a:r>
              <a:rPr lang="en-US" sz="1250" i="1" dirty="0">
                <a:solidFill>
                  <a:srgbClr val="C75033"/>
                </a:solidFill>
                <a:latin typeface="Titillium Web" pitchFamily="34" charset="0"/>
                <a:ea typeface="Titillium Web" pitchFamily="34" charset="-122"/>
                <a:cs typeface="Titillium Web" pitchFamily="34" charset="-120"/>
              </a:rPr>
              <a:t>Più letteraria</a:t>
            </a:r>
            <a:endParaRPr lang="en-US" sz="1250" dirty="0"/>
          </a:p>
        </p:txBody>
      </p:sp>
      <p:sp>
        <p:nvSpPr>
          <p:cNvPr id="20" name="Text 18"/>
          <p:cNvSpPr txBox="1"/>
          <p:nvPr/>
        </p:nvSpPr>
        <p:spPr>
          <a:xfrm>
            <a:off x="6400800" y="3154680"/>
            <a:ext cx="2103120" cy="182880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Caffè storici, palazzi neoclassici e asburgici, luce grigia d’inverno. Città raccolta, facile da girare.</a:t>
            </a:r>
            <a:endParaRPr lang="en-US" sz="1250" dirty="0"/>
          </a:p>
        </p:txBody>
      </p:sp>
      <p:sp>
        <p:nvSpPr>
          <p:cNvPr id="21" name="Text 19"/>
          <p:cNvSpPr txBox="1"/>
          <p:nvPr/>
        </p:nvSpPr>
        <p:spPr>
          <a:xfrm>
            <a:off x="6400800" y="5029200"/>
            <a:ext cx="2103120" cy="274320"/>
          </a:xfrm>
          <a:prstGeom prst="rect">
            <a:avLst/>
          </a:prstGeom>
          <a:noFill/>
          <a:ln/>
        </p:spPr>
        <p:txBody>
          <a:bodyPr wrap="square" lIns="0" tIns="0" rIns="0" bIns="0" rtlCol="0" anchor="t"/>
          <a:lstStyle/>
          <a:p>
            <a:pPr indent="0" marL="0">
              <a:buNone/>
            </a:pPr>
            <a:r>
              <a:rPr lang="en-US" sz="1200" b="1" dirty="0">
                <a:solidFill>
                  <a:srgbClr val="8A8474"/>
                </a:solidFill>
                <a:latin typeface="Titillium Web" pitchFamily="34" charset="0"/>
                <a:ea typeface="Titillium Web" pitchFamily="34" charset="-122"/>
                <a:cs typeface="Titillium Web" pitchFamily="34" charset="-120"/>
              </a:rPr>
              <a:t>Contro</a:t>
            </a:r>
            <a:endParaRPr lang="en-US" sz="1200" dirty="0"/>
          </a:p>
        </p:txBody>
      </p:sp>
      <p:sp>
        <p:nvSpPr>
          <p:cNvPr id="22" name="Text 20"/>
          <p:cNvSpPr txBox="1"/>
          <p:nvPr/>
        </p:nvSpPr>
        <p:spPr>
          <a:xfrm>
            <a:off x="6400800" y="5321808"/>
            <a:ext cx="2103120" cy="64008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Più mare e bora che nebbia e foglie.</a:t>
            </a:r>
            <a:endParaRPr lang="en-US" sz="1200" dirty="0"/>
          </a:p>
        </p:txBody>
      </p:sp>
      <p:sp>
        <p:nvSpPr>
          <p:cNvPr id="23" name="Shape 21"/>
          <p:cNvSpPr/>
          <p:nvPr/>
        </p:nvSpPr>
        <p:spPr>
          <a:xfrm>
            <a:off x="8915400" y="1920240"/>
            <a:ext cx="2560320" cy="4114800"/>
          </a:xfrm>
          <a:prstGeom prst="rect">
            <a:avLst/>
          </a:prstGeom>
          <a:solidFill>
            <a:srgbClr val="F1EEE4"/>
          </a:solidFill>
          <a:ln w="12700">
            <a:solidFill>
              <a:srgbClr val="F1EEE4"/>
            </a:solidFill>
            <a:prstDash val="solid"/>
          </a:ln>
        </p:spPr>
      </p:sp>
      <p:sp>
        <p:nvSpPr>
          <p:cNvPr id="24" name="Text 22"/>
          <p:cNvSpPr txBox="1"/>
          <p:nvPr/>
        </p:nvSpPr>
        <p:spPr>
          <a:xfrm>
            <a:off x="9144000" y="2194560"/>
            <a:ext cx="2103120" cy="502920"/>
          </a:xfrm>
          <a:prstGeom prst="rect">
            <a:avLst/>
          </a:prstGeom>
          <a:noFill/>
          <a:ln/>
        </p:spPr>
        <p:txBody>
          <a:bodyPr wrap="square" lIns="0" tIns="0" rIns="0" bIns="0" rtlCol="0" anchor="t"/>
          <a:lstStyle/>
          <a:p>
            <a:pPr indent="0" marL="0">
              <a:buNone/>
            </a:pPr>
            <a:r>
              <a:rPr lang="en-US" sz="2400" b="1" dirty="0">
                <a:solidFill>
                  <a:srgbClr val="C75033"/>
                </a:solidFill>
                <a:latin typeface="Titillium Web" pitchFamily="34" charset="0"/>
                <a:ea typeface="Titillium Web" pitchFamily="34" charset="-122"/>
                <a:cs typeface="Titillium Web" pitchFamily="34" charset="-120"/>
              </a:rPr>
              <a:t>Milano</a:t>
            </a:r>
            <a:endParaRPr lang="en-US" sz="2400" dirty="0"/>
          </a:p>
        </p:txBody>
      </p:sp>
      <p:sp>
        <p:nvSpPr>
          <p:cNvPr id="25" name="Text 23"/>
          <p:cNvSpPr txBox="1"/>
          <p:nvPr/>
        </p:nvSpPr>
        <p:spPr>
          <a:xfrm>
            <a:off x="9144000" y="2724912"/>
            <a:ext cx="2103120" cy="274320"/>
          </a:xfrm>
          <a:prstGeom prst="rect">
            <a:avLst/>
          </a:prstGeom>
          <a:noFill/>
          <a:ln/>
        </p:spPr>
        <p:txBody>
          <a:bodyPr wrap="square" lIns="0" tIns="0" rIns="0" bIns="0" rtlCol="0" anchor="t"/>
          <a:lstStyle/>
          <a:p>
            <a:pPr indent="0" marL="0">
              <a:buNone/>
            </a:pPr>
            <a:r>
              <a:rPr lang="en-US" sz="1250" i="1" dirty="0">
                <a:solidFill>
                  <a:srgbClr val="C75033"/>
                </a:solidFill>
                <a:latin typeface="Titillium Web" pitchFamily="34" charset="0"/>
                <a:ea typeface="Titillium Web" pitchFamily="34" charset="-122"/>
                <a:cs typeface="Titillium Web" pitchFamily="34" charset="-120"/>
              </a:rPr>
              <a:t>Più urbana</a:t>
            </a:r>
            <a:endParaRPr lang="en-US" sz="1250" dirty="0"/>
          </a:p>
        </p:txBody>
      </p:sp>
      <p:sp>
        <p:nvSpPr>
          <p:cNvPr id="26" name="Text 24"/>
          <p:cNvSpPr txBox="1"/>
          <p:nvPr/>
        </p:nvSpPr>
        <p:spPr>
          <a:xfrm>
            <a:off x="9144000" y="3154680"/>
            <a:ext cx="2103120" cy="1828800"/>
          </a:xfrm>
          <a:prstGeom prst="rect">
            <a:avLst/>
          </a:prstGeom>
          <a:noFill/>
          <a:ln/>
        </p:spPr>
        <p:txBody>
          <a:bodyPr wrap="square" lIns="0" tIns="0" rIns="0" bIns="0" rtlCol="0" anchor="t"/>
          <a:lstStyle/>
          <a:p>
            <a:pPr indent="0" marL="0">
              <a:buNone/>
            </a:pPr>
            <a:r>
              <a:rPr lang="en-US" sz="1250" dirty="0">
                <a:solidFill>
                  <a:srgbClr val="2B2C20"/>
                </a:solidFill>
                <a:latin typeface="Titillium Web Light" pitchFamily="34" charset="0"/>
                <a:ea typeface="Titillium Web Light" pitchFamily="34" charset="-122"/>
                <a:cs typeface="Titillium Web Light" pitchFamily="34" charset="-120"/>
              </a:rPr>
              <a:t>Brera, Quadrilatero, tram storici, gallerie, nebbia. Logistica semplice per la troupe.</a:t>
            </a:r>
            <a:endParaRPr lang="en-US" sz="1250" dirty="0"/>
          </a:p>
        </p:txBody>
      </p:sp>
      <p:sp>
        <p:nvSpPr>
          <p:cNvPr id="27" name="Text 25"/>
          <p:cNvSpPr txBox="1"/>
          <p:nvPr/>
        </p:nvSpPr>
        <p:spPr>
          <a:xfrm>
            <a:off x="9144000" y="5029200"/>
            <a:ext cx="2103120" cy="274320"/>
          </a:xfrm>
          <a:prstGeom prst="rect">
            <a:avLst/>
          </a:prstGeom>
          <a:noFill/>
          <a:ln/>
        </p:spPr>
        <p:txBody>
          <a:bodyPr wrap="square" lIns="0" tIns="0" rIns="0" bIns="0" rtlCol="0" anchor="t"/>
          <a:lstStyle/>
          <a:p>
            <a:pPr indent="0" marL="0">
              <a:buNone/>
            </a:pPr>
            <a:r>
              <a:rPr lang="en-US" sz="1200" b="1" dirty="0">
                <a:solidFill>
                  <a:srgbClr val="8A8474"/>
                </a:solidFill>
                <a:latin typeface="Titillium Web" pitchFamily="34" charset="0"/>
                <a:ea typeface="Titillium Web" pitchFamily="34" charset="-122"/>
                <a:cs typeface="Titillium Web" pitchFamily="34" charset="-120"/>
              </a:rPr>
              <a:t>Contro</a:t>
            </a:r>
            <a:endParaRPr lang="en-US" sz="1200" dirty="0"/>
          </a:p>
        </p:txBody>
      </p:sp>
      <p:sp>
        <p:nvSpPr>
          <p:cNvPr id="28" name="Text 26"/>
          <p:cNvSpPr txBox="1"/>
          <p:nvPr/>
        </p:nvSpPr>
        <p:spPr>
          <a:xfrm>
            <a:off x="9144000" y="5321808"/>
            <a:ext cx="2103120" cy="640080"/>
          </a:xfrm>
          <a:prstGeom prst="rect">
            <a:avLst/>
          </a:prstGeom>
          <a:noFill/>
          <a:ln/>
        </p:spPr>
        <p:txBody>
          <a:bodyPr wrap="square" lIns="0" tIns="0" rIns="0" bIns="0" rtlCol="0" anchor="t"/>
          <a:lstStyle/>
          <a:p>
            <a:pP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Meno romantica e molto riconoscibile.</a:t>
            </a:r>
            <a:endParaRPr lang="en-US" sz="1200" dirty="0"/>
          </a:p>
        </p:txBody>
      </p:sp>
      <p:sp>
        <p:nvSpPr>
          <p:cNvPr id="29" name="Text 27"/>
          <p:cNvSpPr txBox="1"/>
          <p:nvPr/>
        </p:nvSpPr>
        <p:spPr>
          <a:xfrm>
            <a:off x="685800" y="6217920"/>
            <a:ext cx="10058400" cy="274320"/>
          </a:xfrm>
          <a:prstGeom prst="rect">
            <a:avLst/>
          </a:prstGeom>
          <a:noFill/>
          <a:ln/>
        </p:spPr>
        <p:txBody>
          <a:bodyPr wrap="square" lIns="0" tIns="0" rIns="0" bIns="0" rtlCol="0" anchor="t"/>
          <a:lstStyle/>
          <a:p>
            <a:pPr indent="0" marL="0">
              <a:buNone/>
            </a:pPr>
            <a:r>
              <a:rPr lang="en-US" sz="1050" dirty="0">
                <a:solidFill>
                  <a:srgbClr val="8A8474"/>
                </a:solidFill>
                <a:latin typeface="Titillium Web Light" pitchFamily="34" charset="0"/>
                <a:ea typeface="Titillium Web Light" pitchFamily="34" charset="-122"/>
                <a:cs typeface="Titillium Web Light" pitchFamily="34" charset="-120"/>
              </a:rPr>
              <a:t>Valutazione qualitativa: costi e permessi da confrontare con preventivi reali.</a:t>
            </a:r>
            <a:endParaRPr lang="en-US" sz="1050" dirty="0"/>
          </a:p>
        </p:txBody>
      </p:sp>
      <p:pic>
        <p:nvPicPr>
          <p:cNvPr id="30" name="Image 0" descr="img/badge_white.png">    </p:cNvPr>
          <p:cNvPicPr>
            <a:picLocks noChangeAspect="1"/>
          </p:cNvPicPr>
          <p:nvPr/>
        </p:nvPicPr>
        <p:blipFill>
          <a:blip r:embed="rId1"/>
          <a:stretch>
            <a:fillRect/>
          </a:stretch>
        </p:blipFill>
        <p:spPr>
          <a:xfrm>
            <a:off x="11533327" y="6199632"/>
            <a:ext cx="274320" cy="2743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7E3D3"/>
        </a:solidFill>
      </p:bgPr>
    </p:bg>
    <p:spTree>
      <p:nvGrpSpPr>
        <p:cNvPr id="1" name=""/>
        <p:cNvGrpSpPr/>
        <p:nvPr/>
      </p:nvGrpSpPr>
      <p:grpSpPr>
        <a:xfrm>
          <a:off x="0" y="0"/>
          <a:ext cx="0" cy="0"/>
          <a:chOff x="0" y="0"/>
          <a:chExt cx="0" cy="0"/>
        </a:xfrm>
      </p:grpSpPr>
      <p:sp>
        <p:nvSpPr>
          <p:cNvPr id="2" name="Text 0"/>
          <p:cNvSpPr txBox="1"/>
          <p:nvPr/>
        </p:nvSpPr>
        <p:spPr>
          <a:xfrm>
            <a:off x="685800" y="566928"/>
            <a:ext cx="7315200" cy="274320"/>
          </a:xfrm>
          <a:prstGeom prst="rect">
            <a:avLst/>
          </a:prstGeom>
          <a:noFill/>
          <a:ln/>
        </p:spPr>
        <p:txBody>
          <a:bodyPr wrap="square" lIns="0" tIns="0" rIns="0" bIns="0" rtlCol="0" anchor="t"/>
          <a:lstStyle/>
          <a:p>
            <a:pPr indent="0" marL="0">
              <a:buNone/>
            </a:pPr>
            <a:r>
              <a:rPr lang="en-US" sz="1300" b="1" dirty="0">
                <a:solidFill>
                  <a:srgbClr val="C75033"/>
                </a:solidFill>
                <a:latin typeface="Titillium Web" pitchFamily="34" charset="0"/>
                <a:ea typeface="Titillium Web" pitchFamily="34" charset="-122"/>
                <a:cs typeface="Titillium Web" pitchFamily="34" charset="-120"/>
              </a:rPr>
              <a:t>10. Produzione</a:t>
            </a:r>
            <a:endParaRPr lang="en-US" sz="1300" dirty="0"/>
          </a:p>
        </p:txBody>
      </p:sp>
      <p:sp>
        <p:nvSpPr>
          <p:cNvPr id="3" name="Text 1"/>
          <p:cNvSpPr txBox="1"/>
          <p:nvPr/>
        </p:nvSpPr>
        <p:spPr>
          <a:xfrm>
            <a:off x="685800" y="822960"/>
            <a:ext cx="7315200" cy="274320"/>
          </a:xfrm>
          <a:prstGeom prst="rect">
            <a:avLst/>
          </a:prstGeom>
          <a:noFill/>
          <a:ln/>
        </p:spPr>
        <p:txBody>
          <a:bodyPr wrap="square" lIns="0" tIns="0" rIns="0" bIns="0" rtlCol="0" anchor="t"/>
          <a:lstStyle/>
          <a:p>
            <a:pPr indent="0" marL="0">
              <a:buNone/>
            </a:pPr>
            <a:r>
              <a:rPr lang="en-US" sz="1300" i="1" dirty="0">
                <a:solidFill>
                  <a:srgbClr val="C75033"/>
                </a:solidFill>
                <a:latin typeface="Titillium Web" pitchFamily="34" charset="0"/>
                <a:ea typeface="Titillium Web" pitchFamily="34" charset="-122"/>
                <a:cs typeface="Titillium Web" pitchFamily="34" charset="-120"/>
              </a:rPr>
              <a:t>Tempi, troupe e consegne</a:t>
            </a:r>
            <a:endParaRPr lang="en-US" sz="1300" dirty="0"/>
          </a:p>
        </p:txBody>
      </p:sp>
      <p:sp>
        <p:nvSpPr>
          <p:cNvPr id="4" name="Text 2"/>
          <p:cNvSpPr txBox="1"/>
          <p:nvPr/>
        </p:nvSpPr>
        <p:spPr>
          <a:xfrm>
            <a:off x="685800" y="1234440"/>
            <a:ext cx="7315200" cy="640080"/>
          </a:xfrm>
          <a:prstGeom prst="rect">
            <a:avLst/>
          </a:prstGeom>
          <a:noFill/>
          <a:ln/>
        </p:spPr>
        <p:txBody>
          <a:bodyPr wrap="square" lIns="0" tIns="0" rIns="0" bIns="0" rtlCol="0" anchor="t"/>
          <a:lstStyle/>
          <a:p>
            <a:pPr indent="0" marL="0">
              <a:lnSpc>
                <a:spcPct val="95000"/>
              </a:lnSpc>
              <a:buNone/>
            </a:pPr>
            <a:r>
              <a:rPr lang="en-US" sz="3200" b="1" dirty="0">
                <a:solidFill>
                  <a:srgbClr val="C75033"/>
                </a:solidFill>
                <a:latin typeface="Titillium Web" pitchFamily="34" charset="0"/>
                <a:ea typeface="Titillium Web" pitchFamily="34" charset="-122"/>
                <a:cs typeface="Titillium Web" pitchFamily="34" charset="-120"/>
              </a:rPr>
              <a:t>Come la realizziamo</a:t>
            </a:r>
            <a:endParaRPr lang="en-US" sz="3200" dirty="0"/>
          </a:p>
        </p:txBody>
      </p:sp>
      <p:sp>
        <p:nvSpPr>
          <p:cNvPr id="5" name="Shape 3"/>
          <p:cNvSpPr/>
          <p:nvPr/>
        </p:nvSpPr>
        <p:spPr>
          <a:xfrm>
            <a:off x="685800" y="1920240"/>
            <a:ext cx="5303520" cy="1691640"/>
          </a:xfrm>
          <a:prstGeom prst="rect">
            <a:avLst/>
          </a:prstGeom>
          <a:solidFill>
            <a:srgbClr val="F1EEE4"/>
          </a:solidFill>
          <a:ln w="12700">
            <a:solidFill>
              <a:srgbClr val="F1EEE4"/>
            </a:solidFill>
            <a:prstDash val="solid"/>
          </a:ln>
        </p:spPr>
      </p:sp>
      <p:sp>
        <p:nvSpPr>
          <p:cNvPr id="6" name="Text 4"/>
          <p:cNvSpPr txBox="1"/>
          <p:nvPr/>
        </p:nvSpPr>
        <p:spPr>
          <a:xfrm>
            <a:off x="960120" y="2148840"/>
            <a:ext cx="4754880" cy="365760"/>
          </a:xfrm>
          <a:prstGeom prst="rect">
            <a:avLst/>
          </a:prstGeom>
          <a:noFill/>
          <a:ln/>
        </p:spPr>
        <p:txBody>
          <a:bodyPr wrap="square" lIns="0" tIns="0" rIns="0" bIns="0" rtlCol="0" anchor="t"/>
          <a:lstStyle/>
          <a:p>
            <a:pPr indent="0" marL="0">
              <a:buNone/>
            </a:pPr>
            <a:r>
              <a:rPr lang="en-US" sz="1600" b="1" dirty="0">
                <a:solidFill>
                  <a:srgbClr val="C75033"/>
                </a:solidFill>
                <a:latin typeface="Titillium Web" pitchFamily="34" charset="0"/>
                <a:ea typeface="Titillium Web" pitchFamily="34" charset="-122"/>
                <a:cs typeface="Titillium Web" pitchFamily="34" charset="-120"/>
              </a:rPr>
              <a:t>Quando</a:t>
            </a:r>
            <a:endParaRPr lang="en-US" sz="1600" dirty="0"/>
          </a:p>
        </p:txBody>
      </p:sp>
      <p:sp>
        <p:nvSpPr>
          <p:cNvPr id="7" name="Text 5"/>
          <p:cNvSpPr txBox="1"/>
          <p:nvPr/>
        </p:nvSpPr>
        <p:spPr>
          <a:xfrm>
            <a:off x="960120" y="2560320"/>
            <a:ext cx="4754880" cy="1005840"/>
          </a:xfrm>
          <a:prstGeom prst="rect">
            <a:avLst/>
          </a:prstGeom>
          <a:noFill/>
          <a:ln/>
        </p:spPr>
        <p:txBody>
          <a:bodyPr wrap="square" lIns="0" tIns="0" rIns="0" bIns="0" rtlCol="0" anchor="t"/>
          <a:lstStyle/>
          <a:p>
            <a:pPr indent="0" marL="0">
              <a:buNone/>
            </a:pPr>
            <a:r>
              <a:rPr lang="en-US" sz="1300" dirty="0">
                <a:solidFill>
                  <a:srgbClr val="2B2C20"/>
                </a:solidFill>
                <a:latin typeface="Titillium Web Light" pitchFamily="34" charset="0"/>
                <a:ea typeface="Titillium Web Light" pitchFamily="34" charset="-122"/>
                <a:cs typeface="Titillium Web Light" pitchFamily="34" charset="-120"/>
              </a:rPr>
              <a:t>Da metà novembre a inizio dicembre: foglie ancora a terra, luce bassa, pioggia e nebbia al mattino. 2 giorni di scatto più 1 di riserva meteo.</a:t>
            </a:r>
            <a:endParaRPr lang="en-US" sz="1300" dirty="0"/>
          </a:p>
        </p:txBody>
      </p:sp>
      <p:sp>
        <p:nvSpPr>
          <p:cNvPr id="8" name="Shape 6"/>
          <p:cNvSpPr/>
          <p:nvPr/>
        </p:nvSpPr>
        <p:spPr>
          <a:xfrm>
            <a:off x="6217920" y="1920240"/>
            <a:ext cx="5303520" cy="1691640"/>
          </a:xfrm>
          <a:prstGeom prst="rect">
            <a:avLst/>
          </a:prstGeom>
          <a:solidFill>
            <a:srgbClr val="F1EEE4"/>
          </a:solidFill>
          <a:ln w="12700">
            <a:solidFill>
              <a:srgbClr val="F1EEE4"/>
            </a:solidFill>
            <a:prstDash val="solid"/>
          </a:ln>
        </p:spPr>
      </p:sp>
      <p:sp>
        <p:nvSpPr>
          <p:cNvPr id="9" name="Text 7"/>
          <p:cNvSpPr txBox="1"/>
          <p:nvPr/>
        </p:nvSpPr>
        <p:spPr>
          <a:xfrm>
            <a:off x="6492240" y="2148840"/>
            <a:ext cx="4754880" cy="365760"/>
          </a:xfrm>
          <a:prstGeom prst="rect">
            <a:avLst/>
          </a:prstGeom>
          <a:noFill/>
          <a:ln/>
        </p:spPr>
        <p:txBody>
          <a:bodyPr wrap="square" lIns="0" tIns="0" rIns="0" bIns="0" rtlCol="0" anchor="t"/>
          <a:lstStyle/>
          <a:p>
            <a:pPr indent="0" marL="0">
              <a:buNone/>
            </a:pPr>
            <a:r>
              <a:rPr lang="en-US" sz="1600" b="1" dirty="0">
                <a:solidFill>
                  <a:srgbClr val="C75033"/>
                </a:solidFill>
                <a:latin typeface="Titillium Web" pitchFamily="34" charset="0"/>
                <a:ea typeface="Titillium Web" pitchFamily="34" charset="-122"/>
                <a:cs typeface="Titillium Web" pitchFamily="34" charset="-120"/>
              </a:rPr>
              <a:t>Troupe leggera</a:t>
            </a:r>
            <a:endParaRPr lang="en-US" sz="1600" dirty="0"/>
          </a:p>
        </p:txBody>
      </p:sp>
      <p:sp>
        <p:nvSpPr>
          <p:cNvPr id="10" name="Text 8"/>
          <p:cNvSpPr txBox="1"/>
          <p:nvPr/>
        </p:nvSpPr>
        <p:spPr>
          <a:xfrm>
            <a:off x="6492240" y="2560320"/>
            <a:ext cx="4754880" cy="1005840"/>
          </a:xfrm>
          <a:prstGeom prst="rect">
            <a:avLst/>
          </a:prstGeom>
          <a:noFill/>
          <a:ln/>
        </p:spPr>
        <p:txBody>
          <a:bodyPr wrap="square" lIns="0" tIns="0" rIns="0" bIns="0" rtlCol="0" anchor="t"/>
          <a:lstStyle/>
          <a:p>
            <a:pPr indent="0" marL="0">
              <a:buNone/>
            </a:pPr>
            <a:r>
              <a:rPr lang="en-US" sz="1300" dirty="0">
                <a:solidFill>
                  <a:srgbClr val="2B2C20"/>
                </a:solidFill>
                <a:latin typeface="Titillium Web Light" pitchFamily="34" charset="0"/>
                <a:ea typeface="Titillium Web Light" pitchFamily="34" charset="-122"/>
                <a:cs typeface="Titillium Web Light" pitchFamily="34" charset="-120"/>
              </a:rPr>
              <a:t>Fotografo con teleobiettivo, videomaker, stylist, hair &amp; make-up, producer locale. Una modella, qualche comparsa per strada e in metro.</a:t>
            </a:r>
            <a:endParaRPr lang="en-US" sz="1300" dirty="0"/>
          </a:p>
        </p:txBody>
      </p:sp>
      <p:sp>
        <p:nvSpPr>
          <p:cNvPr id="11" name="Shape 9"/>
          <p:cNvSpPr/>
          <p:nvPr/>
        </p:nvSpPr>
        <p:spPr>
          <a:xfrm>
            <a:off x="685800" y="3794760"/>
            <a:ext cx="5303520" cy="1691640"/>
          </a:xfrm>
          <a:prstGeom prst="rect">
            <a:avLst/>
          </a:prstGeom>
          <a:solidFill>
            <a:srgbClr val="F1EEE4"/>
          </a:solidFill>
          <a:ln w="12700">
            <a:solidFill>
              <a:srgbClr val="F1EEE4"/>
            </a:solidFill>
            <a:prstDash val="solid"/>
          </a:ln>
        </p:spPr>
      </p:sp>
      <p:sp>
        <p:nvSpPr>
          <p:cNvPr id="12" name="Text 10"/>
          <p:cNvSpPr txBox="1"/>
          <p:nvPr/>
        </p:nvSpPr>
        <p:spPr>
          <a:xfrm>
            <a:off x="960120" y="4023360"/>
            <a:ext cx="4754880" cy="365760"/>
          </a:xfrm>
          <a:prstGeom prst="rect">
            <a:avLst/>
          </a:prstGeom>
          <a:noFill/>
          <a:ln/>
        </p:spPr>
        <p:txBody>
          <a:bodyPr wrap="square" lIns="0" tIns="0" rIns="0" bIns="0" rtlCol="0" anchor="t"/>
          <a:lstStyle/>
          <a:p>
            <a:pPr indent="0" marL="0">
              <a:buNone/>
            </a:pPr>
            <a:r>
              <a:rPr lang="en-US" sz="1600" b="1" dirty="0">
                <a:solidFill>
                  <a:srgbClr val="C75033"/>
                </a:solidFill>
                <a:latin typeface="Titillium Web" pitchFamily="34" charset="0"/>
                <a:ea typeface="Titillium Web" pitchFamily="34" charset="-122"/>
                <a:cs typeface="Titillium Web" pitchFamily="34" charset="-120"/>
              </a:rPr>
              <a:t>Permessi</a:t>
            </a:r>
            <a:endParaRPr lang="en-US" sz="1600" dirty="0"/>
          </a:p>
        </p:txBody>
      </p:sp>
      <p:sp>
        <p:nvSpPr>
          <p:cNvPr id="13" name="Text 11"/>
          <p:cNvSpPr txBox="1"/>
          <p:nvPr/>
        </p:nvSpPr>
        <p:spPr>
          <a:xfrm>
            <a:off x="960120" y="4434840"/>
            <a:ext cx="4754880" cy="1005840"/>
          </a:xfrm>
          <a:prstGeom prst="rect">
            <a:avLst/>
          </a:prstGeom>
          <a:noFill/>
          <a:ln/>
        </p:spPr>
        <p:txBody>
          <a:bodyPr wrap="square" lIns="0" tIns="0" rIns="0" bIns="0" rtlCol="0" anchor="t"/>
          <a:lstStyle/>
          <a:p>
            <a:pPr indent="0" marL="0">
              <a:buNone/>
            </a:pPr>
            <a:r>
              <a:rPr lang="en-US" sz="1300" dirty="0">
                <a:solidFill>
                  <a:srgbClr val="2B2C20"/>
                </a:solidFill>
                <a:latin typeface="Titillium Web Light" pitchFamily="34" charset="0"/>
                <a:ea typeface="Titillium Web Light" pitchFamily="34" charset="-122"/>
                <a:cs typeface="Titillium Web Light" pitchFamily="34" charset="-120"/>
              </a:rPr>
              <a:t>A Parigi: Mission Cinéma della Ville de Paris per la strada, RATP per la metro. A Torino: Comune e Film Commission Torino Piemonte.</a:t>
            </a:r>
            <a:endParaRPr lang="en-US" sz="1300" dirty="0"/>
          </a:p>
        </p:txBody>
      </p:sp>
      <p:sp>
        <p:nvSpPr>
          <p:cNvPr id="14" name="Shape 12"/>
          <p:cNvSpPr/>
          <p:nvPr/>
        </p:nvSpPr>
        <p:spPr>
          <a:xfrm>
            <a:off x="6217920" y="3794760"/>
            <a:ext cx="5303520" cy="1691640"/>
          </a:xfrm>
          <a:prstGeom prst="rect">
            <a:avLst/>
          </a:prstGeom>
          <a:solidFill>
            <a:srgbClr val="F1EEE4"/>
          </a:solidFill>
          <a:ln w="12700">
            <a:solidFill>
              <a:srgbClr val="F1EEE4"/>
            </a:solidFill>
            <a:prstDash val="solid"/>
          </a:ln>
        </p:spPr>
      </p:sp>
      <p:sp>
        <p:nvSpPr>
          <p:cNvPr id="15" name="Text 13"/>
          <p:cNvSpPr txBox="1"/>
          <p:nvPr/>
        </p:nvSpPr>
        <p:spPr>
          <a:xfrm>
            <a:off x="6492240" y="4023360"/>
            <a:ext cx="4754880" cy="365760"/>
          </a:xfrm>
          <a:prstGeom prst="rect">
            <a:avLst/>
          </a:prstGeom>
          <a:noFill/>
          <a:ln/>
        </p:spPr>
        <p:txBody>
          <a:bodyPr wrap="square" lIns="0" tIns="0" rIns="0" bIns="0" rtlCol="0" anchor="t"/>
          <a:lstStyle/>
          <a:p>
            <a:pPr indent="0" marL="0">
              <a:buNone/>
            </a:pPr>
            <a:r>
              <a:rPr lang="en-US" sz="1600" b="1" dirty="0">
                <a:solidFill>
                  <a:srgbClr val="C75033"/>
                </a:solidFill>
                <a:latin typeface="Titillium Web" pitchFamily="34" charset="0"/>
                <a:ea typeface="Titillium Web" pitchFamily="34" charset="-122"/>
                <a:cs typeface="Titillium Web" pitchFamily="34" charset="-120"/>
              </a:rPr>
              <a:t>Meteo e cappelli</a:t>
            </a:r>
            <a:endParaRPr lang="en-US" sz="1600" dirty="0"/>
          </a:p>
        </p:txBody>
      </p:sp>
      <p:sp>
        <p:nvSpPr>
          <p:cNvPr id="16" name="Text 14"/>
          <p:cNvSpPr txBox="1"/>
          <p:nvPr/>
        </p:nvSpPr>
        <p:spPr>
          <a:xfrm>
            <a:off x="6492240" y="4434840"/>
            <a:ext cx="4754880" cy="1005840"/>
          </a:xfrm>
          <a:prstGeom prst="rect">
            <a:avLst/>
          </a:prstGeom>
          <a:noFill/>
          <a:ln/>
        </p:spPr>
        <p:txBody>
          <a:bodyPr wrap="square" lIns="0" tIns="0" rIns="0" bIns="0" rtlCol="0" anchor="t"/>
          <a:lstStyle/>
          <a:p>
            <a:pPr indent="0" marL="0">
              <a:buNone/>
            </a:pPr>
            <a:r>
              <a:rPr lang="en-US" sz="1300" dirty="0">
                <a:solidFill>
                  <a:srgbClr val="2B2C20"/>
                </a:solidFill>
                <a:latin typeface="Titillium Web Light" pitchFamily="34" charset="0"/>
                <a:ea typeface="Titillium Web Light" pitchFamily="34" charset="-122"/>
                <a:cs typeface="Titillium Web Light" pitchFamily="34" charset="-120"/>
              </a:rPr>
              <a:t>Pioggia vera quando c’è, artificiale se serve. Piano B al coperto (caffè, ascensore, portici). Trattamento idrorepellente e doppioni dei cappelli in feltro.</a:t>
            </a:r>
            <a:endParaRPr lang="en-US" sz="1300" dirty="0"/>
          </a:p>
        </p:txBody>
      </p:sp>
      <p:sp>
        <p:nvSpPr>
          <p:cNvPr id="17" name="Text 15"/>
          <p:cNvSpPr txBox="1"/>
          <p:nvPr/>
        </p:nvSpPr>
        <p:spPr>
          <a:xfrm>
            <a:off x="685800" y="5760720"/>
            <a:ext cx="10332720" cy="365760"/>
          </a:xfrm>
          <a:prstGeom prst="rect">
            <a:avLst/>
          </a:prstGeom>
          <a:noFill/>
          <a:ln/>
        </p:spPr>
        <p:txBody>
          <a:bodyPr wrap="square" lIns="0" tIns="0" rIns="0" bIns="0" rtlCol="0" anchor="ctr"/>
          <a:lstStyle/>
          <a:p>
            <a:pPr indent="0" marL="0">
              <a:buNone/>
            </a:pPr>
            <a:r>
              <a:rPr lang="en-US" sz="1350" b="1" dirty="0">
                <a:solidFill>
                  <a:srgbClr val="C75033"/>
                </a:solidFill>
                <a:latin typeface="Titillium Web" pitchFamily="34" charset="0"/>
                <a:ea typeface="Titillium Web" pitchFamily="34" charset="-122"/>
                <a:cs typeface="Titillium Web" pitchFamily="34" charset="-120"/>
              </a:rPr>
              <a:t>Consegne  </a:t>
            </a:r>
            <a:pPr indent="0" marL="0">
              <a:buNone/>
            </a:pPr>
            <a:r>
              <a:rPr lang="en-US" sz="1350" dirty="0">
                <a:solidFill>
                  <a:srgbClr val="2B2C20"/>
                </a:solidFill>
                <a:latin typeface="Titillium Web Light" pitchFamily="34" charset="0"/>
                <a:ea typeface="Titillium Web Light" pitchFamily="34" charset="-122"/>
                <a:cs typeface="Titillium Web Light" pitchFamily="34" charset="-120"/>
              </a:rPr>
              <a:t>12–15 immagini di campagna · 1 film da 45–60" · 3–4 reel verticali · dettagli per e-commerce e social</a:t>
            </a:r>
            <a:endParaRPr lang="en-US" sz="1350" dirty="0"/>
          </a:p>
        </p:txBody>
      </p:sp>
      <p:pic>
        <p:nvPicPr>
          <p:cNvPr id="19" name="Image 0" descr="img/badge_white.png">    </p:cNvPr>
          <p:cNvPicPr>
            <a:picLocks noChangeAspect="1"/>
          </p:cNvPicPr>
          <p:nvPr/>
        </p:nvPicPr>
        <p:blipFill>
          <a:blip r:embed="rId1"/>
          <a:stretch>
            <a:fillRect/>
          </a:stretch>
        </p:blipFill>
        <p:spPr>
          <a:xfrm>
            <a:off x="11533327" y="6199632"/>
            <a:ext cx="274320" cy="2743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7E3D3"/>
        </a:solidFill>
      </p:bgPr>
    </p:bg>
    <p:spTree>
      <p:nvGrpSpPr>
        <p:cNvPr id="1" name=""/>
        <p:cNvGrpSpPr/>
        <p:nvPr/>
      </p:nvGrpSpPr>
      <p:grpSpPr>
        <a:xfrm>
          <a:off x="0" y="0"/>
          <a:ext cx="0" cy="0"/>
          <a:chOff x="0" y="0"/>
          <a:chExt cx="0" cy="0"/>
        </a:xfrm>
      </p:grpSpPr>
      <p:sp>
        <p:nvSpPr>
          <p:cNvPr id="2" name="Text 0"/>
          <p:cNvSpPr txBox="1"/>
          <p:nvPr/>
        </p:nvSpPr>
        <p:spPr>
          <a:xfrm>
            <a:off x="685800" y="566928"/>
            <a:ext cx="7315200" cy="2011680"/>
          </a:xfrm>
          <a:prstGeom prst="rect">
            <a:avLst/>
          </a:prstGeom>
          <a:noFill/>
          <a:ln/>
        </p:spPr>
        <p:txBody>
          <a:bodyPr wrap="square" lIns="0" tIns="0" rIns="0" bIns="0" rtlCol="0" anchor="t"/>
          <a:lstStyle/>
          <a:p>
            <a:pPr indent="0" marL="0">
              <a:lnSpc>
                <a:spcPct val="100000"/>
              </a:lnSpc>
              <a:buNone/>
            </a:pPr>
            <a:r>
              <a:rPr lang="en-US" sz="3000" b="1" dirty="0">
                <a:solidFill>
                  <a:srgbClr val="C75033"/>
                </a:solidFill>
                <a:latin typeface="Titillium Web" pitchFamily="34" charset="0"/>
                <a:ea typeface="Titillium Web" pitchFamily="34" charset="-122"/>
                <a:cs typeface="Titillium Web" pitchFamily="34" charset="-120"/>
              </a:rPr>
              <a:t>“Parigi, l’inverno,</a:t>
            </a:r>
            <a:endParaRPr lang="en-US" sz="3000" dirty="0"/>
          </a:p>
          <a:p>
            <a:pPr indent="0" marL="0">
              <a:lnSpc>
                <a:spcPct val="100000"/>
              </a:lnSpc>
              <a:buNone/>
            </a:pPr>
            <a:r>
              <a:rPr lang="en-US" sz="3000" b="1" dirty="0">
                <a:solidFill>
                  <a:srgbClr val="C75033"/>
                </a:solidFill>
                <a:latin typeface="Titillium Web" pitchFamily="34" charset="0"/>
                <a:ea typeface="Titillium Web" pitchFamily="34" charset="-122"/>
                <a:cs typeface="Titillium Web" pitchFamily="34" charset="-120"/>
              </a:rPr>
              <a:t>e una donna che li attraversa</a:t>
            </a:r>
            <a:endParaRPr lang="en-US" sz="3000" dirty="0"/>
          </a:p>
          <a:p>
            <a:pPr indent="0" marL="0">
              <a:lnSpc>
                <a:spcPct val="100000"/>
              </a:lnSpc>
              <a:buNone/>
            </a:pPr>
            <a:r>
              <a:rPr lang="en-US" sz="3000" b="1" dirty="0">
                <a:solidFill>
                  <a:srgbClr val="C75033"/>
                </a:solidFill>
                <a:latin typeface="Titillium Web" pitchFamily="34" charset="0"/>
                <a:ea typeface="Titillium Web" pitchFamily="34" charset="-122"/>
                <a:cs typeface="Titillium Web" pitchFamily="34" charset="-120"/>
              </a:rPr>
              <a:t>con il suo cappello.”</a:t>
            </a:r>
            <a:endParaRPr lang="en-US" sz="3000" dirty="0"/>
          </a:p>
        </p:txBody>
      </p:sp>
      <p:pic>
        <p:nvPicPr>
          <p:cNvPr id="3" name="Image 0" descr="img/sym_dark.png">    </p:cNvPr>
          <p:cNvPicPr>
            <a:picLocks noChangeAspect="1"/>
          </p:cNvPicPr>
          <p:nvPr/>
        </p:nvPicPr>
        <p:blipFill>
          <a:blip r:embed="rId1"/>
          <a:stretch>
            <a:fillRect/>
          </a:stretch>
        </p:blipFill>
        <p:spPr>
          <a:xfrm>
            <a:off x="685800" y="3931920"/>
            <a:ext cx="1737360" cy="1752562"/>
          </a:xfrm>
          <a:prstGeom prst="rect">
            <a:avLst/>
          </a:prstGeom>
        </p:spPr>
      </p:pic>
      <p:sp>
        <p:nvSpPr>
          <p:cNvPr id="4" name="Text 1"/>
          <p:cNvSpPr txBox="1"/>
          <p:nvPr/>
        </p:nvSpPr>
        <p:spPr>
          <a:xfrm>
            <a:off x="6019495" y="5989320"/>
            <a:ext cx="5486400" cy="274320"/>
          </a:xfrm>
          <a:prstGeom prst="rect">
            <a:avLst/>
          </a:prstGeom>
          <a:noFill/>
          <a:ln/>
        </p:spPr>
        <p:txBody>
          <a:bodyPr wrap="square" lIns="0" tIns="0" rIns="0" bIns="0" rtlCol="0" anchor="t"/>
          <a:lstStyle/>
          <a:p>
            <a:pPr algn="r" indent="0" marL="0">
              <a:buNone/>
            </a:pPr>
            <a:r>
              <a:rPr lang="en-US" sz="1200" dirty="0">
                <a:solidFill>
                  <a:srgbClr val="2B2C20"/>
                </a:solidFill>
                <a:latin typeface="Titillium Web Light" pitchFamily="34" charset="0"/>
                <a:ea typeface="Titillium Web Light" pitchFamily="34" charset="-122"/>
                <a:cs typeface="Titillium Web Light" pitchFamily="34" charset="-120"/>
              </a:rPr>
              <a:t>Tirabasso · Campagna Autunno / Inverno 2026–27</a:t>
            </a:r>
            <a:endParaRPr lang="en-US" sz="1200" dirty="0"/>
          </a:p>
        </p:txBody>
      </p:sp>
      <p:sp>
        <p:nvSpPr>
          <p:cNvPr id="5" name="Text 2"/>
          <p:cNvSpPr txBox="1"/>
          <p:nvPr/>
        </p:nvSpPr>
        <p:spPr>
          <a:xfrm>
            <a:off x="6019495" y="6263640"/>
            <a:ext cx="5486400" cy="274320"/>
          </a:xfrm>
          <a:prstGeom prst="rect">
            <a:avLst/>
          </a:prstGeom>
          <a:noFill/>
          <a:ln/>
        </p:spPr>
        <p:txBody>
          <a:bodyPr wrap="square" lIns="0" tIns="0" rIns="0" bIns="0" rtlCol="0" anchor="t"/>
          <a:lstStyle/>
          <a:p>
            <a:pPr algn="r" indent="0" marL="0">
              <a:buNone/>
            </a:pPr>
            <a:r>
              <a:rPr lang="en-US" sz="1300" b="1" dirty="0">
                <a:solidFill>
                  <a:srgbClr val="2B2C20"/>
                </a:solidFill>
                <a:latin typeface="Titillium Web" pitchFamily="34" charset="0"/>
                <a:ea typeface="Titillium Web" pitchFamily="34" charset="-122"/>
                <a:cs typeface="Titillium Web" pitchFamily="34" charset="-120"/>
              </a:rPr>
              <a:t>www.studiokubla.com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Tirabasso — Un inverno a Parigi</dc:title>
  <dc:subject>PptxGenJS Presentation</dc:subject>
  <dc:creator>Studio Kubla</dc:creator>
  <cp:lastModifiedBy>Studio Kubla</cp:lastModifiedBy>
  <cp:revision>1</cp:revision>
  <dcterms:created xsi:type="dcterms:W3CDTF">2026-09-29T09:46:40Z</dcterms:created>
  <dcterms:modified xsi:type="dcterms:W3CDTF">2026-09-29T09:46:40Z</dcterms:modified>
</cp:coreProperties>
</file>